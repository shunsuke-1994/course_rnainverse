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事前配布用。本編スライドの 2〜5 枚目と同じ内容。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【所要時間】事前配布（当日は動作確認のみ 3 分）
【説明の要点】
・当日の実習は自分の PC 上の Python から ViennaRNA を使う。事前にこの 4 ページの手順で環境を作り、最後の動作確認まで済ませておく。
・uv は Python 本体と仮想環境をまとめて管理する軽量ツール。既存の Python 環境を汚さない。
・検証済み：macOS 15（Python 3.13.4、viennarna 2.7.2、uv 0.12）、Windows 11（Python 3.13.15、viennarna 2.7.2、事務局で確認）。
・動かなくても講習には参加できる（TA・グループの画面で結果を比較）。
【参照】
・uv https://docs.astral.sh/uv/
・PyPI viennarna https://pypi.org/project/ViennaRNA/ (使用: 2.7.2)
・Python API https://viennarna.readthedocs.io/en/latest/api_python.html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【所要時間】事前配布
【説明の要点】
・公式インストーラ（docs.astral.sh/uv）のコマンドをそのまま実行。macOS はターミナル、Windows は PowerShell。
・実行後はターミナルを一度閉じて開き直すと uv コマンドが使える（PATH が更新されるため）。
・Homebrew の brew install uv はソースからのビルドになる環境があり時間がかかるため、公式インストーラを推奨。
・すでに uv がある場合はこの手順は不要。uv --version でバージョンが出れば OK。
【参照】
・uv https://docs.astral.sh/uv/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【所要時間】事前配布
【説明の要点】
・uv init --python 3.13 で Python 3.13 を使う空のプロジェクトを作る（3.13 が無ければ uv が自動で取得する）。uv init の既定は最新の Python になるため、動作確認済みの 3.13 を明示する。
・uv add viennarna==2.7.2 で PyPI の viennarna 2.7.2（Python バインディング）を入れる。import 名は RNA。
・exercises フォルダは GitHub（https://github.com/Shunsuke-1994/Course_RNAinverse）の緑の Code ボタン → Download ZIP で入手し、展開した中の exercises をプロジェクト直下にコピーする。git が使える人は git clone でもよい。
・コマンドは macOS / Windows 共通。Windows の PowerShell では cd の書き方も同じ。
・動作確認の出力（2.7.2 と、例題RNAの構造 ((((((....)))))) と −10.20）が出れば準備完了。
【参照】
・uv https://docs.astral.sh/uv/
・PyPI viennarna https://pypi.org/project/ViennaRNA/ (使用: 2.7.2)
・Python API https://viennarna.readthedocs.io/en/latest/api_python.html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【所要時間】事前配布
【説明の要点】
・代表的な症状と対応を表にまとめた。解決しない場合はエラー文をそのまま控えて当日 TA に見せる。
・uv を使わない代替：既存の Python 3.10〜3.14 で仮想環境を作り pip で入れる。実行は .venv の python で行う。
・当日の動作確認は最初の 3 分。動かない人も TA・グループの画面共有で結果を比較しながら参加できる。
【参照】
・PyPI viennarna https://pypi.org/project/ViennaRNA/ (使用: 2.7.2)
・Python API https://viennarna.readthedocs.io/en/latest/api_python.html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事前準備：ViennaRNA 実習環境のインストール手順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743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CE9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分子ロボティクス夏の学校 2026「ViennaRNA：RNA構造解析ソフトウェア」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65760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講師：角 俊輔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講習日：2026年10月8日（木）19:00–21:00（Zoom）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当日までに 4 ページの手順で環境を用意し、最後の動作確認まで済ませてください（所要 10〜15 分）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4864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7C8C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使用ソフトウェア：uv（環境管理）、Python 3.13、ViennaRNA 2.7.2（PyPI: viennarna）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9436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資料・演習スクリプトの公開先：github.com/Shunsuke-1994/Course_RNAinverse　（資料 v1.0）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事前準備：実習環境のインストール（所要 10〜15 分）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事前準備：ViennaRNA 実習環境　資料 v1.0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123444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1417320"/>
            <a:ext cx="502920" cy="502920"/>
          </a:xfrm>
          <a:prstGeom prst="ellipse">
            <a:avLst/>
          </a:prstGeom>
          <a:solidFill>
            <a:srgbClr val="0F4C5C"/>
          </a:solidFill>
          <a:ln>
            <a:solidFill>
              <a:srgbClr val="0F4C5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325880" y="13716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uv を入れる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325880" y="19202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6B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ターミナル 1 行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154680" y="1920240"/>
            <a:ext cx="182880" cy="9144"/>
          </a:xfrm>
          <a:prstGeom prst="line">
            <a:avLst/>
          </a:prstGeom>
          <a:noFill/>
          <a:ln w="19050">
            <a:solidFill>
              <a:srgbClr val="0F4C5C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3337560" y="123444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520440" y="1417320"/>
            <a:ext cx="502920" cy="502920"/>
          </a:xfrm>
          <a:prstGeom prst="ellipse">
            <a:avLst/>
          </a:prstGeom>
          <a:solidFill>
            <a:srgbClr val="0F4C5C"/>
          </a:solidFill>
          <a:ln>
            <a:solidFill>
              <a:srgbClr val="0F4C5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4160520" y="13716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プロジェクトを作る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4160520" y="19202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6B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Python 3.13 を指定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989320" y="1920240"/>
            <a:ext cx="182880" cy="9144"/>
          </a:xfrm>
          <a:prstGeom prst="line">
            <a:avLst/>
          </a:prstGeom>
          <a:noFill/>
          <a:ln w="19050">
            <a:solidFill>
              <a:srgbClr val="0F4C5C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6172200" y="123444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417320"/>
            <a:ext cx="502920" cy="502920"/>
          </a:xfrm>
          <a:prstGeom prst="ellipse">
            <a:avLst/>
          </a:prstGeom>
          <a:solidFill>
            <a:srgbClr val="0F4C5C"/>
          </a:solidFill>
          <a:ln>
            <a:solidFill>
              <a:srgbClr val="0F4C5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995160" y="13716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ViennaRNA を入れる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6995160" y="19202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6B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viennarna 2.7.2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8823960" y="1920240"/>
            <a:ext cx="182880" cy="9144"/>
          </a:xfrm>
          <a:prstGeom prst="line">
            <a:avLst/>
          </a:prstGeom>
          <a:noFill/>
          <a:ln w="19050">
            <a:solidFill>
              <a:srgbClr val="0F4C5C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9006840" y="123444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189720" y="1417320"/>
            <a:ext cx="502920" cy="502920"/>
          </a:xfrm>
          <a:prstGeom prst="ellipse">
            <a:avLst/>
          </a:prstGeom>
          <a:solidFill>
            <a:srgbClr val="0F4C5C"/>
          </a:solidFill>
          <a:ln>
            <a:solidFill>
              <a:srgbClr val="0F4C5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9829800" y="13716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動作確認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9829800" y="19202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6B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import RNA が通る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502920" y="2834640"/>
            <a:ext cx="5486400" cy="3291840"/>
          </a:xfrm>
          <a:prstGeom prst="roundRect">
            <a:avLst>
              <a:gd name="adj" fmla="val 3333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85800" y="294436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4C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必要なもの</a:t>
            </a:r>
            <a:endParaRPr lang="en-US" sz="2000" dirty="0"/>
          </a:p>
        </p:txBody>
      </p:sp>
      <p:sp>
        <p:nvSpPr>
          <p:cNvPr id="27" name="Text 24"/>
          <p:cNvSpPr txBox="1"/>
          <p:nvPr/>
        </p:nvSpPr>
        <p:spPr>
          <a:xfrm>
            <a:off x="685800" y="3401568"/>
            <a:ext cx="51206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F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自分の PC（macOS または Windows）と管理者権限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F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インターネット接続（ダウンロードは合計 100 MB 程度）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F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ターミナル（macOS：ターミナル.app、Windows：PowerShell）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F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exercises フォルダ（演習用スクリプト。GitHub から入手、手順 2・3 参照）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F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Python の経験は不要。コマンドはコピーして貼り付ける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6217920" y="2834640"/>
            <a:ext cx="5486400" cy="3291840"/>
          </a:xfrm>
          <a:prstGeom prst="roundRect">
            <a:avLst>
              <a:gd name="adj" fmla="val 3333"/>
            </a:avLst>
          </a:prstGeom>
          <a:solidFill>
            <a:srgbClr val="FBE9DC"/>
          </a:solidFill>
          <a:ln w="12700">
            <a:solidFill>
              <a:srgbClr val="FBE9DC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400800" y="294436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3641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動作確認の状況</a:t>
            </a:r>
            <a:endParaRPr lang="en-US" sz="2000" dirty="0"/>
          </a:p>
        </p:txBody>
      </p:sp>
      <p:sp>
        <p:nvSpPr>
          <p:cNvPr id="30" name="Text 27"/>
          <p:cNvSpPr txBox="1"/>
          <p:nvPr/>
        </p:nvSpPr>
        <p:spPr>
          <a:xfrm>
            <a:off x="6400800" y="3401568"/>
            <a:ext cx="51206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確認済み：macOS 15（Python 3.13.4）、Windows 11（Python 3.13.15）、いずれも viennarna 2.7.2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Windows では演習2の設計配列が資料の例と変わる（乱数の違い。失敗ではない）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動かない場合：当日は TA またはグループの画面で結果を比較しながら参加できる。エラー文を控えておく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手順 1：uv をインストールする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事前準備：ViennaRNA 実習環境　資料 v1.0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1188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4C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macOS（ターミナル.app を開いて貼り付け）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2920" y="1600200"/>
            <a:ext cx="5486400" cy="731520"/>
          </a:xfrm>
          <a:prstGeom prst="rect">
            <a:avLst/>
          </a:prstGeom>
          <a:solidFill>
            <a:srgbClr val="F6F8F9"/>
          </a:solidFill>
          <a:ln w="9525">
            <a:solidFill>
              <a:srgbClr val="C9D3D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12648" y="1673352"/>
            <a:ext cx="52669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F2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-LsSf https://astral.sh/uv/install.sh | sh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217920" y="1188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4C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Windows（PowerShell を開いて貼り付け）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217920" y="1600200"/>
            <a:ext cx="5486400" cy="731520"/>
          </a:xfrm>
          <a:prstGeom prst="rect">
            <a:avLst/>
          </a:prstGeom>
          <a:solidFill>
            <a:srgbClr val="F6F8F9"/>
          </a:solidFill>
          <a:ln w="9525">
            <a:solidFill>
              <a:srgbClr val="C9D3D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27648" y="1673352"/>
            <a:ext cx="52669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F2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powershell -ExecutionPolicy ByPass -c "irm https://astral.sh/uv/install.ps1 | iex"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02920" y="2606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4C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確認（ターミナルを閉じて開き直してから）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02920" y="3017520"/>
            <a:ext cx="5486400" cy="960120"/>
          </a:xfrm>
          <a:prstGeom prst="rect">
            <a:avLst/>
          </a:prstGeom>
          <a:solidFill>
            <a:srgbClr val="F6F8F9"/>
          </a:solidFill>
          <a:ln w="9525">
            <a:solidFill>
              <a:srgbClr val="C9D3D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12648" y="3090672"/>
            <a:ext cx="526694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F2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--version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i="1" dirty="0">
                <a:solidFill>
                  <a:srgbClr val="5C6B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出力例: uv 0.12.17 (…)   ← バージョンが表示されれば OK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217920" y="2606040"/>
            <a:ext cx="5486400" cy="1371600"/>
          </a:xfrm>
          <a:prstGeom prst="roundRect">
            <a:avLst>
              <a:gd name="adj" fmla="val 8000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00800" y="271576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4C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uv とは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0" y="3172968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Python 本体と仮想環境、パッケージをまとめて管理する軽量ツール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既存の Python 環境には手を加えない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02920" y="4206240"/>
            <a:ext cx="11155680" cy="1920240"/>
          </a:xfrm>
          <a:prstGeom prst="roundRect">
            <a:avLst>
              <a:gd name="adj" fmla="val 5714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85800" y="431596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4C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うまくいかないとき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685800" y="4773168"/>
            <a:ext cx="10789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「uv: command not found」→ ターミナルを開き直す。それでも出なければ macOS は ~/.local/bin/uv --version を試す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Windows で実行ポリシーのエラー → 上のコマンドを PowerShell に 1 行のまま貼り付ける（-ExecutionPolicy ByPass が含まれていることを確認）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すでに Python がある人は pip でも可：python -m pip install uv（この場合も以降の手順は同じ）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手順 2・3：プロジェクトを作り、ViennaRNA を入れる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事前準備：ViennaRNA 実習環境　資料 v1.0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1188720"/>
            <a:ext cx="6766560" cy="2926080"/>
          </a:xfrm>
          <a:prstGeom prst="rect">
            <a:avLst/>
          </a:prstGeom>
          <a:solidFill>
            <a:srgbClr val="F6F8F9"/>
          </a:solidFill>
          <a:ln w="9525">
            <a:solidFill>
              <a:srgbClr val="C9D3D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12648" y="1261872"/>
            <a:ext cx="6547104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i="1" dirty="0">
                <a:solidFill>
                  <a:srgbClr val="5C6B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手順 2: プロジェクトを作る（好きな場所で）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F2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init viennarna-course --python 3.13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F2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viennarna-course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F2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i="1" dirty="0">
                <a:solidFill>
                  <a:srgbClr val="5C6B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手順 3: ViennaRNA（Python バインディング）を入れる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F2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add viennarna==2.7.2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F2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i="1" dirty="0">
                <a:solidFill>
                  <a:srgbClr val="5C6B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exercises フォルダを GitHub から入手してここにコピー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i="1" dirty="0">
                <a:solidFill>
                  <a:srgbClr val="5C6B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https://github.com/Shunsuke-1994/Course_RNAinverse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i="1" dirty="0">
                <a:solidFill>
                  <a:srgbClr val="5C6B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緑の Code ボタン → Download ZIP → 展開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498080" y="11887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4C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動作確認（手順 4）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498080" y="1600200"/>
            <a:ext cx="4206240" cy="2514600"/>
          </a:xfrm>
          <a:prstGeom prst="rect">
            <a:avLst/>
          </a:prstGeom>
          <a:solidFill>
            <a:srgbClr val="F6F8F9"/>
          </a:solidFill>
          <a:ln w="9525">
            <a:solidFill>
              <a:srgbClr val="C9D3D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607808" y="1673352"/>
            <a:ext cx="3986784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python -c "import RNA; print(RNA.__version__)"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5C6B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2.7.2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python exercises/ex1_fold.py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5C6B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ViennaRNA 2.7.2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5C6B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GGCGCAGAAAUGCGCC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5C6B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((((((....)))))) -10.20 kcal/mol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2920" y="4343400"/>
            <a:ext cx="6766560" cy="1783080"/>
          </a:xfrm>
          <a:prstGeom prst="roundRect">
            <a:avLst>
              <a:gd name="adj" fmla="val 6154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85800" y="4453128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4C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フォルダ構成（完成形）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4910328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viennarna-course/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pyproject.toml   ← uv が作る（viennarna==2.7.2 が書かれる）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.venv/           ← uv が作る仮想環境（触らない）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exercises/       ← GitHub の ZIP から取り出してコピー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498080" y="4343400"/>
            <a:ext cx="4206240" cy="1783080"/>
          </a:xfrm>
          <a:prstGeom prst="roundRect">
            <a:avLst>
              <a:gd name="adj" fmla="val 6154"/>
            </a:avLst>
          </a:prstGeom>
          <a:solidFill>
            <a:srgbClr val="FBE9DC"/>
          </a:solidFill>
          <a:ln w="12700">
            <a:solidFill>
              <a:srgbClr val="FBE9D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680960" y="445312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3641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ポイント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7680960" y="4910328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以後は必ず uv run python … で実行する（素の python では RNA が見つからない）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2.7.2 以外が表示されたら uv add viennarna==2.7.2 をやり直す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うまくいかないとき・uv を使わない代替手順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事前準備：ViennaRNA 実習環境　資料 v1.0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88720"/>
          <a:ext cx="1115568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3108960"/>
                <a:gridCol w="448056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A354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症状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7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A354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原因の候補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7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A354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対応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7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uv: command not found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PATH が未更新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ターミナルを開き直す／~/.local/bin/uv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ModuleNotFoundError: No module named "RNA"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uv run を付けずに素の python を実行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uv run python … で実行する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No solution found / viennarna が見つからない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Python のバージョン不一致、ネット未接続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uv init --python 3.13 で作り直す。接続を確認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バージョンが 2.7.2 でない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別環境の ViennaRNA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uv add viennarna==2.7.2 をやり直す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exercises が見つからない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コピー先が違う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viennarna-course/exercises/ に置く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Windows で文字化け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コンソールの文字コード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出力の数値と括弧だけ確認できれば OK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02920" y="397764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4C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uv を使わない代替（Python 3.10〜3.14 が入っている場合）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502920" y="4389120"/>
            <a:ext cx="6766560" cy="1737360"/>
          </a:xfrm>
          <a:prstGeom prst="rect">
            <a:avLst/>
          </a:prstGeom>
          <a:solidFill>
            <a:srgbClr val="F6F8F9"/>
          </a:solidFill>
          <a:ln w="9525">
            <a:solidFill>
              <a:srgbClr val="C9D3D6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12648" y="4462272"/>
            <a:ext cx="654710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venv .venv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5C6B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macOS:  source .venv/bin/activate      Windows:  .venv/Scripts/activate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pip install viennarna==2.7.2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-c "import RNA; print(RNA.__version__)"   # → 2.7.2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7498080" y="3977640"/>
            <a:ext cx="4206240" cy="2148840"/>
          </a:xfrm>
          <a:prstGeom prst="roundRect">
            <a:avLst>
              <a:gd name="adj" fmla="val 5106"/>
            </a:avLst>
          </a:prstGeom>
          <a:solidFill>
            <a:srgbClr val="FBE9DC"/>
          </a:solidFill>
          <a:ln w="12700">
            <a:solidFill>
              <a:srgbClr val="FBE9DC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680960" y="408736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3641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当日までに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7680960" y="4544568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動作確認の出力が出たら準備完了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エラーが残る場合はエラー文を控えておく（当日 TA が対応）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動かなくても参加可。TA・グループの画面で結果を比較する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ViennaRNA 講習 事前準備：インストール手順 v1.0</dc:title>
  <dc:subject>PptxGenJS Presentation</dc:subject>
  <dc:creator>角 俊輔</dc:creator>
  <cp:lastModifiedBy>角 俊輔</cp:lastModifiedBy>
  <cp:revision>1</cp:revision>
  <dcterms:created xsi:type="dcterms:W3CDTF">2026-10-01T08:22:59Z</dcterms:created>
  <dcterms:modified xsi:type="dcterms:W3CDTF">2026-10-01T08:22:59Z</dcterms:modified>
</cp:coreProperties>
</file>