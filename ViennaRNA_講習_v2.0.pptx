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【所要時間】1分
【説明の要点】
・講習名・講師・日時の確認。録画は説明部分のみ行うことを最初に伝える。
・右の図は本日繰り返し使う16塩基のRNA（GGCGCAGAAAUGCGCC）。
・続く4枚は事前配布したインストール手順の再掲。当日は動作確認のみ（演習1の準備で行う）。
・スライド・演習スクリプトは GitHub で公開している（表紙下の URL）。資料の版は表紙と各ページ下に表示。
【参照】
・ViennaRNA 公式 https://www.tbi.univie.ac.at/RNA/
・PyPI viennarna https://pypi.org/project/ViennaRNA/ (使用: 2.7.2)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【所要時間】事前配布（当日は動作確認のみ 3 分）
【説明の要点】
・当日の実習は自分の PC 上の Python から ViennaRNA を使う。事前にこの 4 ページの手順で環境を作り、最後の動作確認まで済ませておく。
・uv は Python 本体と仮想環境をまとめて管理する軽量ツール。既存の Python 環境を汚さない。
・検証済み：macOS 15（Python 3.13.4、viennarna 2.7.2、uv 0.12）、Windows 11（Python 3.13.15、viennarna 2.7.2、事務局で確認）。
・動かなくても講習には参加できる（TA・グループの画面で結果を比較）。
【参照】
・uv https://docs.astral.sh/uv/
・PyPI viennarna https://pypi.org/project/ViennaRNA/ (使用: 2.7.2)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【所要時間】事前配布
【説明の要点】
・公式インストーラ（docs.astral.sh/uv）のコマンドをそのまま実行。macOS はターミナル、Windows は PowerShell。
・実行後はターミナルを一度閉じて開き直すと uv コマンドが使える（PATH が更新されるため）。
・Homebrew の brew install uv はソースからのビルドになる環境があり時間がかかるため、公式インストーラを推奨。
・すでに uv がある場合はこの手順は不要。uv --version でバージョンが出れば OK。
【参照】
・uv https://docs.astral.sh/uv/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【所要時間】事前配布
【説明の要点】
・uv init --python 3.13 で Python 3.13 を使う空のプロジェクトを作る（3.13 が無ければ uv が自動で取得する）。uv init の既定は最新の Python になるため、動作確認済みの 3.13 を明示する。
・uv add viennarna==2.7.2 で PyPI の viennarna 2.7.2（Python バインディング）を入れる。import 名は RNA。
・exercises フォルダは GitHub（https://github.com/Shunsuke-1994/Course_RNAinverse）の緑の Code ボタン → Download ZIP で入手し、展開した中の exercises をプロジェクト直下にコピーする。git が使える人は git clone でもよい。
・コマンドは macOS / Windows 共通。Windows の PowerShell では cd の書き方も同じ。
・動作確認の出力（2.7.2 と、例題RNAの構造 ((((((....)))))) と −10.20）が出れば準備完了。
【参照】
・uv https://docs.astral.sh/uv/
・PyPI viennarna https://pypi.org/project/ViennaRNA/ (使用: 2.7.2)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【所要時間】事前配布
【説明の要点】
・代表的な症状と対応を表にまとめた。解決しない場合はエラー文をそのまま控えて当日 TA に見せる。
・uv を使わない代替：既存の Python 3.10〜3.14 で仮想環境を作り pip で入れる。実行は .venv の python で行う。
・当日の動作確認は最初の 3 分。動かない人も TA・グループの画面共有で結果を比較しながら参加できる。
【参照】
・PyPI viennarna https://pypi.org/project/ViennaRNA/ (使用: 2.7.2)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・最重要の到達点は「RNA設計で何ができるかを広く知り、基本操作を体験する」こと。
・アルゴリズムの証明や実装の理解は主目的ではない（補足スライドで扱う）。
・同じ16塩基のRNAを予測→変異→設計→再予測と繰り返し使い、入力と出力の関係を追う。
【受講者への問い】
・RNAという言葉から何を思い浮かべますか（mRNA・ワクチン・センサーなど）。
【参照】
・ViennaRNA 公式 https://www.tbi.univie.ac.at/RNA/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【所要時間】2分
【説明の要点】
・説明55分・実習55分・質疑10分。実習中もスライドは表示したままにする。
・説明部分は録画、質疑・グループ演習は録画停止。切替はスライドで案内する。
・演習は4グループ（各5〜6人）で、提出担当者が画面共有しながら進める。TAが各グループを支援する。環境が動かない人もグループの画面で参加できる。
・演習スライドには右上に「必須」「時間があれば」を表示してある。演習2は 2C まで届けば十分。
・補足扱いのスライド（DP、元論文、探索トレース）は本編では要点のみ話す。
【参照】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【所要時間】4分
【説明の要点】
・共通の考え方：配列が決まると（環境のもとで）構造が決まり、構造が機能を生む。設計はこの逆向き。
・4分野の例を紹介。今日扱うのは単一RNAの二次構造レベル（次の2枚で実例）。
・アプタマー：標的分子に結合するRNA。リボスイッチ：代謝物結合で発現を変える天然RNA。リボザイム：触媒活性を持つRNA。
【受講者への問い】
・どの応用に興味がありますか。
【参照】
・Green A.A., Silver P.A., Collins J.J., Yin P. (2014) Toehold switches: de-novo-designed regulators of gene expression. Cell 159:925–939. https://doi.org/10.1016/j.cell.2014.10.002 (PMC4265554)
・Geary C., Rothemund P.W.K., Andersen E.S. (2014) A single-stranded architecture for cotranscriptional folding of RNA nanostructures. Science 345:799–804. https://doi.org/10.1126/science.1253920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【所要時間】4分
【説明の要点】
・スイッチRNAはヘアピンでRBS（リボソーム結合部位）と開始コドンAUGを隠し、翻訳をOFFにしている。
・トリガーRNAが5′側の一本鎖部分（toehold）に結合し、鎖置換でヘアピンが開くと翻訳がONになる。
・Green et al. 2014：168個の第1世代スイッチのON/OFF比平均は約43、改良版13個の平均は406。26個の直交（クロストーク&lt;12%）セット。
・本スライドの左図は本講習用の模式図（塩基配列は実物ではない）。右下の図は論文のPMC著者原稿版に掲載の図の一部（図番号は誌面版と異なる可能性があるため、引用時は誌面版で確認）。
【受講者への問い】
・ONとOFFの2つの構造を「両方」設計する必要があるのはなぜか。
【参照】
・Green A.A., Silver P.A., Collins J.J., Yin P. (2014) Toehold switches: de-novo-designed regulators of gene expression. Cell 159:925–939. https://doi.org/10.1016/j.cell.2014.10.002 (PMC4265554)
・PMC版 https://pmc.ncbi.nlm.nih.gov/articles/PMC4265554/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・Geary, Rothemund, Andersen (2014)：1本のRNA鎖が転写されながら折れてタイル状構造になる設計（single-stranded RNA origami）。
・らせんを並べる架橋（クロスオーバー）と、ループ同士が対合するkissing loopという三次モチーフを使う。タイルは最大660塩基、タイルが六角格子に集合する。
・二次構造予測モデル（今日の範囲）はkissing loopのような擬似結び目・三次相互作用を扱わない。それでも各ヘアピン・ステムの設計には二次構造の予測と設計が使われる。
・図は同論文のSupplementary Materials Fig. S4（strand-path diagram）から。
【受講者への問い】
・DNAではなくRNAでナノ構造を作る利点は何か（細胞内で転写できる）。
【参照】
・Geary C., Rothemund P.W.K., Andersen E.S. (2014) A single-stranded architecture for cotranscriptional folding of RNA nanostructures. Science 345:799–804. https://doi.org/10.1126/science.1253920
・Supplementary Materials (CaltechAUTHORS) https://authors.library.caltech.edu/records/qh186-q5004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・予測：配列を入れると構造（と自由エネルギー）が返る。設計：目標構造を入れると、それを最安定構造にもつ配列を探す。
・評価器は同じ予測プログラム。設計は予測を何度も呼ぶ探索。
・扱わないこと：複数状態、他の分子との相互作用、三次構造、実験での機能確認。まとめで再度触れる。
【受講者への問い】
・予測は答えが一つに決まるが、設計はなぜ複数の答えがあり得るか。
【参照】
・RNAinverse マニュアル https://viennarna.readthedocs.io/en/latest/man/RNAinverse.html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【所要時間】2分
【説明の要点】
・RNAは4種の塩基 A, C, G, U が一本鎖として並ぶ（5′→3′の向き）。
・鎖が折り返して逆平行に並ぶと、向かい合う塩基が対合する。標準はA–U（水素結合2本）とG–C（3本）。G–Uはゆらぎ対で弱いが二次構造予測では許される。
・対合の安定さは水素結合の数だけで決まらない。隣り合う塩基対の重なり（スタッキング）が効く（スライド16）。
【受講者への問い】
・G–Cが多い配列は安定になりやすい。それだけで良い設計と言えるか（後で戻る）。
【参照】
・Mathews D.H. et al. (2004) PNAS 101:7287–7292 (Turner 2004 パラメータ); Turner &amp; Mathews (2010) NNDB, Nucleic Acids Res 38:D280. https://rna.urmc.rochester.edu/NNDB/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・同じ長さの2行：上が配列、下が構造。"(" は5′側、")" は3′側の対合、"." は非対合。括弧は内側から順に対応する（入れ子）。
・小問の答え：(1) 3番のCは14番のGと対合。(2) ループは7–10番の4塩基（GAAA）。(3) 塩基対は6個。(4) 1番のGは16番のCと対合。
・次のスライドの図で答えを確認する。
【受講者への問い】
・小問1〜3を各自30秒で。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ステム（らせん）：連続した塩基対。ヘアピンループ：1つの塩基対で閉じる非対合領域。バルジ：片側だけに非対合塩基。内部ループ：両側に非対合塩基。多分岐ループ：3本以上のステムが集まる。外部ループ：どの塩基対にも囲まれない末端側。
・ViennaRNAのエネルギーモデルはこの「ループ」の単位で自由エネルギーを足し合わせる（次々スライド）。
・図の53塩基RNAは RNAinverse で設計した教材用配列（MFE構造が図の通りになることを確認済み。P(構造)=0.278）。
・前のスライドの小問の答え：3番Cは14番Gと対合、ループは7–10番、塩基対は6個。
【参照】
・Lorenz R. et al. (2011) ViennaRNA Package 2.0. Algorithms Mol Biol 6:26. https://doi.org/10.1186/1748-7188-6-26
・Mathews D.H. et al. (2004) PNAS 101:7287–7292 (Turner 2004 パラメータ); Turner &amp; Mathews (2010) NNDB, Nucleic Acids Res 38:D280. https://rna.urmc.rochester.edu/NNDB/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・同じ配列がとりうる構造ごとに自由エネルギー ΔG（kcal/mol）を計算できる。負に大きいほど安定。開いた鎖（対合なし）が基準の 0。
・比較は同じ条件（温度37 ℃、Turner 2004 パラメータ、同じプログラム）で行う。数値の絶対値より差に意味がある。
・MFE（minimum free energy）構造 = 最も低い ΔG の構造。ただし他の構造も一定の割合で存在する（スライド17）。
・右の確率 P は分配関数から計算した各構造の出現確率（合計は 1）。
【受講者への問い】
・末端の1対が外れただけで 2.3 kcal/mol 上がるのはなぜか（スタッキング1つ分が失われる）。
【参照】
・Mathews D.H. et al. (2004) PNAS 101:7287–7292 (Turner 2004 パラメータ); Turner &amp; Mathews (2010) NNDB, Nucleic Acids Res 38:D280. https://rna.urmc.rochester.edu/NNDB/
・Lorenz R. et al. (2011) ViennaRNA Package 2.0. Algorithms Mol Biol 6:26. https://doi.org/10.1186/1748-7188-6-26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【所要時間】4分
【説明の要点】
・最近接塩基対（nearest neighbor）モデル：構造をループに分解し、各ループの自由エネルギーを足す。ステム内では隣接する2つの塩基対の「重なり」（スタッキング）が負の寄与、ヘアピンなどのループは正の寄与。
・例題RNA：スタッキング5個（−3.3, −3.4, −2.4, −3.4, −2.1）とヘアピン（+4.4）の合計が −10.2 kcal/mol。値は fold_compound.eval_loop_pt で取得。
・塩基対の本数が同じでも、塩基対の種類と並びで大きく変わる（右表：6対の同じ形でも −1.2 から −11.7）。
・パラメータは実験（融解曲線）から決めたもの（Turner 2004）。
【受講者への問い】
・G–Cを増やせば安定になる。設計でそれが常に良いとは限らない理由は？（他の構造も安定化しうる／実験上の扱いにくさ）
【参照】
・Mathews D.H. et al. (2004) PNAS 101:7287–7292 (Turner 2004 パラメータ); Turner &amp; Mathews (2010) NNDB, Nucleic Acids Res 38:D280. https://rna.urmc.rochester.edu/NNDB/
・Lorenz R. et al. (2011) ViennaRNA Package 2.0. Algorithms Mol Biol 6:26. https://doi.org/10.1186/1748-7188-6-26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【所要時間】4分
【説明の要点】
・RNA分子は溶液中で多数の構造を行き来する。各構造 S の出現確率はボルツマン分布 P(S)=exp(−E(S)/RT)/Z（分配関数 Z は全構造の和、McCaskill 1990）。
・例題RNAでは MFE 構造の確率が 0.908（他の構造は合計約 9%）。2番目のGをCに変えた配列では MFE 構造の確率は 0.378 にすぎず、ほぼ同じ確率の構造が複数ある。MFE構造だけを見ると「決まった構造」に見えるが実際は揺らいでいる。
・塩基対確率 p_ij（個々の塩基対が存在する確率）と、構造全体の確率 P(S) は別物。G2C変異体では p(4,13)=0.997 だが P(MFE構造)=0.378。設計で「目標構造の確率」と言うときは P(T) を指す。
・弧の太さは塩基対確率。RT = 0.616 kcal/mol（37 ℃）。
【受講者への問い】
・確率 0.38 の「予測構造」は信用できるか。どう報告すべきか。
【参照】
・McCaskill J.S. (1990) Biopolymers 29:1105–1119 (分配関数アルゴリズム)
・Lorenz R. et al. (2011) ViennaRNA Package 2.0. Algorithms Mol Biol 6:26. https://doi.org/10.1186/1748-7188-6-26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【所要時間】1分（補足扱い。本編は要点のみ）
【説明の要点】
・本編では「候補が多すぎて全部は試せない → 短い区間の答えを使い回して速く解く」の1点だけ伝えて次へ進む。以下は質問が出たとき・時間に余裕があるときの説明。
・構造の候補は配列長とともに爆発的に増える（数値は計算で数えたもの。16塩基の例題RNAで塩基対規則を満たす構造は347通り、任意対合なら30塩基で約2.4億、100塩基で約10^33）。全部を試すのは不可能。
・動的計画法（DP）：短い区間 [i, j] の最良値（最小エネルギー）を表に保存し、長い区間はその組み合わせで求める。区間 [i, j] は「i が非対合」か「i が k と対合し、内側 [i+1, k−1] と外側 [k+1, j] に分かれる」のどちらか。
・ViennaRNA はこの考え方をループ単位のエネルギーモデルに合わせて拡張（Zuker–Stiegler 型、計算量 O(n³)）。塩基対数を最大化する教材用の Nussinov 法とは別物（補足）。
・「DPを逆向きに解けば設計になる」わけではない（設計は探索問題）。
【参照】
・Zuker M., Stiegler P. (1981) Nucleic Acids Res 9:133–148 (熱力学的 DP)
・Hofacker I.L. et al. (1994) Fast folding and comparison of RNA secondary structures. Monatsh Chem 125:167–188. https://doi.org/10.1007/BF00818163
・Lorenz R. et al. (2011) ViennaRNA Package 2.0. Algorithms Mol Biol 6:26. https://doi.org/10.1186/1748-7188-6-26
・Nussinov R. et al. (1978) SIAM J Appl Math 35:68–82 (塩基対数最大化)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・録画を停止してから演習に入る。
・手順スライド（16–18）は表示したまま。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・対話モード（&gt;&gt;&gt;）は使わず、確認用スクリプト exercises/ex0_check.py を実行するだけにしている。
・口頭で一言：「黒い画面に打つのは uv run python ... の1行だけ。下の3行はコンピューターが返した結果」。
・バージョン 2.7.2 と長さ 16 が出れば準備完了。
・エラー時：ModuleNotFoundError → 環境が違う（uv run python を付けたか、プロジェクトのフォルダにいるかを確認）。TA が支援。
・万一 python の対話モード（&gt;&gt;&gt; の画面）に入ってしまったら exit() と打って Enter で抜ける。
【補足・注意】
・動かない参加者は TA・グループの画面共有で結果を確認し、比較の議論に参加する。
・Windows/macOS の細かな環境差は未検証。各自の環境で動いたかどうかをチャットで共有。
【参照】
・Python API https://viennarna.readthedocs.io/en/latest/api_python.html
・PyPI viennarna https://pypi.org/project/ViennaRNA/ (使用: 2.7.2)
・uv https://docs.astral.sh/uv/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【所要時間】5分
【説明の要点】
・RNA.fold(seq) は (構造, MFE) のタプルを返す。エネルギーの単位は kcal/mol。
・期待する出力：((((((....)))))) と −10.20。
・出力を dot-bracket の読み方で確認：括弧の対応、ループの位置、塩基対の数。
・つまずきやすい点：配列に T を入れる（U に置き換える、ViennaRNA は T も U として扱うが表示は入力のまま）。全角文字の混入。
【受講者への問い】
・予測された構造は、スライド13で読んだ構造と一致するか。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【所要時間】7分
【説明の要点】
・pos と new を変えて 1 塩基だけ置換し、元と比較する。表の 4 例は特に読みやすい変化：ステム中央（G4A）は塩基対が外れ内部ループができる、ループ（A8C）は構造もエネルギーも不変、G–C→G–U（C3U）は構造同じでエネルギーだけ上がる、末端（G1A）は端の1対が外れる。
・塩基対距離 bp_distance は「片方にだけある塩基対の数」。Hamming距離（文字の違い）とは別（G4A は Hamming 1 だが bp 距離 1、G2C は bp 距離 2）。
・全48通りの一塩基変異の結果はノート末尾に記載。
・答え合わせ：グループで「どこを変えると壊れるか」「どこを変えても変わらないか」を1つずつ報告してもらう。
【受講者への問い】
・ステムの真ん中を変えると 5 kcal/mol 以上変わるのに、ループの塩基を変えても変わらないのはなぜか（エネルギーモデルのどの項が効くか）。
【補足・注意】
・全変異の一覧（位置 元→新 構造 ΔG 距離）：
・G1A: .(((((....))))). -7.9 d=1
・G1C: .(((((....))))). -8.0 d=1
・G1U: .(((((....))))). -7.7 d=1
・G2A: ..((((....)))).. -4.6 d=2
・G2C: ..((((....)))).. -4.2 d=2
・G2U: ..((((....)))).. -4.0 d=2
・C3A: ((.(((....))).)) -4.5 d=1
・C3G: ((.(((....))).)) -6.6 d=1
・C3U: ((((((....)))))) -8.3 d=0
・G4A: (((.((....)).))) -4.8 d=1
・G4C: (((.((....)).))) -3.9 d=1
・G4U: (((.((....)).))) -4.4 d=1
・C5A: ((((........)))) -4.9 d=2
・C5G: ((((.(....).)))) -6.1 d=1
・C5U: ((((((....)))))) -8.2 d=0
・A6C: (((((......))))) -7.9 d=1
・A6G: ((((((....)))))) -9.3 d=0
・A6U: (((((......))))) -9.2 d=1
・G7A: ((((((....)))))) -9.3 d=0
・G7C: ((((((....)))))) -9.1 d=0
・G7U: ((((((....)))))) -9.1 d=0
・A8C: ((((((....)))))) -10.2 d=0
・A8G: ((((((....)))))) -10.2 d=0
・A8U: ((((((....)))))) -10.2 d=0
・A9C: ((((((....)))))) -10.2 d=0
・A9G: ((((((....)))))) -10.2 d=0
・A9U: ((((((....)))))) -10.2 d=0
・A10C: ((((((....)))))) -9.5 d=0
・A10G: ((((((....)))))) -10.1 d=0
・A10U: ((((((....)))))) -9.5 d=0
・U11A: (((((......))))) -8.6 d=1
・U11C: (((((......))))) -8.6 d=1
・U11G: (((((......))))) -8.5 d=1
・G12A: ((((........)))) -4.7 d=2
・G12C: ((((........)))) -4.3 d=2
・G12U: ((((........)))) -4.1 d=2
・C13A: (((.((....)).))) -4.5 d=1
・C13G: (((.((....)).))) -6.6 d=1
・C13U: ((((((....)))))) -8.3 d=0
・G14A: ((.(((....))).)) -4.8 d=1
・G14C: ((.(((....))))). -4.7 d=5
・G14U: ((.(((....))).)) -4.4 d=1
・C15A: ..((((....)))).. -4.8 d=2
・C15G: (.((((....)))).) -5.8 d=1
・C15U: ((((((....)))))) -7.5 d=0
・C16A: .(((((....))))). -8.3 d=1
・C16G: .(((((....))))). -8.5 d=1
・C16U: ((((((....)))))) -8.5 d=0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・演習1の代表的な気づき（ステム中央は壊れる、ループは変わらない）を一言で回収してから録画再開。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【所要時間】2分
【説明の要点】
・予測：配列 → 構造。答えは（モデルのもとで）一意に決まる。計算は決定的で、DP により高速。
・設計：構造 → 配列。答えは多数あり得る（演習2では seed ごとに別の配列が出る）。解が見つからないこともある。計算は探索で、乱数に依存。
・評価器は予測そのもの。設計の良し悪しは「予測構造が目標に一致するか」「目標構造の確率が高いか」で測る。
【受講者への問い】
・設計で得た配列が「正しい」とはどういう意味か。
【参照】
・RNAinverse マニュアル https://viennarna.readthedocs.io/en/latest/man/RNAinverse.html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・RNAinverse で得た配列 GGUCGGGAGGUCGGUC は MFE 構造が目標に一致する（d=0）。しかし目標構造の確率は 0.232。エネルギーがほぼ同じ別構造（−1.0, −0.9 kcal/mol）が競合している。
・「MFE が一致した」＝「その構造にほぼ確実に折れる」ではない。設計の良さは目標構造の確率（や集団欠陥）でも評価する（演習2D）。
・弧の図：塩基対確率が分散している＝構造が定まっていない。
【受講者への問い】
・この配列を実験に使うなら、どんな追加の評価や改良をするか。
【参照】
・McCaskill J.S. (1990) Biopolymers 29:1105–1119 (分配関数アルゴリズム)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【所要時間】1分（補足扱い。本編は要点のみ）
【説明の要点】
・本編では「RNAinverse は 1994 年の論文の方法。少し変えて予測し直し、目標に近づけば採用、を繰り返す」と Fig. 7 の表（MFE 目的と確率目的で P(T) が大きく違う）だけ示して次へ。以下は補足の説明。
・ViennaRNA の RNAinverse は Hofacker, Fontana, Stadler, Bonhoeffer, Tacker, Schuster (1994) Monatsh. Chem. 125:167–188 の第4節 "Inverse Folding"（pp. 174–177）で提案された発見的手法（heuristic）。
・論文の要点：(1) 候補は「適合配列」（目標の塩基対位置で対合できる文字をもつ配列）のみ。(2) コストは構造距離 f(I)=d(S(I),T)。距離の選び方（第5節の木編集距離など）は性能に大きく影響しないと述べている。現行実装は塩基対距離を使う（inverse.c の TDIST=0）。(3) 全長で最適化せず、ヘアピンから1塩基対ずつ伸ばし、分岐点で部分構造を結合し、最後に全長を扱う（Fig. 5）。理由は「部分構造のエネルギーは加法的」で、全長の fold 回数を減らし局所解に陥りにくくするため。(4) 最適化は最も単純な適応的探索：ランダム変異を試し、コストが下がれば採用。非対合位置は1塩基、対合位置は適合性を保って2塩基を同時に変える。改善する変異が無ければ停止し、新しい初期配列からやり直す。「正しく対合していない位置に限定する」オプションがあり、失敗確率はわずかに増えるが探索空間が大幅に減る（現行実装ではこれが既定の動作）。(5) 分配関数版（-Fp）は目標構造の確率 P(T)=exp(−ΔG(T)/RT)/Q（論文の式6）を最大化。全長で最適化するため遅い。
・Fig. 7 の実行例：tRNA-Phe のクローバー葉（76 塩基）。-Fm で得た3配列は目標構造の確率が 0.03〜0.09、-Fp では 0.84〜0.86。天然 tRNA-Phe は 0.17（当時のパラメータでの値）。MFE 一致と高い確率が別条件であることを論文自身が示している。
・Fig. 6：計算時間は配列長のおよそ 3.5 乗（T ≈ 4×10⁻⁶ n^3.5 秒、1994 年の計算機）。
・図は論文の Fig. 5（フローチャート）を引用。配布時は引用元を明記。
【受講者への問い】
・論文が「距離の選び方は重要でない」と言えるのはなぜか（成功時は距離 0 で一致するため）。
【参照】
・Hofacker I.L. et al. (1994) Fast folding and comparison of RNA secondary structures. Monatsh Chem 125:167–188. https://doi.org/10.1007/BF00818163
・ソース: src/ViennaRNA/inverse/inverse.c (v2.7.2, https://github.com/ViennaRNA/ViennaRNA)
・RNAinverse マニュアル https://viennarna.readthedocs.io/en/latest/man/RNAinverse.html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【所要時間】1〜2分（補足扱い。本編は左の①〜⑤だけ）
【説明の要点】
・本編では左の①〜⑤の流れだけ示し、右のトレース表は「d が 1 ずつ減って 0 になる」ことだけ指して次へ。以下は補足の説明。
・前スライドの論文のアイデアが v2.7.2 の inverse.c でどう動くか。適応的探索（adaptive walk）：(1) 初期配列を整合化（目標の塩基対が対合できる文字にする）、(2) 予測して目標との塩基対距離 d を計算、(3) 目標と予測が食い違う位置（と隣）を選び、非対合位置は 1 塩基置換、対合位置はペアごと置換して再予測、(4) d が減る最初の変異を採用、(5) d = 0 で終了。改善する変異がなければ停止（失敗として d を返す）。
・同点（d が同じ）の変異は、目標構造のエネルギーと MFE の差が縮まるものを記憶し、改善がなければそれを採用する（ソース inverse.c の cost2）。
・実装はさらに目標構造を部分構造（ヘアピンを閉じるステムから外側へ）に分けて順に探索する（補足スライド）。
・右の表は本講習用に単純化して再現したトレース（24 塩基の目標、Python の乱数 seed=5）。RNAinverse 本体の内部ログではないが、手順は同じ。
【受講者への問い】
・なぜ「食い違う位置」だけを変えるのか。全部の位置を試すと何が起きるか。
【参照】
・Hofacker I.L. et al. (1994) Fast folding and comparison of RNA secondary structures. Monatsh Chem 125:167–188. https://doi.org/10.1007/BF00818163
・ソース: src/ViennaRNA/inverse/inverse.c (v2.7.2, https://github.com/ViennaRNA/ViennaRNA)
・RNAinverse マニュアル https://viennarna.readthedocs.io/en/latest/man/RNAinverse.html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・塩基対距離 d_bp(S, T)：一方にだけ含まれる塩基対の数（対称差の大きさ）。RNA.bp_distance(S, T) で計算。0 なら同一。
・例：端の1対が外れると 1、内側の1対が外れて内部ループができても 1、両端2対が外れると 2、全部開くと 6。
・Hamming 距離は「配列」の文字の違いの数。塩基対距離は「構造」の差。演習2では両方を出して区別する（RNAinverse の CLI 出力の数値は初期配列からの Hamming 距離）。
・ViennaRNA には木編集距離など他の構造距離もあるが、RNAinverse の MFE モードは塩基対距離を使う（inverse.c で TDIST=0）。
【参照】
・Python API https://viennarna.readthedocs.io/en/latest/api_python.html
・ソース: src/ViennaRNA/inverse/inverse.c (v2.7.2, https://github.com/ViennaRNA/ViennaRNA)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【所要時間】2分
【説明の要点】
・inverse_fold は (配列, d) を返す。d = 0 なら成功（返した配列の MFE 構造が目標に一致）。d &gt; 0 は失敗で、最後に試した部分構造の塩基対距離。
・seed を変えると初期配列が変わり、別の配列が得られる（表の5例はすべて成功、Hamming 距離 3〜6 文字の変更で到達）。目標構造の確率 P(T) は 0.506〜0.935 とばらつく。
・失敗例：目標 (((.(((....))).))) を 40 回試すと 2 回失敗（d=1）。返された配列を fold すると目標と 1 対違う構造になる。
・成功しても目標構造の確率が低いことがある。「d=0」と「P(T) が高い」は別の条件。
・乱数と OS：この資料の数値は macOS で計測。Windows 11 では同じ seed でも配列が変わる（事務局確認：seed=1 で UGAUGUCUUGAUGUCA、P(T)=0.359）。d = 0 と inverse_pf_fold の P(T)=0.976 は一致。
【受講者への問い】
・失敗した候補（d=1）は捨てるべきか、使い道はあるか。
【参照】
・RNAinverse マニュアル https://viennarna.readthedocs.io/en/latest/man/RNAinverse.html
・ソース: src/ViennaRNA/inverse/inverse.c (v2.7.2, https://github.com/ViennaRNA/ViennaRNA)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・録画停止。TA はグループに分かれて支援。
・冒頭で「2D まで届かなくてよい」「発展問題はグループの裁量」と伝える（TA が進行を判断しやすくするため）。
・目安：2A 8分、2B 7分、2C 10分（ここまで必須）、2D 8分、発展問題は残り時間、共有 2分。
・どのスクリプトも単独で動く。2A で躓いたグループは ex2b_refold.py から始めてもよい。
・Windows では同じ seed でも配列が資料と異なる。d = 0 なら成功と伝える。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【所要時間】5分
【説明の要点】
・目標構造は例題RNAと同じ形（16 塩基）。RNA.init_rand(seed) で乱数を固定し、RNA.random_string で A/C/G/U の初期配列を作る。
・inverse_fold(start, target) は [配列, d] を返す。d = 0 なら成功。
・注意：Python 版の inverse_fold は引数 start の文字列を結果で上書きする（C 側で書き換える）。初期配列を後で使うため start_copy に控えを取っている。
・N などのワイルドカードは Python API では置き換えられない（CLI と違う）。A/C/G/U で初期配列を作ること。
・期待する出力（macOS で計測、環境により変わりうる）：初期配列 UCCAGAAACGAUCAUU → 設計配列 CGCGGAAACGUUCGUG、d = 0
【参照】
・RNAinverse マニュアル https://viennarna.readthedocs.io/en/latest/man/RNAinverse.html
・Python API https://viennarna.readthedocs.io/en/latest/api_python.html
・ソース: src/ViennaRNA/inverse/inverse.c (v2.7.2, https://github.com/ViennaRNA/ViennaRNA)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【所要時間】5分
【説明の要点】
・設計配列を RNA.fold で再予測し、目標と並べて表示。RNA.bp_distance で塩基対距離を確認（成功なら 0）。
・初期配列との Hamming 距離も出し、「構造の距離」と「配列の距離」を区別する。
・期待する出力：CGCGGAAACGUUCGUG → ((((((....))))))（-3.80 kcal/mol）、塩基対距離 0、Hamming 距離 6。
・例題RNA（−10.2）と比べてエネルギーが浅い（−3.8）ことに気づかせる。安定さは目的に入っていない。
【受講者への問い】
・設計配列は例題RNAより不安定。それでも「成功」なのはなぜか。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【所要時間】8分
【説明の要点】
・seed を 1〜5 に変えて 5 回設計し、結果をリストに集める。全部 d = 0 になるはず（16 塩基は易しい目標）。
・同じ目標でも配列はすべて異なる。ΔG も −3.8〜−7.3 とばらつく。
・グループ内で seed を分担してもよい。時間があれば seed を 6〜10 に広げる。
・失敗（d &gt; 0）が出た場合はそれも候補として記録し、再予測の構造がどう違うかを見る。
【受講者への問い】
・5 つの候補から 1 つ選ぶとしたら、何を基準にするか（次の 2D）。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【所要時間】8分
【説明の要点】
・fold_compound → mfe → exp_params_rescale → pf → pr_structure(target) の順で目標構造の確率 P(T) を計算。条件は 37 ℃・同じパラメータで統一。有効な（対合できる）配列と構造の組にだけ使う。
・5 候補の P(T)：0.616, 0.863, 0.935, 0.506, 0.57。すべて d = 0（MFE 一致）だが確率は約 0.5〜0.94 と大きく違う。
・参考：確率を最大化する RNA.inverse_pf_fold(start, target) では GGCGGCGCAGGCCGCC（P(T) = 0.976、GC 含量 94%）のように G–C が多い配列が出る。返り値の cost は −RT ln P。
・MFE 一致と高い目標確率は同じ条件ではない。どちらを重視するかは用途次第（実験での扱いやすさ、GC 含量の制約など）。
【受講者への問い】
・P(T) が最も高い候補を選ぶことに落とし穴はあるか（GC が多すぎる、他の条件）。
【参照】
・Python API https://viennarna.readthedocs.io/en/latest/api_python.html
・RNAinverse マニュアル https://viennarna.readthedocs.io/en/latest/man/RNAinverse.html
・McCaskill J.S. (1990) Biopolymers 29:1105–1119 (分配関数アルゴリズム)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【所要時間】12分（＋共有2分）
【説明の要点】
・グループで A〜C から 1 つ選び、「何を変えたか」「成功率・P(T) がどう変わったか」を記録する。提出課題の材料になる。
・A の目安（40 回試行、macOS）：内部ループ入り 24 塩基は成功 39/40、P(T) 中央値 0.52。2 ヘアピン 26 塩基は 40/40、中央値 0.33。3 分岐 53 塩基は 7/20、中央値 0.06（失敗と低確率が増える）。
・B：小文字は固定される。ループを gaaa に固定した 3 例は全て成功、P(T) = 0.786, 0.898, 0.946。
・C：温度を変えて P(T) を再計算（fold_compound に RNA.md() で temperature を指定）。seed=1 の配列は 25 ℃ で 0.726、37 ℃ で 0.616、60 ℃ で 0.281。設計自体を別温度で行うには RNA.cvar.temperature を変える。
・つまずき：目標の括弧が対応していない、配列長と構造長の不一致（エラーになる）。小文字の位置が対合できない文字だと解が見つからないことがある。
【参照】
・RNAinverse マニュアル https://viennarna.readthedocs.io/en/latest/man/RNAinverse.html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・各グループの一言共有は録画停止中に済ませてから再開する。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・スイッチ：OFF と ON の 2 状態（以上）を同時に満たす配列が要る。複数構造を目的にする設計ツール（例：RNAblueprint, Hammer et al. 2017）。
・相互作用：トリガーと結合した複合体の評価は 2 本鎖の熱力学（RNAcofold, RNAup / NUPACK）。
・配列制約：RBS・AUG・プロモーターの固定、GC 含量、反復や制限部位の回避。RNAinverse は小文字固定しか扱わない。
・三次相互作用（kissing loop 等）は二次構造モデル外。
・実験検証：予測が一致しても細胞内で機能するとは限らない（Green et al. 2014 では 646 設計を実測して選抜）。
【受講者への問い】
・自分の応用では、どの条件が一番きついか。
【参照】
・Green A.A., Silver P.A., Collins J.J., Yin P. (2014) Toehold switches: de-novo-designed regulators of gene expression. Cell 159:925–939. https://doi.org/10.1016/j.cell.2014.10.002 (PMC4265554)
・Geary C., Rothemund P.W.K., Andersen E.S. (2014) A single-stranded architecture for cotranscriptional folding of RNA nanostructures. Science 345:799–804. https://doi.org/10.1126/science.1253920
・Hammer S. et al. (2017) RNAblueprint. Bioinformatics 33:2850–2852
・Zadeh J.N. et al. (2011) NUPACK. J Comput Chem 32:170–173
・Lorenz R. et al. (2011) ViennaRNA Package 2.0. Algorithms Mol Biol 6:26. https://doi.org/10.1186/1748-7188-6-26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・fold：配列 → MFE 構造と ΔG。エネルギーはループ単位の和。
・pf / pr_structure：配列 → 構造集団の確率。MFE だけでは揺らぎが見えない。
・inverse_fold：目標構造 → 配列。予測を評価器に使う探索。成功しても P(T) はばらつく。
・分からないこと：実験で機能するか、他分子との相互作用、三次構造、細胞内環境。
【参照】
・ViennaRNA 公式 https://www.tbi.univie.ac.at/RNA/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・グループごとに 1 件。内容は演習 2 と発展問題の結果をそのまとめる程度で十分。
・提出期限は講習から約 2 週間後、10 月 22 日を案として提示（確定ではない）。提出先・提出方法は未確定のため後日案内。
・形式は提案：A4 1 枚または スライド 2 枚（PDF）。数値は自分たちの環境での実測値を記す（バージョン・温度・seed も）。
【参照】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・録画停止を確認してから質疑に入る。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【所要時間】10分
【説明の要点】
・質問が出ないときの投げかけ：設計したい RNA の「目標構造」「入力」「条件」「検証方法」を順に聞く。
・本日の道具でできること／できないこと（スライド 37）に対応させて答える。
【受講者への問い】
・どんな機能の RNA を作りたいか
・その目標構造はどう決めるか
・成功をどう確かめるか
【参照】
・ViennaRNA 公式 https://www.tbi.univie.ac.at/RNA/
・RNAinverse マニュアル https://viennarna.readthedocs.io/en/latest/man/RNAinverse.html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【所要時間】任意（本編には含めない）
【説明の要点】
・Nussinov らの教材モデル：塩基対の数を最大化する。表 N(i,j) は区間 [i,j] の最大塩基対数。漸化式は「i 非対合」「j 非対合」「i–j 対合」「分割」の 4 通り。計算量 O(n³)。
・例：GACGCAGAAAUGCGCC では最大 5 対の構造 (.(((.(...))))). が得られるが、その自由エネルギーは +2.1 kcal/mol と不安定。ViennaRNA の MFE 構造は ..((((....))))..（4 対、-4.6 kcal/mol）。
・塩基対の数ではなく、スタッキングとループの自由エネルギーの和を最小化するのが熱力学モデル（Zuker–Stiegler 1981、ViennaRNA）。
・表は Python で計算（build/compute.py の nussinov 関数、最小ループ 3、G–U を許容）。
【参照】
・Nussinov R. et al. (1978) SIAM J Appl Math 35:68–82 (塩基対数最大化)
・Zuker M., Stiegler P. (1981) Nucleic Acids Res 9:133–148 (熱力学的 DP)
・Hofacker I.L. et al. (1994) Fast folding and comparison of RNA secondary structures. Monatsh Chem 125:167–188. https://doi.org/10.1007/BF00818163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・F_ij：区間 [i,j] の最小自由エネルギー（外部ループ扱い）。C_ij：i と j が対合しているときの最小エネルギー。M, M1：多分岐ループ内部の補助配列。
・C の 3 項は「ヘアピン H」「内部ループ/バルジ/スタッキング I（k,l を内側の対）」「多分岐ループ（a, b, c は線形近似の定数）」に対応。ループ単位のエネルギー（スライド 16）がここに入る。
・内部ループの大きさを制限（既定 30）して O(n³) 時間、O(n²) 記憶。分配関数版（McCaskill）は min を和、+ を積に置き換えたもの。
・式の記法は Lorenz et al. 2011 / Hofacker et al. 1994 に準拠（簡略化）。
【参照】
・Hofacker I.L. et al. (1994) Fast folding and comparison of RNA secondary structures. Monatsh Chem 125:167–188. https://doi.org/10.1007/BF00818163
・Lorenz R. et al. (2011) ViennaRNA Package 2.0. Algorithms Mol Biol 6:26. https://doi.org/10.1186/1748-7188-6-26
・Zuker M., Stiegler P. (1981) Nucleic Acids Res 9:133–148 (熱力学的 DP)
・McCaskill J.S. (1990) Biopolymers 29:1105–1119 (分配関数アルゴリズム)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・分配関数 Z は全構造のボルツマン因子の和。構造 S の確率は exp(−E(S)/RT)/Z。集団の自由エネルギー G_ens = −RT ln Z は MFE より少し低い（例題RNA：−10.26 vs −10.20）。
・塩基対確率 p_ij は (i,j) を含む構造の確率の和。ドットプロット（右上三角）で表示するのが RNAfold -p の慣例（Lorenz 2011 Fig. 1A）。
・集団欠陥 ED(T)：集団からランダムに構造を引いたときに目標 T と食い違う塩基の平均割合。NUPACK などの設計目的関数。例題RNAでは 0.012。
・ViennaRNA：fold_compound.pf(), bpp(), pr_structure(), ensemble_defect()。
【参照】
・McCaskill J.S. (1990) Biopolymers 29:1105–1119 (分配関数アルゴリズム)
・Lorenz R. et al. (2011) ViennaRNA Package 2.0. Algorithms Mol Biol 6:26. https://doi.org/10.1186/1748-7188-6-26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・以下は src/ViennaRNA/inverse/inverse.c（v2.7.2 タグと master で同一）を読んで確認した内容。
・論文（Hofacker et al. 1994 第4節）との対応：構造距離は論文では任意（第5節の木編集距離など）だが実装は塩基対距離（TDIST=0）。論文の「正しく対合していない位置に限定」オプションは実装では既定（w1/w2 リスト）。論文は改善なしで停止して新しい初期配列からやり直すと述べるが、ライブラリ関数は距離を返して終了し、繰り返しは CLI の -R や呼び出し側が行う。同点時のエネルギー差（cost2）による判定は論文には記載がない。部分構造から順に解く流れ（Fig. 5）は aux_struct/WALK に対応。
・make_start：目標の各塩基対 (i,j) について、start の文字が対合できなければ片側（乱数で選択、小文字側は固定）を対合可能な文字に置換。
・aux_struct と WALK：目標構造をステム単位（連続塩基対の最外対を [ ] で印）に分け、ヘアピンを閉じるステムから外側へ、部分構造ごとに adaptive_walk を実行。give_up=1 なら部分構造で失敗した時点で打ち切り。
・adaptive_walk（MFE モード）：予測構造と目標のペアテーブルを比較し、w1 = 食い違う位置（非対合または対の 3′ 側）、w2 = その隣接位置。各リストをシャッフルし w1→w2 の順に試す。非対合位置は symbolset（AUGC）の他の文字、対合位置は pairset（AU, UA, GC, CG, GU, UG のうち pair 行列で許されるもの）を順に試し、cost（塩基対距離）が下がった最初の変異を採用。
・同点処理：cost が同じで cost2 = E(target) − E_mfe が小さくなる変異を string2 に記憶し、改善がなければ採用（nc2 をカウント）。改善も同点も無ければ停止。
・返り値：MFE モードは最後に走らせた部分構造の塩基対距離（0 なら成功）。ドキュメントの「エネルギー差」という記述はソースと一致しない。
・pf モード（inverse_pf_fold）：cost = E(target) − F_ens − final_cost = −RT ln P(target) − final_cost。dangles は一時的に 2 に固定。候補位置は固定されていない非対合位置と対の 5′ 側すべて（シャッフル）。分割探索はしない。
・Python API：inverse_fold(start, target) は [配列, cost] を返す。引数 start の Python 文字列は C 側で上書きされる。N は置換されない（CLI の RNAinverse.c が行う処理）。give_up, symbolset, final_cost は RNA.cvar で設定可能。
【参照】
・ソース: src/ViennaRNA/inverse/inverse.c (v2.7.2, https://github.com/ViennaRNA/ViennaRNA)
・RNAinverse マニュアル https://viennarna.readthedocs.io/en/latest/man/RNAinverse.html
・Hofacker I.L. et al. (1994) Fast folding and comparison of RNA secondary structures. Monatsh Chem 125:167–188. https://doi.org/10.1007/BF00818163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・MFE 目的（inverse_fold）：予測構造 = 目標 になれば終了。目標構造の確率は問わないため、P(T) は 0.5〜0.94 とばらつく（seed 1〜5）。40 回試行では 0.23〜0.82。
・確率目的（inverse_pf_fold）：−RT ln P(T) を下げ続ける。結果は G–C の多い配列（GC 94%）で P(T) ≈ 0.976 に収束。局所最適で停止するため P(T) は 1 にならない。
・どちらが良いかは用途次第：GC の多い配列は安定だが合成・転写・二量体化などで扱いにくい場合がある。
・別の目的関数：集団欠陥 ED（NUPACK）。ViennaRNA には fc.ensemble_defect がある。
【参照】
・RNAinverse マニュアル https://viennarna.readthedocs.io/en/latest/man/RNAinverse.html
・ソース: src/ViennaRNA/inverse/inverse.c (v2.7.2, https://github.com/ViennaRNA/ViennaRNA)
・Zadeh J.N. et al. (2011) NUPACK. J Comput Chem 32:170–173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・小文字の位置は固定される（make_start でも adaptive_walk でも変異されない）。ループを gaaa に固定した 3 例はすべて成功。
・Python API では N などのワイルドカードは置換されない：N を含む初期配列を渡すと N がそのまま残る（表の例）。A/C/G/U で初期配列を作る。
・温度：fold_compound(seq, md) の md.temperature で確率計算の温度を変えられる。設計そのものを別温度で行うには RNA.cvar.temperature（旧 API のグローバル）を設定する。
・同じ配列でも温度が上がると目標構造の確率は下がる。例題RNAは 60 ℃ でも 0.84 だが、設計配列（seed=4）は 0.21 まで落ち、MFE 構造も変わる。
【参照】
・RNAinverse マニュアル https://viennarna.readthedocs.io/en/latest/man/RNAinverse.html
・Python API https://viennarna.readthedocs.io/en/latest/api_python.html
・ソース: src/ViennaRNA/inverse/inverse.c (v2.7.2, https://github.com/ViennaRNA/ViennaRNA)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【所要時間】任意（事前配布用）
【説明の要点】
・uv で環境を分離し、PyPI の viennarna 2.7.2 を入れる。Python 3.13 で動作確認（macOS 15、Windows 11 は事務局で確認）。それ以外の構成は未検証。Windows では同じ seed でも演習2の設計配列が資料と異なる（d = 0 と inverse_pf_fold の P(T) は一致）。
・確認：uv run python -c "import RNA; print(RNA.__version__)" で 2.7.2。
・乱数：RNA.init_rand(seed) で固定。乱数生成の実装は OS によって異なる可能性があり、同じ seed でも配列が変わりうる（この資料の数値は macOS 15 で計測）。
・Python 文字列の上書き：inverse_fold は start の文字列を書き換える。控えは start.encode().decode() で取る。
・動かない場合は TA・グループの画面共有で参加する。
【参照】
・uv https://docs.astral.sh/uv/
・PyPI viennarna https://pypi.org/project/ViennaRNA/ (使用: 2.7.2)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・一次資料（公式ドキュメント・原論文・ソース）を優先して参照した。各スライドのノートに参照箇所を記載。
【参照】
・ViennaRNA 公式 https://www.tbi.univie.ac.at/RNA/
・Python API https://viennarna.readthedocs.io/en/latest/api_python.html
・RNAinverse マニュアル https://viennarna.readthedocs.io/en/latest/man/RNAinverse.html
・RNAinverse チュートリアル (doc/source/tutorial/RNAinverse.rst, GitHub ViennaRNA/ViennaRNA)
・ソース: src/ViennaRNA/inverse/inverse.c (v2.7.2, https://github.com/ViennaRNA/ViennaRNA)
・Lorenz R. et al. (2011) ViennaRNA Package 2.0. Algorithms Mol Biol 6:26. https://doi.org/10.1186/1748-7188-6-26
・Hofacker I.L. et al. (1994) Fast folding and comparison of RNA secondary structures. Monatsh Chem 125:167–188. https://doi.org/10.1007/BF00818163
・Green A.A., Silver P.A., Collins J.J., Yin P. (2014) Toehold switches: de-novo-designed regulators of gene expression. Cell 159:925–939. https://doi.org/10.1016/j.cell.2014.10.002 (PMC4265554)
・Geary C., Rothemund P.W.K., Andersen E.S. (2014) A single-stranded architecture for cotranscriptional folding of RNA nanostructures. Science 345:799–804. https://doi.org/10.1126/science.1253920
・Mathews D.H. et al. (2004) PNAS 101:7287–7292 (Turner 2004 パラメータ); Turner &amp; Mathews (2010) NNDB, Nucleic Acids Res 38:D280. https://rna.urmc.rochester.edu/NNDB/
・McCaskill J.S. (1990) Biopolymers 29:1105–1119 (分配関数アルゴリズム)
・Zuker M., Stiegler P. (1981) Nucleic Acids Res 9:133–148 (熱力学的 DP)
・Nussinov R. et al. (1978) SIAM J Appl Math 35:68–82 (塩基対数最大化)
・PyPI viennarna https://pypi.org/project/ViennaRNA/ (使用: 2.7.2)
・uv https://docs.astral.sh/uv/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txBox="1"/>
          <p:nvPr/>
        </p:nvSpPr>
        <p:spPr>
          <a:xfrm>
            <a:off x="731520" y="1371600"/>
            <a:ext cx="7315200" cy="128016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ViennaRNA：RNA構造解析ソフトウェア</a:t>
            </a:r>
            <a:endParaRPr lang="en-US" sz="4000" dirty="0"/>
          </a:p>
        </p:txBody>
      </p:sp>
      <p:sp>
        <p:nvSpPr>
          <p:cNvPr id="3" name="Text 1"/>
          <p:cNvSpPr txBox="1"/>
          <p:nvPr/>
        </p:nvSpPr>
        <p:spPr>
          <a:xfrm>
            <a:off x="731520" y="2651760"/>
            <a:ext cx="7680960" cy="548640"/>
          </a:xfrm>
          <a:prstGeom prst="rect">
            <a:avLst/>
          </a:prstGeom>
          <a:noFill/>
          <a:ln/>
        </p:spPr>
        <p:txBody>
          <a:bodyPr wrap="square" lIns="0" tIns="0" rIns="0" bIns="0" rtlCol="0" anchor="t"/>
          <a:lstStyle/>
          <a:p>
            <a:pPr indent="0" marL="0">
              <a:buNone/>
            </a:pPr>
            <a:r>
              <a:rPr lang="en-US" sz="1900" dirty="0">
                <a:solidFill>
                  <a:srgbClr val="DCE9EC"/>
                </a:solidFill>
                <a:latin typeface="Meiryo" pitchFamily="34" charset="0"/>
                <a:ea typeface="Meiryo" pitchFamily="34" charset="-122"/>
                <a:cs typeface="Meiryo" pitchFamily="34" charset="-120"/>
              </a:rPr>
              <a:t>二次構造の予測から inverse folding（配列設計）までを体験する</a:t>
            </a:r>
            <a:endParaRPr lang="en-US" sz="1900" dirty="0"/>
          </a:p>
        </p:txBody>
      </p:sp>
      <p:sp>
        <p:nvSpPr>
          <p:cNvPr id="4" name="Text 2"/>
          <p:cNvSpPr txBox="1"/>
          <p:nvPr/>
        </p:nvSpPr>
        <p:spPr>
          <a:xfrm>
            <a:off x="731520" y="3931920"/>
            <a:ext cx="7680960" cy="1463040"/>
          </a:xfrm>
          <a:prstGeom prst="rect">
            <a:avLst/>
          </a:prstGeom>
          <a:noFill/>
          <a:ln/>
        </p:spPr>
        <p:txBody>
          <a:bodyPr wrap="square" lIns="0" tIns="0" rIns="0" bIns="0" rtlCol="0" anchor="t"/>
          <a:lstStyle/>
          <a:p>
            <a:pPr indent="0" marL="0">
              <a:spcAft>
                <a:spcPts val="600"/>
              </a:spcAft>
              <a:buNone/>
            </a:pPr>
            <a:r>
              <a:rPr lang="en-US" sz="2000" dirty="0">
                <a:solidFill>
                  <a:srgbClr val="FFFFFF"/>
                </a:solidFill>
                <a:latin typeface="Meiryo" pitchFamily="34" charset="0"/>
                <a:ea typeface="Meiryo" pitchFamily="34" charset="-122"/>
                <a:cs typeface="Meiryo" pitchFamily="34" charset="-120"/>
              </a:rPr>
              <a:t>分子ロボティクス夏の学校 2026</a:t>
            </a:r>
            <a:endParaRPr lang="en-US" sz="2000" dirty="0"/>
          </a:p>
          <a:p>
            <a:pPr indent="0" marL="0">
              <a:spcAft>
                <a:spcPts val="600"/>
              </a:spcAft>
              <a:buNone/>
            </a:pPr>
            <a:r>
              <a:rPr lang="en-US" sz="2000" dirty="0">
                <a:solidFill>
                  <a:srgbClr val="FFFFFF"/>
                </a:solidFill>
                <a:latin typeface="Meiryo" pitchFamily="34" charset="0"/>
                <a:ea typeface="Meiryo" pitchFamily="34" charset="-122"/>
                <a:cs typeface="Meiryo" pitchFamily="34" charset="-120"/>
              </a:rPr>
              <a:t>講師：角 俊輔</a:t>
            </a:r>
            <a:endParaRPr lang="en-US" sz="2000" dirty="0"/>
          </a:p>
          <a:p>
            <a:pPr indent="0" marL="0">
              <a:spcAft>
                <a:spcPts val="600"/>
              </a:spcAft>
              <a:buNone/>
            </a:pPr>
            <a:r>
              <a:rPr lang="en-US" sz="2000" dirty="0">
                <a:solidFill>
                  <a:srgbClr val="FFFFFF"/>
                </a:solidFill>
                <a:latin typeface="Meiryo" pitchFamily="34" charset="0"/>
                <a:ea typeface="Meiryo" pitchFamily="34" charset="-122"/>
                <a:cs typeface="Meiryo" pitchFamily="34" charset="-120"/>
              </a:rPr>
              <a:t>2026年10月8日（木）19:00–21:00（日本時間・Zoom）</a:t>
            </a:r>
            <a:endParaRPr lang="en-US" sz="2000" dirty="0"/>
          </a:p>
        </p:txBody>
      </p:sp>
      <p:sp>
        <p:nvSpPr>
          <p:cNvPr id="5" name="Text 3"/>
          <p:cNvSpPr txBox="1"/>
          <p:nvPr/>
        </p:nvSpPr>
        <p:spPr>
          <a:xfrm>
            <a:off x="731520" y="5349240"/>
            <a:ext cx="7315200" cy="411480"/>
          </a:xfrm>
          <a:prstGeom prst="rect">
            <a:avLst/>
          </a:prstGeom>
          <a:noFill/>
          <a:ln/>
        </p:spPr>
        <p:txBody>
          <a:bodyPr wrap="square" lIns="0" tIns="0" rIns="0" bIns="0" rtlCol="0" anchor="t"/>
          <a:lstStyle/>
          <a:p>
            <a:pPr indent="0" marL="0">
              <a:buNone/>
            </a:pPr>
            <a:r>
              <a:rPr lang="en-US" sz="1600" dirty="0">
                <a:solidFill>
                  <a:srgbClr val="B7C8CC"/>
                </a:solidFill>
                <a:latin typeface="Meiryo" pitchFamily="34" charset="0"/>
                <a:ea typeface="Meiryo" pitchFamily="34" charset="-122"/>
                <a:cs typeface="Meiryo" pitchFamily="34" charset="-120"/>
              </a:rPr>
              <a:t>使用ソフトウェア：ViennaRNA 2.7.2（Python から import RNA）</a:t>
            </a:r>
            <a:endParaRPr lang="en-US" sz="1600" dirty="0"/>
          </a:p>
        </p:txBody>
      </p:sp>
      <p:sp>
        <p:nvSpPr>
          <p:cNvPr id="6" name="Text 4"/>
          <p:cNvSpPr txBox="1"/>
          <p:nvPr/>
        </p:nvSpPr>
        <p:spPr>
          <a:xfrm>
            <a:off x="731520" y="822960"/>
            <a:ext cx="3657600" cy="365760"/>
          </a:xfrm>
          <a:prstGeom prst="rect">
            <a:avLst/>
          </a:prstGeom>
          <a:noFill/>
          <a:ln/>
        </p:spPr>
        <p:txBody>
          <a:bodyPr wrap="square" lIns="0" tIns="0" rIns="0" bIns="0" rtlCol="0" anchor="t"/>
          <a:lstStyle/>
          <a:p>
            <a:pPr indent="0" marL="0">
              <a:buNone/>
            </a:pPr>
            <a:r>
              <a:rPr lang="en-US" sz="1600" dirty="0">
                <a:solidFill>
                  <a:srgbClr val="B7C8CC"/>
                </a:solidFill>
                <a:latin typeface="Meiryo" pitchFamily="34" charset="0"/>
                <a:ea typeface="Meiryo" pitchFamily="34" charset="-122"/>
                <a:cs typeface="Meiryo" pitchFamily="34" charset="-120"/>
              </a:rPr>
              <a:t>資料 v2.0</a:t>
            </a:r>
            <a:endParaRPr lang="en-US" sz="1600" dirty="0"/>
          </a:p>
        </p:txBody>
      </p:sp>
      <p:sp>
        <p:nvSpPr>
          <p:cNvPr id="7" name="Text 5"/>
          <p:cNvSpPr txBox="1"/>
          <p:nvPr/>
        </p:nvSpPr>
        <p:spPr>
          <a:xfrm>
            <a:off x="731520" y="5760720"/>
            <a:ext cx="7680960" cy="411480"/>
          </a:xfrm>
          <a:prstGeom prst="rect">
            <a:avLst/>
          </a:prstGeom>
          <a:noFill/>
          <a:ln/>
        </p:spPr>
        <p:txBody>
          <a:bodyPr wrap="square" lIns="0" tIns="0" rIns="0" bIns="0" rtlCol="0" anchor="t"/>
          <a:lstStyle/>
          <a:p>
            <a:pPr indent="0" marL="0">
              <a:buNone/>
            </a:pPr>
            <a:r>
              <a:rPr lang="en-US" sz="1600" dirty="0">
                <a:solidFill>
                  <a:srgbClr val="FFFFFF"/>
                </a:solidFill>
                <a:latin typeface="Meiryo" pitchFamily="34" charset="0"/>
                <a:ea typeface="Meiryo" pitchFamily="34" charset="-122"/>
                <a:cs typeface="Meiryo" pitchFamily="34" charset="-120"/>
              </a:rPr>
              <a:t>資料・演習スクリプト：github.com/Shunsuke-1994/Course_RNAinverse</a:t>
            </a:r>
            <a:endParaRPr lang="en-US" sz="1600" dirty="0"/>
          </a:p>
        </p:txBody>
      </p:sp>
      <p:sp>
        <p:nvSpPr>
          <p:cNvPr id="8" name="Text 6"/>
          <p:cNvSpPr txBox="1"/>
          <p:nvPr/>
        </p:nvSpPr>
        <p:spPr>
          <a:xfrm>
            <a:off x="731520" y="6172200"/>
            <a:ext cx="7680960" cy="365760"/>
          </a:xfrm>
          <a:prstGeom prst="rect">
            <a:avLst/>
          </a:prstGeom>
          <a:noFill/>
          <a:ln/>
        </p:spPr>
        <p:txBody>
          <a:bodyPr wrap="square" lIns="0" tIns="0" rIns="0" bIns="0" rtlCol="0" anchor="t"/>
          <a:lstStyle/>
          <a:p>
            <a:pPr indent="0" marL="0">
              <a:buNone/>
            </a:pPr>
            <a:r>
              <a:rPr lang="en-US" sz="1400" dirty="0">
                <a:solidFill>
                  <a:srgbClr val="DCE9EC"/>
                </a:solidFill>
                <a:latin typeface="Meiryo" pitchFamily="34" charset="0"/>
                <a:ea typeface="Meiryo" pitchFamily="34" charset="-122"/>
                <a:cs typeface="Meiryo" pitchFamily="34" charset="-120"/>
              </a:rPr>
              <a:t>ここからダウンロードしてそのまま使えます（Code → Download ZIP、または git clone）</a:t>
            </a:r>
            <a:endParaRPr lang="en-US" sz="1400" dirty="0"/>
          </a:p>
        </p:txBody>
      </p:sp>
      <p:sp>
        <p:nvSpPr>
          <p:cNvPr id="9" name="Shape 7"/>
          <p:cNvSpPr/>
          <p:nvPr/>
        </p:nvSpPr>
        <p:spPr>
          <a:xfrm>
            <a:off x="9786099" y="1508760"/>
            <a:ext cx="9144" cy="544602"/>
          </a:xfrm>
          <a:prstGeom prst="line">
            <a:avLst/>
          </a:prstGeom>
          <a:noFill/>
          <a:ln w="19050">
            <a:solidFill>
              <a:srgbClr val="A7B4BA"/>
            </a:solidFill>
            <a:prstDash val="solid"/>
          </a:ln>
        </p:spPr>
      </p:sp>
      <p:sp>
        <p:nvSpPr>
          <p:cNvPr id="10" name="Shape 8"/>
          <p:cNvSpPr/>
          <p:nvPr/>
        </p:nvSpPr>
        <p:spPr>
          <a:xfrm>
            <a:off x="9786099" y="2053362"/>
            <a:ext cx="9144" cy="544602"/>
          </a:xfrm>
          <a:prstGeom prst="line">
            <a:avLst/>
          </a:prstGeom>
          <a:noFill/>
          <a:ln w="19050">
            <a:solidFill>
              <a:srgbClr val="A7B4BA"/>
            </a:solidFill>
            <a:prstDash val="solid"/>
          </a:ln>
        </p:spPr>
      </p:sp>
      <p:sp>
        <p:nvSpPr>
          <p:cNvPr id="11" name="Shape 9"/>
          <p:cNvSpPr/>
          <p:nvPr/>
        </p:nvSpPr>
        <p:spPr>
          <a:xfrm>
            <a:off x="9786099" y="2597964"/>
            <a:ext cx="9144" cy="544602"/>
          </a:xfrm>
          <a:prstGeom prst="line">
            <a:avLst/>
          </a:prstGeom>
          <a:noFill/>
          <a:ln w="19050">
            <a:solidFill>
              <a:srgbClr val="A7B4BA"/>
            </a:solidFill>
            <a:prstDash val="solid"/>
          </a:ln>
        </p:spPr>
      </p:sp>
      <p:sp>
        <p:nvSpPr>
          <p:cNvPr id="12" name="Shape 10"/>
          <p:cNvSpPr/>
          <p:nvPr/>
        </p:nvSpPr>
        <p:spPr>
          <a:xfrm>
            <a:off x="9786099" y="3142566"/>
            <a:ext cx="9144" cy="544602"/>
          </a:xfrm>
          <a:prstGeom prst="line">
            <a:avLst/>
          </a:prstGeom>
          <a:noFill/>
          <a:ln w="19050">
            <a:solidFill>
              <a:srgbClr val="A7B4BA"/>
            </a:solidFill>
            <a:prstDash val="solid"/>
          </a:ln>
        </p:spPr>
      </p:sp>
      <p:sp>
        <p:nvSpPr>
          <p:cNvPr id="13" name="Shape 11"/>
          <p:cNvSpPr/>
          <p:nvPr/>
        </p:nvSpPr>
        <p:spPr>
          <a:xfrm>
            <a:off x="9786099" y="3687168"/>
            <a:ext cx="9144" cy="544602"/>
          </a:xfrm>
          <a:prstGeom prst="line">
            <a:avLst/>
          </a:prstGeom>
          <a:noFill/>
          <a:ln w="19050">
            <a:solidFill>
              <a:srgbClr val="A7B4BA"/>
            </a:solidFill>
            <a:prstDash val="solid"/>
          </a:ln>
        </p:spPr>
      </p:sp>
      <p:sp>
        <p:nvSpPr>
          <p:cNvPr id="14" name="Shape 12"/>
          <p:cNvSpPr/>
          <p:nvPr/>
        </p:nvSpPr>
        <p:spPr>
          <a:xfrm flipH="1">
            <a:off x="9471682" y="4231770"/>
            <a:ext cx="314417" cy="505391"/>
          </a:xfrm>
          <a:prstGeom prst="line">
            <a:avLst/>
          </a:prstGeom>
          <a:noFill/>
          <a:ln w="19050">
            <a:solidFill>
              <a:srgbClr val="A7B4BA"/>
            </a:solidFill>
            <a:prstDash val="solid"/>
          </a:ln>
        </p:spPr>
      </p:sp>
      <p:sp>
        <p:nvSpPr>
          <p:cNvPr id="15" name="Shape 13"/>
          <p:cNvSpPr/>
          <p:nvPr/>
        </p:nvSpPr>
        <p:spPr>
          <a:xfrm>
            <a:off x="9471682" y="4737161"/>
            <a:ext cx="289002" cy="520639"/>
          </a:xfrm>
          <a:prstGeom prst="line">
            <a:avLst/>
          </a:prstGeom>
          <a:noFill/>
          <a:ln w="19050">
            <a:solidFill>
              <a:srgbClr val="A7B4BA"/>
            </a:solidFill>
            <a:prstDash val="solid"/>
          </a:ln>
        </p:spPr>
      </p:sp>
      <p:sp>
        <p:nvSpPr>
          <p:cNvPr id="16" name="Shape 14"/>
          <p:cNvSpPr/>
          <p:nvPr/>
        </p:nvSpPr>
        <p:spPr>
          <a:xfrm>
            <a:off x="9760684" y="5257800"/>
            <a:ext cx="595431" cy="9144"/>
          </a:xfrm>
          <a:prstGeom prst="line">
            <a:avLst/>
          </a:prstGeom>
          <a:noFill/>
          <a:ln w="19050">
            <a:solidFill>
              <a:srgbClr val="A7B4BA"/>
            </a:solidFill>
            <a:prstDash val="solid"/>
          </a:ln>
        </p:spPr>
      </p:sp>
      <p:sp>
        <p:nvSpPr>
          <p:cNvPr id="17" name="Shape 15"/>
          <p:cNvSpPr/>
          <p:nvPr/>
        </p:nvSpPr>
        <p:spPr>
          <a:xfrm flipH="1">
            <a:off x="10356116" y="4737161"/>
            <a:ext cx="289002" cy="520639"/>
          </a:xfrm>
          <a:prstGeom prst="line">
            <a:avLst/>
          </a:prstGeom>
          <a:noFill/>
          <a:ln w="19050">
            <a:solidFill>
              <a:srgbClr val="A7B4BA"/>
            </a:solidFill>
            <a:prstDash val="solid"/>
          </a:ln>
        </p:spPr>
      </p:sp>
      <p:sp>
        <p:nvSpPr>
          <p:cNvPr id="18" name="Shape 16"/>
          <p:cNvSpPr/>
          <p:nvPr/>
        </p:nvSpPr>
        <p:spPr>
          <a:xfrm>
            <a:off x="10330701" y="4231770"/>
            <a:ext cx="314417" cy="505391"/>
          </a:xfrm>
          <a:prstGeom prst="line">
            <a:avLst/>
          </a:prstGeom>
          <a:noFill/>
          <a:ln w="19050">
            <a:solidFill>
              <a:srgbClr val="A7B4BA"/>
            </a:solidFill>
            <a:prstDash val="solid"/>
          </a:ln>
        </p:spPr>
      </p:sp>
      <p:sp>
        <p:nvSpPr>
          <p:cNvPr id="19" name="Shape 17"/>
          <p:cNvSpPr/>
          <p:nvPr/>
        </p:nvSpPr>
        <p:spPr>
          <a:xfrm flipV="1">
            <a:off x="10330701" y="3687168"/>
            <a:ext cx="9144" cy="544602"/>
          </a:xfrm>
          <a:prstGeom prst="line">
            <a:avLst/>
          </a:prstGeom>
          <a:noFill/>
          <a:ln w="19050">
            <a:solidFill>
              <a:srgbClr val="A7B4BA"/>
            </a:solidFill>
            <a:prstDash val="solid"/>
          </a:ln>
        </p:spPr>
      </p:sp>
      <p:sp>
        <p:nvSpPr>
          <p:cNvPr id="20" name="Shape 18"/>
          <p:cNvSpPr/>
          <p:nvPr/>
        </p:nvSpPr>
        <p:spPr>
          <a:xfrm flipV="1">
            <a:off x="10330701" y="3142566"/>
            <a:ext cx="9144" cy="544602"/>
          </a:xfrm>
          <a:prstGeom prst="line">
            <a:avLst/>
          </a:prstGeom>
          <a:noFill/>
          <a:ln w="19050">
            <a:solidFill>
              <a:srgbClr val="A7B4BA"/>
            </a:solidFill>
            <a:prstDash val="solid"/>
          </a:ln>
        </p:spPr>
      </p:sp>
      <p:sp>
        <p:nvSpPr>
          <p:cNvPr id="21" name="Shape 19"/>
          <p:cNvSpPr/>
          <p:nvPr/>
        </p:nvSpPr>
        <p:spPr>
          <a:xfrm flipV="1">
            <a:off x="10330701" y="2597964"/>
            <a:ext cx="9144" cy="544602"/>
          </a:xfrm>
          <a:prstGeom prst="line">
            <a:avLst/>
          </a:prstGeom>
          <a:noFill/>
          <a:ln w="19050">
            <a:solidFill>
              <a:srgbClr val="A7B4BA"/>
            </a:solidFill>
            <a:prstDash val="solid"/>
          </a:ln>
        </p:spPr>
      </p:sp>
      <p:sp>
        <p:nvSpPr>
          <p:cNvPr id="22" name="Shape 20"/>
          <p:cNvSpPr/>
          <p:nvPr/>
        </p:nvSpPr>
        <p:spPr>
          <a:xfrm flipV="1">
            <a:off x="10330701" y="2053362"/>
            <a:ext cx="9144" cy="544602"/>
          </a:xfrm>
          <a:prstGeom prst="line">
            <a:avLst/>
          </a:prstGeom>
          <a:noFill/>
          <a:ln w="19050">
            <a:solidFill>
              <a:srgbClr val="A7B4BA"/>
            </a:solidFill>
            <a:prstDash val="solid"/>
          </a:ln>
        </p:spPr>
      </p:sp>
      <p:sp>
        <p:nvSpPr>
          <p:cNvPr id="23" name="Shape 21"/>
          <p:cNvSpPr/>
          <p:nvPr/>
        </p:nvSpPr>
        <p:spPr>
          <a:xfrm flipV="1">
            <a:off x="10330701" y="1508760"/>
            <a:ext cx="9144" cy="544602"/>
          </a:xfrm>
          <a:prstGeom prst="line">
            <a:avLst/>
          </a:prstGeom>
          <a:noFill/>
          <a:ln w="19050">
            <a:solidFill>
              <a:srgbClr val="A7B4BA"/>
            </a:solidFill>
            <a:prstDash val="solid"/>
          </a:ln>
        </p:spPr>
      </p:sp>
      <p:sp>
        <p:nvSpPr>
          <p:cNvPr id="24" name="Shape 22"/>
          <p:cNvSpPr/>
          <p:nvPr/>
        </p:nvSpPr>
        <p:spPr>
          <a:xfrm>
            <a:off x="9786099" y="1508760"/>
            <a:ext cx="544602" cy="9144"/>
          </a:xfrm>
          <a:prstGeom prst="line">
            <a:avLst/>
          </a:prstGeom>
          <a:noFill/>
          <a:ln w="31750">
            <a:solidFill>
              <a:srgbClr val="B7C8CC"/>
            </a:solidFill>
            <a:prstDash val="solid"/>
          </a:ln>
        </p:spPr>
      </p:sp>
      <p:sp>
        <p:nvSpPr>
          <p:cNvPr id="25" name="Shape 23"/>
          <p:cNvSpPr/>
          <p:nvPr/>
        </p:nvSpPr>
        <p:spPr>
          <a:xfrm>
            <a:off x="9786099" y="2053362"/>
            <a:ext cx="544602" cy="9144"/>
          </a:xfrm>
          <a:prstGeom prst="line">
            <a:avLst/>
          </a:prstGeom>
          <a:noFill/>
          <a:ln w="31750">
            <a:solidFill>
              <a:srgbClr val="B7C8CC"/>
            </a:solidFill>
            <a:prstDash val="solid"/>
          </a:ln>
        </p:spPr>
      </p:sp>
      <p:sp>
        <p:nvSpPr>
          <p:cNvPr id="26" name="Shape 24"/>
          <p:cNvSpPr/>
          <p:nvPr/>
        </p:nvSpPr>
        <p:spPr>
          <a:xfrm>
            <a:off x="9786099" y="2597964"/>
            <a:ext cx="544602" cy="9144"/>
          </a:xfrm>
          <a:prstGeom prst="line">
            <a:avLst/>
          </a:prstGeom>
          <a:noFill/>
          <a:ln w="31750">
            <a:solidFill>
              <a:srgbClr val="B7C8CC"/>
            </a:solidFill>
            <a:prstDash val="solid"/>
          </a:ln>
        </p:spPr>
      </p:sp>
      <p:sp>
        <p:nvSpPr>
          <p:cNvPr id="27" name="Shape 25"/>
          <p:cNvSpPr/>
          <p:nvPr/>
        </p:nvSpPr>
        <p:spPr>
          <a:xfrm>
            <a:off x="9786099" y="3142566"/>
            <a:ext cx="544602" cy="9144"/>
          </a:xfrm>
          <a:prstGeom prst="line">
            <a:avLst/>
          </a:prstGeom>
          <a:noFill/>
          <a:ln w="31750">
            <a:solidFill>
              <a:srgbClr val="B7C8CC"/>
            </a:solidFill>
            <a:prstDash val="solid"/>
          </a:ln>
        </p:spPr>
      </p:sp>
      <p:sp>
        <p:nvSpPr>
          <p:cNvPr id="28" name="Shape 26"/>
          <p:cNvSpPr/>
          <p:nvPr/>
        </p:nvSpPr>
        <p:spPr>
          <a:xfrm>
            <a:off x="9786099" y="3687168"/>
            <a:ext cx="544602" cy="9144"/>
          </a:xfrm>
          <a:prstGeom prst="line">
            <a:avLst/>
          </a:prstGeom>
          <a:noFill/>
          <a:ln w="31750">
            <a:solidFill>
              <a:srgbClr val="B7C8CC"/>
            </a:solidFill>
            <a:prstDash val="solid"/>
          </a:ln>
        </p:spPr>
      </p:sp>
      <p:sp>
        <p:nvSpPr>
          <p:cNvPr id="29" name="Shape 27"/>
          <p:cNvSpPr/>
          <p:nvPr/>
        </p:nvSpPr>
        <p:spPr>
          <a:xfrm>
            <a:off x="9786099" y="4231770"/>
            <a:ext cx="544602" cy="9144"/>
          </a:xfrm>
          <a:prstGeom prst="line">
            <a:avLst/>
          </a:prstGeom>
          <a:noFill/>
          <a:ln w="31750">
            <a:solidFill>
              <a:srgbClr val="B7C8CC"/>
            </a:solidFill>
            <a:prstDash val="solid"/>
          </a:ln>
        </p:spPr>
      </p:sp>
      <p:sp>
        <p:nvSpPr>
          <p:cNvPr id="30" name="Text 28"/>
          <p:cNvSpPr/>
          <p:nvPr/>
        </p:nvSpPr>
        <p:spPr>
          <a:xfrm>
            <a:off x="9603219" y="1325880"/>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31" name="Text 29"/>
          <p:cNvSpPr/>
          <p:nvPr/>
        </p:nvSpPr>
        <p:spPr>
          <a:xfrm>
            <a:off x="9603219" y="1870482"/>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32" name="Text 30"/>
          <p:cNvSpPr/>
          <p:nvPr/>
        </p:nvSpPr>
        <p:spPr>
          <a:xfrm>
            <a:off x="9603219" y="2415084"/>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33" name="Text 31"/>
          <p:cNvSpPr/>
          <p:nvPr/>
        </p:nvSpPr>
        <p:spPr>
          <a:xfrm>
            <a:off x="9603219" y="2959686"/>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34" name="Text 32"/>
          <p:cNvSpPr/>
          <p:nvPr/>
        </p:nvSpPr>
        <p:spPr>
          <a:xfrm>
            <a:off x="9603219" y="3504288"/>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35" name="Text 33"/>
          <p:cNvSpPr/>
          <p:nvPr/>
        </p:nvSpPr>
        <p:spPr>
          <a:xfrm>
            <a:off x="9603219" y="404889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A</a:t>
            </a:r>
            <a:endParaRPr lang="en-US" sz="1400" dirty="0"/>
          </a:p>
        </p:txBody>
      </p:sp>
      <p:sp>
        <p:nvSpPr>
          <p:cNvPr id="36" name="Text 34"/>
          <p:cNvSpPr/>
          <p:nvPr/>
        </p:nvSpPr>
        <p:spPr>
          <a:xfrm>
            <a:off x="9288802" y="4554281"/>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37" name="Text 35"/>
          <p:cNvSpPr/>
          <p:nvPr/>
        </p:nvSpPr>
        <p:spPr>
          <a:xfrm>
            <a:off x="9577804" y="507492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A</a:t>
            </a:r>
            <a:endParaRPr lang="en-US" sz="1400" dirty="0"/>
          </a:p>
        </p:txBody>
      </p:sp>
      <p:sp>
        <p:nvSpPr>
          <p:cNvPr id="38" name="Text 36"/>
          <p:cNvSpPr/>
          <p:nvPr/>
        </p:nvSpPr>
        <p:spPr>
          <a:xfrm>
            <a:off x="10173236" y="507492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A</a:t>
            </a:r>
            <a:endParaRPr lang="en-US" sz="1400" dirty="0"/>
          </a:p>
        </p:txBody>
      </p:sp>
      <p:sp>
        <p:nvSpPr>
          <p:cNvPr id="39" name="Text 37"/>
          <p:cNvSpPr/>
          <p:nvPr/>
        </p:nvSpPr>
        <p:spPr>
          <a:xfrm>
            <a:off x="10462238" y="4554281"/>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A</a:t>
            </a:r>
            <a:endParaRPr lang="en-US" sz="1400" dirty="0"/>
          </a:p>
        </p:txBody>
      </p:sp>
      <p:sp>
        <p:nvSpPr>
          <p:cNvPr id="40" name="Text 38"/>
          <p:cNvSpPr/>
          <p:nvPr/>
        </p:nvSpPr>
        <p:spPr>
          <a:xfrm>
            <a:off x="10147821" y="4048890"/>
            <a:ext cx="365760" cy="365760"/>
          </a:xfrm>
          <a:prstGeom prst="ellipse">
            <a:avLst/>
          </a:prstGeom>
          <a:solidFill>
            <a:srgbClr val="CC79A7"/>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U</a:t>
            </a:r>
            <a:endParaRPr lang="en-US" sz="1400" dirty="0"/>
          </a:p>
        </p:txBody>
      </p:sp>
      <p:sp>
        <p:nvSpPr>
          <p:cNvPr id="41" name="Text 39"/>
          <p:cNvSpPr/>
          <p:nvPr/>
        </p:nvSpPr>
        <p:spPr>
          <a:xfrm>
            <a:off x="10147821" y="3504288"/>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42" name="Text 40"/>
          <p:cNvSpPr/>
          <p:nvPr/>
        </p:nvSpPr>
        <p:spPr>
          <a:xfrm>
            <a:off x="10147821" y="2959686"/>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43" name="Text 41"/>
          <p:cNvSpPr/>
          <p:nvPr/>
        </p:nvSpPr>
        <p:spPr>
          <a:xfrm>
            <a:off x="10147821" y="2415084"/>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44" name="Text 42"/>
          <p:cNvSpPr/>
          <p:nvPr/>
        </p:nvSpPr>
        <p:spPr>
          <a:xfrm>
            <a:off x="10147821" y="1870482"/>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45" name="Text 43"/>
          <p:cNvSpPr/>
          <p:nvPr/>
        </p:nvSpPr>
        <p:spPr>
          <a:xfrm>
            <a:off x="10147821" y="1325880"/>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46" name="Text 44"/>
          <p:cNvSpPr txBox="1"/>
          <p:nvPr/>
        </p:nvSpPr>
        <p:spPr>
          <a:xfrm>
            <a:off x="8503920" y="5577840"/>
            <a:ext cx="3108960" cy="365760"/>
          </a:xfrm>
          <a:prstGeom prst="rect">
            <a:avLst/>
          </a:prstGeom>
          <a:noFill/>
          <a:ln/>
        </p:spPr>
        <p:txBody>
          <a:bodyPr wrap="square" lIns="0" tIns="0" rIns="0" bIns="0" rtlCol="0" anchor="t"/>
          <a:lstStyle/>
          <a:p>
            <a:pPr algn="ctr" indent="0" marL="0">
              <a:buNone/>
            </a:pPr>
            <a:r>
              <a:rPr lang="en-US" sz="1600" dirty="0">
                <a:solidFill>
                  <a:srgbClr val="DCE9EC"/>
                </a:solidFill>
                <a:latin typeface="Consolas" pitchFamily="34" charset="0"/>
                <a:ea typeface="Consolas" pitchFamily="34" charset="-122"/>
                <a:cs typeface="Consolas" pitchFamily="34" charset="-120"/>
              </a:rPr>
              <a:t>GGCGCAGAAAUGCGCC</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事前準備：実習環境のインストール（所要 10〜15 分）</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事前準備：ViennaRNA 実習環境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a:t>
            </a:r>
            <a:endParaRPr lang="en-US" sz="1100" dirty="0"/>
          </a:p>
        </p:txBody>
      </p:sp>
      <p:sp>
        <p:nvSpPr>
          <p:cNvPr id="6" name="Shape 3"/>
          <p:cNvSpPr/>
          <p:nvPr/>
        </p:nvSpPr>
        <p:spPr>
          <a:xfrm>
            <a:off x="502920" y="1234440"/>
            <a:ext cx="2651760" cy="1371600"/>
          </a:xfrm>
          <a:prstGeom prst="roundRect">
            <a:avLst>
              <a:gd name="adj" fmla="val 8000"/>
            </a:avLst>
          </a:prstGeom>
          <a:solidFill>
            <a:srgbClr val="EEF3F4"/>
          </a:solidFill>
          <a:ln w="12700">
            <a:solidFill>
              <a:srgbClr val="EEF3F4"/>
            </a:solidFill>
            <a:prstDash val="solid"/>
          </a:ln>
        </p:spPr>
      </p:sp>
      <p:sp>
        <p:nvSpPr>
          <p:cNvPr id="7" name="Text 4"/>
          <p:cNvSpPr/>
          <p:nvPr/>
        </p:nvSpPr>
        <p:spPr>
          <a:xfrm>
            <a:off x="685800" y="1417320"/>
            <a:ext cx="502920" cy="502920"/>
          </a:xfrm>
          <a:prstGeom prst="ellipse">
            <a:avLst/>
          </a:prstGeom>
          <a:solidFill>
            <a:srgbClr val="0F4C5C"/>
          </a:solidFill>
          <a:ln>
            <a:solidFill>
              <a:srgbClr val="0F4C5C"/>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8" name="Text 5"/>
          <p:cNvSpPr txBox="1"/>
          <p:nvPr/>
        </p:nvSpPr>
        <p:spPr>
          <a:xfrm>
            <a:off x="1325880" y="1371600"/>
            <a:ext cx="1737360" cy="548640"/>
          </a:xfrm>
          <a:prstGeom prst="rect">
            <a:avLst/>
          </a:prstGeom>
          <a:noFill/>
          <a:ln/>
        </p:spPr>
        <p:txBody>
          <a:bodyPr wrap="square" lIns="0" tIns="0" rIns="0" bIns="0" rtlCol="0" anchor="ctr"/>
          <a:lstStyle/>
          <a:p>
            <a:pPr indent="0" marL="0">
              <a:buNone/>
            </a:pPr>
            <a:r>
              <a:rPr lang="en-US" sz="1800" b="1" dirty="0">
                <a:solidFill>
                  <a:srgbClr val="0F4C5C"/>
                </a:solidFill>
                <a:latin typeface="Meiryo" pitchFamily="34" charset="0"/>
                <a:ea typeface="Meiryo" pitchFamily="34" charset="-122"/>
                <a:cs typeface="Meiryo" pitchFamily="34" charset="-120"/>
              </a:rPr>
              <a:t>uv を入れる</a:t>
            </a:r>
            <a:endParaRPr lang="en-US" sz="1800" dirty="0"/>
          </a:p>
        </p:txBody>
      </p:sp>
      <p:sp>
        <p:nvSpPr>
          <p:cNvPr id="9" name="Text 6"/>
          <p:cNvSpPr txBox="1"/>
          <p:nvPr/>
        </p:nvSpPr>
        <p:spPr>
          <a:xfrm>
            <a:off x="1325880" y="1920240"/>
            <a:ext cx="1737360" cy="45720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ターミナル 1 行</a:t>
            </a:r>
            <a:endParaRPr lang="en-US" sz="1400" dirty="0"/>
          </a:p>
        </p:txBody>
      </p:sp>
      <p:sp>
        <p:nvSpPr>
          <p:cNvPr id="10" name="Shape 7"/>
          <p:cNvSpPr/>
          <p:nvPr/>
        </p:nvSpPr>
        <p:spPr>
          <a:xfrm>
            <a:off x="3154680" y="1920240"/>
            <a:ext cx="182880" cy="9144"/>
          </a:xfrm>
          <a:prstGeom prst="line">
            <a:avLst/>
          </a:prstGeom>
          <a:noFill/>
          <a:ln w="19050">
            <a:solidFill>
              <a:srgbClr val="0F4C5C"/>
            </a:solidFill>
            <a:prstDash val="solid"/>
            <a:tailEnd type="triangle"/>
          </a:ln>
        </p:spPr>
      </p:sp>
      <p:sp>
        <p:nvSpPr>
          <p:cNvPr id="11" name="Shape 8"/>
          <p:cNvSpPr/>
          <p:nvPr/>
        </p:nvSpPr>
        <p:spPr>
          <a:xfrm>
            <a:off x="3337560" y="1234440"/>
            <a:ext cx="2651760" cy="1371600"/>
          </a:xfrm>
          <a:prstGeom prst="roundRect">
            <a:avLst>
              <a:gd name="adj" fmla="val 8000"/>
            </a:avLst>
          </a:prstGeom>
          <a:solidFill>
            <a:srgbClr val="EEF3F4"/>
          </a:solidFill>
          <a:ln w="12700">
            <a:solidFill>
              <a:srgbClr val="EEF3F4"/>
            </a:solidFill>
            <a:prstDash val="solid"/>
          </a:ln>
        </p:spPr>
      </p:sp>
      <p:sp>
        <p:nvSpPr>
          <p:cNvPr id="12" name="Text 9"/>
          <p:cNvSpPr/>
          <p:nvPr/>
        </p:nvSpPr>
        <p:spPr>
          <a:xfrm>
            <a:off x="3520440" y="1417320"/>
            <a:ext cx="502920" cy="502920"/>
          </a:xfrm>
          <a:prstGeom prst="ellipse">
            <a:avLst/>
          </a:prstGeom>
          <a:solidFill>
            <a:srgbClr val="0F4C5C"/>
          </a:solidFill>
          <a:ln>
            <a:solidFill>
              <a:srgbClr val="0F4C5C"/>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13" name="Text 10"/>
          <p:cNvSpPr txBox="1"/>
          <p:nvPr/>
        </p:nvSpPr>
        <p:spPr>
          <a:xfrm>
            <a:off x="4160520" y="1371600"/>
            <a:ext cx="1737360" cy="548640"/>
          </a:xfrm>
          <a:prstGeom prst="rect">
            <a:avLst/>
          </a:prstGeom>
          <a:noFill/>
          <a:ln/>
        </p:spPr>
        <p:txBody>
          <a:bodyPr wrap="square" lIns="0" tIns="0" rIns="0" bIns="0" rtlCol="0" anchor="ctr"/>
          <a:lstStyle/>
          <a:p>
            <a:pPr indent="0" marL="0">
              <a:buNone/>
            </a:pPr>
            <a:r>
              <a:rPr lang="en-US" sz="1800" b="1" dirty="0">
                <a:solidFill>
                  <a:srgbClr val="0F4C5C"/>
                </a:solidFill>
                <a:latin typeface="Meiryo" pitchFamily="34" charset="0"/>
                <a:ea typeface="Meiryo" pitchFamily="34" charset="-122"/>
                <a:cs typeface="Meiryo" pitchFamily="34" charset="-120"/>
              </a:rPr>
              <a:t>プロジェクトを作る</a:t>
            </a:r>
            <a:endParaRPr lang="en-US" sz="1800" dirty="0"/>
          </a:p>
        </p:txBody>
      </p:sp>
      <p:sp>
        <p:nvSpPr>
          <p:cNvPr id="14" name="Text 11"/>
          <p:cNvSpPr txBox="1"/>
          <p:nvPr/>
        </p:nvSpPr>
        <p:spPr>
          <a:xfrm>
            <a:off x="4160520" y="1920240"/>
            <a:ext cx="1737360" cy="45720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Python 3.13 を指定</a:t>
            </a:r>
            <a:endParaRPr lang="en-US" sz="1400" dirty="0"/>
          </a:p>
        </p:txBody>
      </p:sp>
      <p:sp>
        <p:nvSpPr>
          <p:cNvPr id="15" name="Shape 12"/>
          <p:cNvSpPr/>
          <p:nvPr/>
        </p:nvSpPr>
        <p:spPr>
          <a:xfrm>
            <a:off x="5989320" y="1920240"/>
            <a:ext cx="182880" cy="9144"/>
          </a:xfrm>
          <a:prstGeom prst="line">
            <a:avLst/>
          </a:prstGeom>
          <a:noFill/>
          <a:ln w="19050">
            <a:solidFill>
              <a:srgbClr val="0F4C5C"/>
            </a:solidFill>
            <a:prstDash val="solid"/>
            <a:tailEnd type="triangle"/>
          </a:ln>
        </p:spPr>
      </p:sp>
      <p:sp>
        <p:nvSpPr>
          <p:cNvPr id="16" name="Shape 13"/>
          <p:cNvSpPr/>
          <p:nvPr/>
        </p:nvSpPr>
        <p:spPr>
          <a:xfrm>
            <a:off x="6172200" y="1234440"/>
            <a:ext cx="2651760" cy="1371600"/>
          </a:xfrm>
          <a:prstGeom prst="roundRect">
            <a:avLst>
              <a:gd name="adj" fmla="val 8000"/>
            </a:avLst>
          </a:prstGeom>
          <a:solidFill>
            <a:srgbClr val="EEF3F4"/>
          </a:solidFill>
          <a:ln w="12700">
            <a:solidFill>
              <a:srgbClr val="EEF3F4"/>
            </a:solidFill>
            <a:prstDash val="solid"/>
          </a:ln>
        </p:spPr>
      </p:sp>
      <p:sp>
        <p:nvSpPr>
          <p:cNvPr id="17" name="Text 14"/>
          <p:cNvSpPr/>
          <p:nvPr/>
        </p:nvSpPr>
        <p:spPr>
          <a:xfrm>
            <a:off x="6355080" y="1417320"/>
            <a:ext cx="502920" cy="502920"/>
          </a:xfrm>
          <a:prstGeom prst="ellipse">
            <a:avLst/>
          </a:prstGeom>
          <a:solidFill>
            <a:srgbClr val="0F4C5C"/>
          </a:solidFill>
          <a:ln>
            <a:solidFill>
              <a:srgbClr val="0F4C5C"/>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18" name="Text 15"/>
          <p:cNvSpPr txBox="1"/>
          <p:nvPr/>
        </p:nvSpPr>
        <p:spPr>
          <a:xfrm>
            <a:off x="6995160" y="1371600"/>
            <a:ext cx="1737360" cy="548640"/>
          </a:xfrm>
          <a:prstGeom prst="rect">
            <a:avLst/>
          </a:prstGeom>
          <a:noFill/>
          <a:ln/>
        </p:spPr>
        <p:txBody>
          <a:bodyPr wrap="square" lIns="0" tIns="0" rIns="0" bIns="0" rtlCol="0" anchor="ctr"/>
          <a:lstStyle/>
          <a:p>
            <a:pPr indent="0" marL="0">
              <a:buNone/>
            </a:pPr>
            <a:r>
              <a:rPr lang="en-US" sz="1800" b="1" dirty="0">
                <a:solidFill>
                  <a:srgbClr val="0F4C5C"/>
                </a:solidFill>
                <a:latin typeface="Meiryo" pitchFamily="34" charset="0"/>
                <a:ea typeface="Meiryo" pitchFamily="34" charset="-122"/>
                <a:cs typeface="Meiryo" pitchFamily="34" charset="-120"/>
              </a:rPr>
              <a:t>ViennaRNA を入れる</a:t>
            </a:r>
            <a:endParaRPr lang="en-US" sz="1800" dirty="0"/>
          </a:p>
        </p:txBody>
      </p:sp>
      <p:sp>
        <p:nvSpPr>
          <p:cNvPr id="19" name="Text 16"/>
          <p:cNvSpPr txBox="1"/>
          <p:nvPr/>
        </p:nvSpPr>
        <p:spPr>
          <a:xfrm>
            <a:off x="6995160" y="1920240"/>
            <a:ext cx="1737360" cy="45720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viennarna 2.7.2</a:t>
            </a:r>
            <a:endParaRPr lang="en-US" sz="1400" dirty="0"/>
          </a:p>
        </p:txBody>
      </p:sp>
      <p:sp>
        <p:nvSpPr>
          <p:cNvPr id="20" name="Shape 17"/>
          <p:cNvSpPr/>
          <p:nvPr/>
        </p:nvSpPr>
        <p:spPr>
          <a:xfrm>
            <a:off x="8823960" y="1920240"/>
            <a:ext cx="182880" cy="9144"/>
          </a:xfrm>
          <a:prstGeom prst="line">
            <a:avLst/>
          </a:prstGeom>
          <a:noFill/>
          <a:ln w="19050">
            <a:solidFill>
              <a:srgbClr val="0F4C5C"/>
            </a:solidFill>
            <a:prstDash val="solid"/>
            <a:tailEnd type="triangle"/>
          </a:ln>
        </p:spPr>
      </p:sp>
      <p:sp>
        <p:nvSpPr>
          <p:cNvPr id="21" name="Shape 18"/>
          <p:cNvSpPr/>
          <p:nvPr/>
        </p:nvSpPr>
        <p:spPr>
          <a:xfrm>
            <a:off x="9006840" y="1234440"/>
            <a:ext cx="2651760" cy="1371600"/>
          </a:xfrm>
          <a:prstGeom prst="roundRect">
            <a:avLst>
              <a:gd name="adj" fmla="val 8000"/>
            </a:avLst>
          </a:prstGeom>
          <a:solidFill>
            <a:srgbClr val="EEF3F4"/>
          </a:solidFill>
          <a:ln w="12700">
            <a:solidFill>
              <a:srgbClr val="EEF3F4"/>
            </a:solidFill>
            <a:prstDash val="solid"/>
          </a:ln>
        </p:spPr>
      </p:sp>
      <p:sp>
        <p:nvSpPr>
          <p:cNvPr id="22" name="Text 19"/>
          <p:cNvSpPr/>
          <p:nvPr/>
        </p:nvSpPr>
        <p:spPr>
          <a:xfrm>
            <a:off x="9189720" y="1417320"/>
            <a:ext cx="502920" cy="502920"/>
          </a:xfrm>
          <a:prstGeom prst="ellipse">
            <a:avLst/>
          </a:prstGeom>
          <a:solidFill>
            <a:srgbClr val="0F4C5C"/>
          </a:solidFill>
          <a:ln>
            <a:solidFill>
              <a:srgbClr val="0F4C5C"/>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4</a:t>
            </a:r>
            <a:endParaRPr lang="en-US" sz="1800" dirty="0"/>
          </a:p>
        </p:txBody>
      </p:sp>
      <p:sp>
        <p:nvSpPr>
          <p:cNvPr id="23" name="Text 20"/>
          <p:cNvSpPr txBox="1"/>
          <p:nvPr/>
        </p:nvSpPr>
        <p:spPr>
          <a:xfrm>
            <a:off x="9829800" y="1371600"/>
            <a:ext cx="1737360" cy="548640"/>
          </a:xfrm>
          <a:prstGeom prst="rect">
            <a:avLst/>
          </a:prstGeom>
          <a:noFill/>
          <a:ln/>
        </p:spPr>
        <p:txBody>
          <a:bodyPr wrap="square" lIns="0" tIns="0" rIns="0" bIns="0" rtlCol="0" anchor="ctr"/>
          <a:lstStyle/>
          <a:p>
            <a:pPr indent="0" marL="0">
              <a:buNone/>
            </a:pPr>
            <a:r>
              <a:rPr lang="en-US" sz="1800" b="1" dirty="0">
                <a:solidFill>
                  <a:srgbClr val="0F4C5C"/>
                </a:solidFill>
                <a:latin typeface="Meiryo" pitchFamily="34" charset="0"/>
                <a:ea typeface="Meiryo" pitchFamily="34" charset="-122"/>
                <a:cs typeface="Meiryo" pitchFamily="34" charset="-120"/>
              </a:rPr>
              <a:t>動作確認</a:t>
            </a:r>
            <a:endParaRPr lang="en-US" sz="1800" dirty="0"/>
          </a:p>
        </p:txBody>
      </p:sp>
      <p:sp>
        <p:nvSpPr>
          <p:cNvPr id="24" name="Text 21"/>
          <p:cNvSpPr txBox="1"/>
          <p:nvPr/>
        </p:nvSpPr>
        <p:spPr>
          <a:xfrm>
            <a:off x="9829800" y="1920240"/>
            <a:ext cx="1737360" cy="45720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import RNA が通る</a:t>
            </a:r>
            <a:endParaRPr lang="en-US" sz="1400" dirty="0"/>
          </a:p>
        </p:txBody>
      </p:sp>
      <p:sp>
        <p:nvSpPr>
          <p:cNvPr id="25" name="Shape 22"/>
          <p:cNvSpPr/>
          <p:nvPr/>
        </p:nvSpPr>
        <p:spPr>
          <a:xfrm>
            <a:off x="502920" y="2834640"/>
            <a:ext cx="5486400" cy="3291840"/>
          </a:xfrm>
          <a:prstGeom prst="roundRect">
            <a:avLst>
              <a:gd name="adj" fmla="val 3333"/>
            </a:avLst>
          </a:prstGeom>
          <a:solidFill>
            <a:srgbClr val="EEF3F4"/>
          </a:solidFill>
          <a:ln w="12700">
            <a:solidFill>
              <a:srgbClr val="EEF3F4"/>
            </a:solidFill>
            <a:prstDash val="solid"/>
          </a:ln>
        </p:spPr>
      </p:sp>
      <p:sp>
        <p:nvSpPr>
          <p:cNvPr id="26" name="Text 23"/>
          <p:cNvSpPr txBox="1"/>
          <p:nvPr/>
        </p:nvSpPr>
        <p:spPr>
          <a:xfrm>
            <a:off x="685800" y="294436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必要なもの</a:t>
            </a:r>
            <a:endParaRPr lang="en-US" sz="2000" dirty="0"/>
          </a:p>
        </p:txBody>
      </p:sp>
      <p:sp>
        <p:nvSpPr>
          <p:cNvPr id="27" name="Text 24"/>
          <p:cNvSpPr txBox="1"/>
          <p:nvPr/>
        </p:nvSpPr>
        <p:spPr>
          <a:xfrm>
            <a:off x="685800" y="3401568"/>
            <a:ext cx="5120640" cy="2606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自分の PC（macOS または Windows）と管理者権限</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インターネット接続（ダウンロードは合計 100 MB 程度）</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ターミナル（macOS：ターミナル.app、Windows：PowerShell）</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exercises フォルダ（演習用スクリプト。GitHub から入手、手順 2・3 参照）</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Python の経験は不要。コマンドはコピーして貼り付ける</a:t>
            </a:r>
            <a:endParaRPr lang="en-US" sz="1600" dirty="0"/>
          </a:p>
        </p:txBody>
      </p:sp>
      <p:sp>
        <p:nvSpPr>
          <p:cNvPr id="28" name="Shape 25"/>
          <p:cNvSpPr/>
          <p:nvPr/>
        </p:nvSpPr>
        <p:spPr>
          <a:xfrm>
            <a:off x="6217920" y="2834640"/>
            <a:ext cx="5486400" cy="3291840"/>
          </a:xfrm>
          <a:prstGeom prst="roundRect">
            <a:avLst>
              <a:gd name="adj" fmla="val 3333"/>
            </a:avLst>
          </a:prstGeom>
          <a:solidFill>
            <a:srgbClr val="FBE9DC"/>
          </a:solidFill>
          <a:ln w="12700">
            <a:solidFill>
              <a:srgbClr val="FBE9DC"/>
            </a:solidFill>
            <a:prstDash val="solid"/>
          </a:ln>
        </p:spPr>
      </p:sp>
      <p:sp>
        <p:nvSpPr>
          <p:cNvPr id="29" name="Text 26"/>
          <p:cNvSpPr txBox="1"/>
          <p:nvPr/>
        </p:nvSpPr>
        <p:spPr>
          <a:xfrm>
            <a:off x="6400800" y="2944368"/>
            <a:ext cx="512064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動作確認の状況</a:t>
            </a:r>
            <a:endParaRPr lang="en-US" sz="2000" dirty="0"/>
          </a:p>
        </p:txBody>
      </p:sp>
      <p:sp>
        <p:nvSpPr>
          <p:cNvPr id="30" name="Text 27"/>
          <p:cNvSpPr txBox="1"/>
          <p:nvPr/>
        </p:nvSpPr>
        <p:spPr>
          <a:xfrm>
            <a:off x="6400800" y="3401568"/>
            <a:ext cx="5120640" cy="2606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確認済み：macOS 15（Python 3.13.4）、Windows 11（Python 3.13.15）、いずれも viennarna 2.7.2</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Windows では演習2の設計配列が資料の例と変わる（乱数の違い。失敗ではない）</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動かない場合：当日は TA またはグループの画面で結果を比較しながら参加できる。エラー文を控えておく</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手順 1：uv をインストールする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事前準備：ViennaRNA 実習環境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a:t>
            </a:r>
            <a:endParaRPr lang="en-US" sz="1100" dirty="0"/>
          </a:p>
        </p:txBody>
      </p:sp>
      <p:sp>
        <p:nvSpPr>
          <p:cNvPr id="6" name="Text 3"/>
          <p:cNvSpPr txBox="1"/>
          <p:nvPr/>
        </p:nvSpPr>
        <p:spPr>
          <a:xfrm>
            <a:off x="502920" y="1188720"/>
            <a:ext cx="54864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macOS（ターミナル.app を開いて貼り付け）</a:t>
            </a:r>
            <a:endParaRPr lang="en-US" sz="1600" dirty="0"/>
          </a:p>
        </p:txBody>
      </p:sp>
      <p:sp>
        <p:nvSpPr>
          <p:cNvPr id="7" name="Shape 4"/>
          <p:cNvSpPr/>
          <p:nvPr/>
        </p:nvSpPr>
        <p:spPr>
          <a:xfrm>
            <a:off x="502920" y="1600200"/>
            <a:ext cx="5486400" cy="731520"/>
          </a:xfrm>
          <a:prstGeom prst="rect">
            <a:avLst/>
          </a:prstGeom>
          <a:solidFill>
            <a:srgbClr val="F6F8F9"/>
          </a:solidFill>
          <a:ln w="9525">
            <a:solidFill>
              <a:srgbClr val="C9D3D6"/>
            </a:solidFill>
            <a:prstDash val="solid"/>
          </a:ln>
        </p:spPr>
      </p:sp>
      <p:sp>
        <p:nvSpPr>
          <p:cNvPr id="8" name="Text 5"/>
          <p:cNvSpPr txBox="1"/>
          <p:nvPr/>
        </p:nvSpPr>
        <p:spPr>
          <a:xfrm>
            <a:off x="612648" y="1673352"/>
            <a:ext cx="5266944" cy="585216"/>
          </a:xfrm>
          <a:prstGeom prst="rect">
            <a:avLst/>
          </a:prstGeom>
          <a:noFill/>
          <a:ln/>
        </p:spPr>
        <p:txBody>
          <a:bodyPr wrap="square" lIns="0" tIns="0" rIns="0" bIns="0" rtlCol="0" anchor="t"/>
          <a:lstStyle/>
          <a:p>
            <a:pPr indent="0" marL="0">
              <a:lnSpc>
                <a:spcPct val="105000"/>
              </a:lnSpc>
              <a:buNone/>
            </a:pPr>
            <a:r>
              <a:rPr lang="en-US" sz="1500" dirty="0">
                <a:solidFill>
                  <a:srgbClr val="1F2A30"/>
                </a:solidFill>
                <a:latin typeface="Consolas" pitchFamily="34" charset="0"/>
                <a:ea typeface="Consolas" pitchFamily="34" charset="-122"/>
                <a:cs typeface="Consolas" pitchFamily="34" charset="-120"/>
              </a:rPr>
              <a:t>curl -LsSf https://astral.sh/uv/install.sh | sh</a:t>
            </a:r>
            <a:endParaRPr lang="en-US" sz="1500" dirty="0"/>
          </a:p>
        </p:txBody>
      </p:sp>
      <p:sp>
        <p:nvSpPr>
          <p:cNvPr id="9" name="Text 6"/>
          <p:cNvSpPr txBox="1"/>
          <p:nvPr/>
        </p:nvSpPr>
        <p:spPr>
          <a:xfrm>
            <a:off x="6217920" y="1188720"/>
            <a:ext cx="54864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Windows（PowerShell を開いて貼り付け）</a:t>
            </a:r>
            <a:endParaRPr lang="en-US" sz="1600" dirty="0"/>
          </a:p>
        </p:txBody>
      </p:sp>
      <p:sp>
        <p:nvSpPr>
          <p:cNvPr id="10" name="Shape 7"/>
          <p:cNvSpPr/>
          <p:nvPr/>
        </p:nvSpPr>
        <p:spPr>
          <a:xfrm>
            <a:off x="6217920" y="1600200"/>
            <a:ext cx="5486400" cy="731520"/>
          </a:xfrm>
          <a:prstGeom prst="rect">
            <a:avLst/>
          </a:prstGeom>
          <a:solidFill>
            <a:srgbClr val="F6F8F9"/>
          </a:solidFill>
          <a:ln w="9525">
            <a:solidFill>
              <a:srgbClr val="C9D3D6"/>
            </a:solidFill>
            <a:prstDash val="solid"/>
          </a:ln>
        </p:spPr>
      </p:sp>
      <p:sp>
        <p:nvSpPr>
          <p:cNvPr id="11" name="Text 8"/>
          <p:cNvSpPr txBox="1"/>
          <p:nvPr/>
        </p:nvSpPr>
        <p:spPr>
          <a:xfrm>
            <a:off x="6327648" y="1673352"/>
            <a:ext cx="5266944" cy="58521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powershell -ExecutionPolicy ByPass -c "irm https://astral.sh/uv/install.ps1 | iex"</a:t>
            </a:r>
            <a:endParaRPr lang="en-US" sz="1300" dirty="0"/>
          </a:p>
        </p:txBody>
      </p:sp>
      <p:sp>
        <p:nvSpPr>
          <p:cNvPr id="12" name="Text 9"/>
          <p:cNvSpPr txBox="1"/>
          <p:nvPr/>
        </p:nvSpPr>
        <p:spPr>
          <a:xfrm>
            <a:off x="502920" y="2606040"/>
            <a:ext cx="54864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確認（ターミナルを閉じて開き直してから）</a:t>
            </a:r>
            <a:endParaRPr lang="en-US" sz="1600" dirty="0"/>
          </a:p>
        </p:txBody>
      </p:sp>
      <p:sp>
        <p:nvSpPr>
          <p:cNvPr id="13" name="Shape 10"/>
          <p:cNvSpPr/>
          <p:nvPr/>
        </p:nvSpPr>
        <p:spPr>
          <a:xfrm>
            <a:off x="502920" y="3017520"/>
            <a:ext cx="5486400" cy="960120"/>
          </a:xfrm>
          <a:prstGeom prst="rect">
            <a:avLst/>
          </a:prstGeom>
          <a:solidFill>
            <a:srgbClr val="F6F8F9"/>
          </a:solidFill>
          <a:ln w="9525">
            <a:solidFill>
              <a:srgbClr val="C9D3D6"/>
            </a:solidFill>
            <a:prstDash val="solid"/>
          </a:ln>
        </p:spPr>
      </p:sp>
      <p:sp>
        <p:nvSpPr>
          <p:cNvPr id="14" name="Text 11"/>
          <p:cNvSpPr txBox="1"/>
          <p:nvPr/>
        </p:nvSpPr>
        <p:spPr>
          <a:xfrm>
            <a:off x="612648" y="3090672"/>
            <a:ext cx="5266944" cy="813816"/>
          </a:xfrm>
          <a:prstGeom prst="rect">
            <a:avLst/>
          </a:prstGeom>
          <a:noFill/>
          <a:ln/>
        </p:spPr>
        <p:txBody>
          <a:bodyPr wrap="square" lIns="0" tIns="0" rIns="0" bIns="0" rtlCol="0" anchor="t"/>
          <a:lstStyle/>
          <a:p>
            <a:pPr indent="0" marL="0">
              <a:lnSpc>
                <a:spcPct val="105000"/>
              </a:lnSpc>
              <a:buNone/>
            </a:pPr>
            <a:r>
              <a:rPr lang="en-US" sz="1500" dirty="0">
                <a:solidFill>
                  <a:srgbClr val="1F2A30"/>
                </a:solidFill>
                <a:latin typeface="Consolas" pitchFamily="34" charset="0"/>
                <a:ea typeface="Consolas" pitchFamily="34" charset="-122"/>
                <a:cs typeface="Consolas" pitchFamily="34" charset="-120"/>
              </a:rPr>
              <a:t>uv --version</a:t>
            </a:r>
            <a:endParaRPr lang="en-US" sz="1500" dirty="0"/>
          </a:p>
          <a:p>
            <a:pPr indent="0" marL="0">
              <a:lnSpc>
                <a:spcPct val="105000"/>
              </a:lnSpc>
              <a:buNone/>
            </a:pPr>
            <a:r>
              <a:rPr lang="en-US" sz="1500" i="1" dirty="0">
                <a:solidFill>
                  <a:srgbClr val="5C6B73"/>
                </a:solidFill>
                <a:latin typeface="Consolas" pitchFamily="34" charset="0"/>
                <a:ea typeface="Consolas" pitchFamily="34" charset="-122"/>
                <a:cs typeface="Consolas" pitchFamily="34" charset="-120"/>
              </a:rPr>
              <a:t># 出力例: uv 0.12.17 (…)   ← バージョンが表示されれば OK</a:t>
            </a:r>
            <a:endParaRPr lang="en-US" sz="1500" dirty="0"/>
          </a:p>
        </p:txBody>
      </p:sp>
      <p:sp>
        <p:nvSpPr>
          <p:cNvPr id="15" name="Shape 12"/>
          <p:cNvSpPr/>
          <p:nvPr/>
        </p:nvSpPr>
        <p:spPr>
          <a:xfrm>
            <a:off x="6217920" y="2606040"/>
            <a:ext cx="5486400" cy="1371600"/>
          </a:xfrm>
          <a:prstGeom prst="roundRect">
            <a:avLst>
              <a:gd name="adj" fmla="val 8000"/>
            </a:avLst>
          </a:prstGeom>
          <a:solidFill>
            <a:srgbClr val="EEF3F4"/>
          </a:solidFill>
          <a:ln w="12700">
            <a:solidFill>
              <a:srgbClr val="EEF3F4"/>
            </a:solidFill>
            <a:prstDash val="solid"/>
          </a:ln>
        </p:spPr>
      </p:sp>
      <p:sp>
        <p:nvSpPr>
          <p:cNvPr id="16" name="Text 13"/>
          <p:cNvSpPr txBox="1"/>
          <p:nvPr/>
        </p:nvSpPr>
        <p:spPr>
          <a:xfrm>
            <a:off x="6400800" y="271576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uv とは</a:t>
            </a:r>
            <a:endParaRPr lang="en-US" sz="2000" dirty="0"/>
          </a:p>
        </p:txBody>
      </p:sp>
      <p:sp>
        <p:nvSpPr>
          <p:cNvPr id="17" name="Text 14"/>
          <p:cNvSpPr txBox="1"/>
          <p:nvPr/>
        </p:nvSpPr>
        <p:spPr>
          <a:xfrm>
            <a:off x="6400800" y="3172968"/>
            <a:ext cx="5120640" cy="6858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Python 本体と仮想環境、パッケージをまとめて管理する軽量ツール</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既存の Python 環境には手を加えない</a:t>
            </a:r>
            <a:endParaRPr lang="en-US" sz="1400" dirty="0"/>
          </a:p>
        </p:txBody>
      </p:sp>
      <p:sp>
        <p:nvSpPr>
          <p:cNvPr id="18" name="Shape 15"/>
          <p:cNvSpPr/>
          <p:nvPr/>
        </p:nvSpPr>
        <p:spPr>
          <a:xfrm>
            <a:off x="502920" y="4206240"/>
            <a:ext cx="11155680" cy="1920240"/>
          </a:xfrm>
          <a:prstGeom prst="roundRect">
            <a:avLst>
              <a:gd name="adj" fmla="val 5714"/>
            </a:avLst>
          </a:prstGeom>
          <a:solidFill>
            <a:srgbClr val="EEF3F4"/>
          </a:solidFill>
          <a:ln w="12700">
            <a:solidFill>
              <a:srgbClr val="EEF3F4"/>
            </a:solidFill>
            <a:prstDash val="solid"/>
          </a:ln>
        </p:spPr>
      </p:sp>
      <p:sp>
        <p:nvSpPr>
          <p:cNvPr id="19" name="Text 16"/>
          <p:cNvSpPr txBox="1"/>
          <p:nvPr/>
        </p:nvSpPr>
        <p:spPr>
          <a:xfrm>
            <a:off x="685800" y="4315968"/>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うまくいかないとき</a:t>
            </a:r>
            <a:endParaRPr lang="en-US" sz="2000" dirty="0"/>
          </a:p>
        </p:txBody>
      </p:sp>
      <p:sp>
        <p:nvSpPr>
          <p:cNvPr id="20" name="Text 17"/>
          <p:cNvSpPr txBox="1"/>
          <p:nvPr/>
        </p:nvSpPr>
        <p:spPr>
          <a:xfrm>
            <a:off x="685800" y="4773168"/>
            <a:ext cx="107899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「uv: command not found」→ ターミナルを開き直す。それでも出なければ macOS は ~/.local/bin/uv --version を試す</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Windows で実行ポリシーのエラー → 上のコマンドを PowerShell に 1 行のまま貼り付ける（-ExecutionPolicy ByPass が含まれていることを確認）</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すでに Python がある人は pip でも可：python -m pip install uv（この場合も以降の手順は同じ）</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手順 2・3：プロジェクトを作り、ViennaRNA を入れる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事前準備：ViennaRNA 実習環境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a:t>
            </a:r>
            <a:endParaRPr lang="en-US" sz="1100" dirty="0"/>
          </a:p>
        </p:txBody>
      </p:sp>
      <p:sp>
        <p:nvSpPr>
          <p:cNvPr id="6" name="Shape 3"/>
          <p:cNvSpPr/>
          <p:nvPr/>
        </p:nvSpPr>
        <p:spPr>
          <a:xfrm>
            <a:off x="502920" y="1188720"/>
            <a:ext cx="6766560" cy="2926080"/>
          </a:xfrm>
          <a:prstGeom prst="rect">
            <a:avLst/>
          </a:prstGeom>
          <a:solidFill>
            <a:srgbClr val="F6F8F9"/>
          </a:solidFill>
          <a:ln w="9525">
            <a:solidFill>
              <a:srgbClr val="C9D3D6"/>
            </a:solidFill>
            <a:prstDash val="solid"/>
          </a:ln>
        </p:spPr>
      </p:sp>
      <p:sp>
        <p:nvSpPr>
          <p:cNvPr id="7" name="Text 4"/>
          <p:cNvSpPr txBox="1"/>
          <p:nvPr/>
        </p:nvSpPr>
        <p:spPr>
          <a:xfrm>
            <a:off x="612648" y="1261872"/>
            <a:ext cx="6547104" cy="2779776"/>
          </a:xfrm>
          <a:prstGeom prst="rect">
            <a:avLst/>
          </a:prstGeom>
          <a:noFill/>
          <a:ln/>
        </p:spPr>
        <p:txBody>
          <a:bodyPr wrap="square" lIns="0" tIns="0" rIns="0" bIns="0" rtlCol="0" anchor="t"/>
          <a:lstStyle/>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手順 2: プロジェクトを作る（好きな場所で）</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uv init viennarna-course --python 3.13</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cd viennarna-course</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手順 3: ViennaRNA（Python バインディング）を入れる</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uv add viennarna==2.7.2</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exercises フォルダを GitHub から入手してここにコピー</a:t>
            </a:r>
            <a:endParaRPr lang="en-US" sz="1300" dirty="0"/>
          </a:p>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https://github.com/Shunsuke-1994/Course_RNAinverse</a:t>
            </a:r>
            <a:endParaRPr lang="en-US" sz="1300" dirty="0"/>
          </a:p>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緑の Code ボタン → Download ZIP → 展開</a:t>
            </a:r>
            <a:endParaRPr lang="en-US" sz="1300" dirty="0"/>
          </a:p>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git を使う人は次の 1 行でも入手できる:</a:t>
            </a:r>
            <a:endParaRPr lang="en-US" sz="1300" dirty="0"/>
          </a:p>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git clone https://github.com/Shunsuke-1994/Course_RNAinverse.git</a:t>
            </a:r>
            <a:endParaRPr lang="en-US" sz="1300" dirty="0"/>
          </a:p>
        </p:txBody>
      </p:sp>
      <p:sp>
        <p:nvSpPr>
          <p:cNvPr id="8" name="Text 5"/>
          <p:cNvSpPr txBox="1"/>
          <p:nvPr/>
        </p:nvSpPr>
        <p:spPr>
          <a:xfrm>
            <a:off x="7498080" y="1188720"/>
            <a:ext cx="420624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動作確認（手順 4）</a:t>
            </a:r>
            <a:endParaRPr lang="en-US" sz="1600" dirty="0"/>
          </a:p>
        </p:txBody>
      </p:sp>
      <p:sp>
        <p:nvSpPr>
          <p:cNvPr id="9" name="Shape 6"/>
          <p:cNvSpPr/>
          <p:nvPr/>
        </p:nvSpPr>
        <p:spPr>
          <a:xfrm>
            <a:off x="7498080" y="1600200"/>
            <a:ext cx="4206240" cy="2514600"/>
          </a:xfrm>
          <a:prstGeom prst="rect">
            <a:avLst/>
          </a:prstGeom>
          <a:solidFill>
            <a:srgbClr val="F6F8F9"/>
          </a:solidFill>
          <a:ln w="9525">
            <a:solidFill>
              <a:srgbClr val="C9D3D6"/>
            </a:solidFill>
            <a:prstDash val="solid"/>
          </a:ln>
        </p:spPr>
      </p:sp>
      <p:sp>
        <p:nvSpPr>
          <p:cNvPr id="10" name="Text 7"/>
          <p:cNvSpPr txBox="1"/>
          <p:nvPr/>
        </p:nvSpPr>
        <p:spPr>
          <a:xfrm>
            <a:off x="7607808" y="1673352"/>
            <a:ext cx="3986784" cy="236829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uv run python -c "import RNA; print(RNA.__version__)"</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 2.7.2</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uv run python exercises/ex1_fold.py</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 ViennaRNA 2.7.2</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GGCGCAGAAAUGCGCC</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 -10.20 kcal/mol</a:t>
            </a:r>
            <a:endParaRPr lang="en-US" sz="1200" dirty="0"/>
          </a:p>
        </p:txBody>
      </p:sp>
      <p:sp>
        <p:nvSpPr>
          <p:cNvPr id="11" name="Shape 8"/>
          <p:cNvSpPr/>
          <p:nvPr/>
        </p:nvSpPr>
        <p:spPr>
          <a:xfrm>
            <a:off x="502920" y="4343400"/>
            <a:ext cx="6766560" cy="1783080"/>
          </a:xfrm>
          <a:prstGeom prst="roundRect">
            <a:avLst>
              <a:gd name="adj" fmla="val 6154"/>
            </a:avLst>
          </a:prstGeom>
          <a:solidFill>
            <a:srgbClr val="EEF3F4"/>
          </a:solidFill>
          <a:ln w="12700">
            <a:solidFill>
              <a:srgbClr val="EEF3F4"/>
            </a:solidFill>
            <a:prstDash val="solid"/>
          </a:ln>
        </p:spPr>
      </p:sp>
      <p:sp>
        <p:nvSpPr>
          <p:cNvPr id="12" name="Text 9"/>
          <p:cNvSpPr txBox="1"/>
          <p:nvPr/>
        </p:nvSpPr>
        <p:spPr>
          <a:xfrm>
            <a:off x="685800" y="4453128"/>
            <a:ext cx="64008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フォルダ構成（完成形）</a:t>
            </a:r>
            <a:endParaRPr lang="en-US" sz="2000" dirty="0"/>
          </a:p>
        </p:txBody>
      </p:sp>
      <p:sp>
        <p:nvSpPr>
          <p:cNvPr id="13" name="Text 10"/>
          <p:cNvSpPr txBox="1"/>
          <p:nvPr/>
        </p:nvSpPr>
        <p:spPr>
          <a:xfrm>
            <a:off x="685800" y="4910328"/>
            <a:ext cx="6400800" cy="1097280"/>
          </a:xfrm>
          <a:prstGeom prst="rect">
            <a:avLst/>
          </a:prstGeom>
          <a:noFill/>
          <a:ln/>
        </p:spPr>
        <p:txBody>
          <a:bodyPr wrap="square" lIns="0" tIns="0" rIns="0" bIns="0" rtlCol="0" anchor="t">
            <a:normAutofit/>
          </a:bodyPr>
          <a:lstStyle/>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viennarna-course/</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  pyproject.toml   ← uv が作る（viennarna==2.7.2 が書かれる）</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  .venv/           ← uv が作る仮想環境（触らない）</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  exercises/       ← GitHub の ZIP から取り出してコピー</a:t>
            </a:r>
            <a:endParaRPr lang="en-US" sz="1200" dirty="0"/>
          </a:p>
        </p:txBody>
      </p:sp>
      <p:sp>
        <p:nvSpPr>
          <p:cNvPr id="14" name="Shape 11"/>
          <p:cNvSpPr/>
          <p:nvPr/>
        </p:nvSpPr>
        <p:spPr>
          <a:xfrm>
            <a:off x="7498080" y="4343400"/>
            <a:ext cx="4206240" cy="1783080"/>
          </a:xfrm>
          <a:prstGeom prst="roundRect">
            <a:avLst>
              <a:gd name="adj" fmla="val 6154"/>
            </a:avLst>
          </a:prstGeom>
          <a:solidFill>
            <a:srgbClr val="FBE9DC"/>
          </a:solidFill>
          <a:ln w="12700">
            <a:solidFill>
              <a:srgbClr val="FBE9DC"/>
            </a:solidFill>
            <a:prstDash val="solid"/>
          </a:ln>
        </p:spPr>
      </p:sp>
      <p:sp>
        <p:nvSpPr>
          <p:cNvPr id="15" name="Text 12"/>
          <p:cNvSpPr txBox="1"/>
          <p:nvPr/>
        </p:nvSpPr>
        <p:spPr>
          <a:xfrm>
            <a:off x="7680960" y="4453128"/>
            <a:ext cx="384048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ポイント</a:t>
            </a:r>
            <a:endParaRPr lang="en-US" sz="2000" dirty="0"/>
          </a:p>
        </p:txBody>
      </p:sp>
      <p:sp>
        <p:nvSpPr>
          <p:cNvPr id="16" name="Text 13"/>
          <p:cNvSpPr txBox="1"/>
          <p:nvPr/>
        </p:nvSpPr>
        <p:spPr>
          <a:xfrm>
            <a:off x="7680960" y="4910328"/>
            <a:ext cx="3840480" cy="10972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以後は必ず uv run python … で実行する（素の python では RNA が見つからない）</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2.7.2 以外が表示されたら uv add viennarna==2.7.2 をやり直す</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うまくいかないとき・uv を使わない代替手順</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事前準備：ViennaRNA 実習環境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5</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3566160"/>
                <a:gridCol w="3108960"/>
                <a:gridCol w="448056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症状</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原因の候補</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対応</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command not found</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PATH が未更新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ターミナルを開き直す／~/.local/bin/uv</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ModuleNotFoundError: No module named "RNA"</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run を付けずに素の python を実行</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run python … で実行する</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No solution found / viennarna が見つからない</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Python のバージョン不一致、ネット未接続</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init --python 3.13 で作り直す。接続を確認</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バージョンが 2.7.2 でない</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別環境の ViennaRNA</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add viennarna==2.7.2 をやり直す</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exercises が見つからない</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コピー先が違う</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viennarna-course/exercises/ に置く</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Windows で文字化け</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コンソールの文字コード</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出力の数値と括弧だけ確認できれば OK</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7" name="Text 3"/>
          <p:cNvSpPr txBox="1"/>
          <p:nvPr/>
        </p:nvSpPr>
        <p:spPr>
          <a:xfrm>
            <a:off x="502920" y="3977640"/>
            <a:ext cx="676656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uv を使わない代替（Python 3.10〜3.14 が入っている場合）</a:t>
            </a:r>
            <a:endParaRPr lang="en-US" sz="1600" dirty="0"/>
          </a:p>
        </p:txBody>
      </p:sp>
      <p:sp>
        <p:nvSpPr>
          <p:cNvPr id="8" name="Shape 4"/>
          <p:cNvSpPr/>
          <p:nvPr/>
        </p:nvSpPr>
        <p:spPr>
          <a:xfrm>
            <a:off x="502920" y="4389120"/>
            <a:ext cx="6766560" cy="1737360"/>
          </a:xfrm>
          <a:prstGeom prst="rect">
            <a:avLst/>
          </a:prstGeom>
          <a:solidFill>
            <a:srgbClr val="F6F8F9"/>
          </a:solidFill>
          <a:ln w="9525">
            <a:solidFill>
              <a:srgbClr val="C9D3D6"/>
            </a:solidFill>
            <a:prstDash val="solid"/>
          </a:ln>
        </p:spPr>
      </p:sp>
      <p:sp>
        <p:nvSpPr>
          <p:cNvPr id="9" name="Text 5"/>
          <p:cNvSpPr txBox="1"/>
          <p:nvPr/>
        </p:nvSpPr>
        <p:spPr>
          <a:xfrm>
            <a:off x="612648" y="4462272"/>
            <a:ext cx="6547104" cy="159105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python -m venv .venv</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macOS:  source .venv/bin/activate      Windows:  .venv/Scripts/activate</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python -m pip install viennarna==2.7.2</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python -c "import RNA; print(RNA.__version__)"   # → 2.7.2</a:t>
            </a:r>
            <a:endParaRPr lang="en-US" sz="1200" dirty="0"/>
          </a:p>
        </p:txBody>
      </p:sp>
      <p:sp>
        <p:nvSpPr>
          <p:cNvPr id="10" name="Shape 6"/>
          <p:cNvSpPr/>
          <p:nvPr/>
        </p:nvSpPr>
        <p:spPr>
          <a:xfrm>
            <a:off x="7498080" y="3977640"/>
            <a:ext cx="4206240" cy="2148840"/>
          </a:xfrm>
          <a:prstGeom prst="roundRect">
            <a:avLst>
              <a:gd name="adj" fmla="val 5106"/>
            </a:avLst>
          </a:prstGeom>
          <a:solidFill>
            <a:srgbClr val="FBE9DC"/>
          </a:solidFill>
          <a:ln w="12700">
            <a:solidFill>
              <a:srgbClr val="FBE9DC"/>
            </a:solidFill>
            <a:prstDash val="solid"/>
          </a:ln>
        </p:spPr>
      </p:sp>
      <p:sp>
        <p:nvSpPr>
          <p:cNvPr id="11" name="Text 7"/>
          <p:cNvSpPr txBox="1"/>
          <p:nvPr/>
        </p:nvSpPr>
        <p:spPr>
          <a:xfrm>
            <a:off x="7680960" y="4087368"/>
            <a:ext cx="384048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当日までに</a:t>
            </a:r>
            <a:endParaRPr lang="en-US" sz="2000" dirty="0"/>
          </a:p>
        </p:txBody>
      </p:sp>
      <p:sp>
        <p:nvSpPr>
          <p:cNvPr id="12" name="Text 8"/>
          <p:cNvSpPr txBox="1"/>
          <p:nvPr/>
        </p:nvSpPr>
        <p:spPr>
          <a:xfrm>
            <a:off x="7680960" y="4544568"/>
            <a:ext cx="384048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動作確認の出力が出たら準備完了</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エラーが残る場合はエラー文を控えておく（当日 TA が対応）</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動かなくても参加可。TA・グループの画面で結果を比較する</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今日の到達目標</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6</a:t>
            </a:r>
            <a:endParaRPr lang="en-US" sz="1100" dirty="0"/>
          </a:p>
        </p:txBody>
      </p:sp>
      <p:sp>
        <p:nvSpPr>
          <p:cNvPr id="6" name="Shape 3"/>
          <p:cNvSpPr/>
          <p:nvPr/>
        </p:nvSpPr>
        <p:spPr>
          <a:xfrm>
            <a:off x="502920" y="1234440"/>
            <a:ext cx="3566160" cy="3383280"/>
          </a:xfrm>
          <a:prstGeom prst="roundRect">
            <a:avLst>
              <a:gd name="adj" fmla="val 3243"/>
            </a:avLst>
          </a:prstGeom>
          <a:solidFill>
            <a:srgbClr val="EEF3F4"/>
          </a:solidFill>
          <a:ln w="12700">
            <a:solidFill>
              <a:srgbClr val="EEF3F4"/>
            </a:solidFill>
            <a:prstDash val="solid"/>
          </a:ln>
        </p:spPr>
      </p:sp>
      <p:sp>
        <p:nvSpPr>
          <p:cNvPr id="7" name="Text 4"/>
          <p:cNvSpPr txBox="1"/>
          <p:nvPr/>
        </p:nvSpPr>
        <p:spPr>
          <a:xfrm>
            <a:off x="685800" y="1344168"/>
            <a:ext cx="3200400" cy="411480"/>
          </a:xfrm>
          <a:prstGeom prst="rect">
            <a:avLst/>
          </a:prstGeom>
          <a:noFill/>
          <a:ln/>
        </p:spPr>
        <p:txBody>
          <a:bodyPr wrap="square" lIns="0" tIns="0" rIns="0" bIns="0" rtlCol="0" anchor="ctr"/>
          <a:lstStyle/>
          <a:p>
            <a:pPr indent="0" marL="0">
              <a:buNone/>
            </a:pPr>
            <a:r>
              <a:rPr lang="en-US" sz="2400" b="1" dirty="0">
                <a:solidFill>
                  <a:srgbClr val="0F4C5C"/>
                </a:solidFill>
                <a:latin typeface="Meiryo" pitchFamily="34" charset="0"/>
                <a:ea typeface="Meiryo" pitchFamily="34" charset="-122"/>
                <a:cs typeface="Meiryo" pitchFamily="34" charset="-120"/>
              </a:rPr>
              <a:t>知る</a:t>
            </a:r>
            <a:endParaRPr lang="en-US" sz="2400" dirty="0"/>
          </a:p>
        </p:txBody>
      </p:sp>
      <p:sp>
        <p:nvSpPr>
          <p:cNvPr id="8" name="Text 5"/>
          <p:cNvSpPr txBox="1"/>
          <p:nvPr/>
        </p:nvSpPr>
        <p:spPr>
          <a:xfrm>
            <a:off x="685800" y="1801368"/>
            <a:ext cx="3200400" cy="26974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RNA設計で「できること」の見取り図</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スイッチ・ナノ構造などの実例</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予測と設計で何が分かり、何が分からないか</a:t>
            </a:r>
            <a:endParaRPr lang="en-US" sz="1900" dirty="0"/>
          </a:p>
        </p:txBody>
      </p:sp>
      <p:sp>
        <p:nvSpPr>
          <p:cNvPr id="9" name="Shape 6"/>
          <p:cNvSpPr/>
          <p:nvPr/>
        </p:nvSpPr>
        <p:spPr>
          <a:xfrm>
            <a:off x="4251960" y="1234440"/>
            <a:ext cx="3566160" cy="3383280"/>
          </a:xfrm>
          <a:prstGeom prst="roundRect">
            <a:avLst>
              <a:gd name="adj" fmla="val 3243"/>
            </a:avLst>
          </a:prstGeom>
          <a:solidFill>
            <a:srgbClr val="EEF3F4"/>
          </a:solidFill>
          <a:ln w="12700">
            <a:solidFill>
              <a:srgbClr val="EEF3F4"/>
            </a:solidFill>
            <a:prstDash val="solid"/>
          </a:ln>
        </p:spPr>
      </p:sp>
      <p:sp>
        <p:nvSpPr>
          <p:cNvPr id="10" name="Text 7"/>
          <p:cNvSpPr txBox="1"/>
          <p:nvPr/>
        </p:nvSpPr>
        <p:spPr>
          <a:xfrm>
            <a:off x="4434840" y="1344168"/>
            <a:ext cx="3200400" cy="411480"/>
          </a:xfrm>
          <a:prstGeom prst="rect">
            <a:avLst/>
          </a:prstGeom>
          <a:noFill/>
          <a:ln/>
        </p:spPr>
        <p:txBody>
          <a:bodyPr wrap="square" lIns="0" tIns="0" rIns="0" bIns="0" rtlCol="0" anchor="ctr"/>
          <a:lstStyle/>
          <a:p>
            <a:pPr indent="0" marL="0">
              <a:buNone/>
            </a:pPr>
            <a:r>
              <a:rPr lang="en-US" sz="2400" b="1" dirty="0">
                <a:solidFill>
                  <a:srgbClr val="0F4C5C"/>
                </a:solidFill>
                <a:latin typeface="Meiryo" pitchFamily="34" charset="0"/>
                <a:ea typeface="Meiryo" pitchFamily="34" charset="-122"/>
                <a:cs typeface="Meiryo" pitchFamily="34" charset="-120"/>
              </a:rPr>
              <a:t>読む</a:t>
            </a:r>
            <a:endParaRPr lang="en-US" sz="2400" dirty="0"/>
          </a:p>
        </p:txBody>
      </p:sp>
      <p:sp>
        <p:nvSpPr>
          <p:cNvPr id="11" name="Text 8"/>
          <p:cNvSpPr txBox="1"/>
          <p:nvPr/>
        </p:nvSpPr>
        <p:spPr>
          <a:xfrm>
            <a:off x="4434840" y="1801368"/>
            <a:ext cx="3200400" cy="26974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dot-bracket 表記で構造を読む</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自由エネルギーの意味と大きさ</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MFE構造と構造集団（確率）の違い</a:t>
            </a:r>
            <a:endParaRPr lang="en-US" sz="1900" dirty="0"/>
          </a:p>
        </p:txBody>
      </p:sp>
      <p:sp>
        <p:nvSpPr>
          <p:cNvPr id="12" name="Shape 9"/>
          <p:cNvSpPr/>
          <p:nvPr/>
        </p:nvSpPr>
        <p:spPr>
          <a:xfrm>
            <a:off x="8001000" y="1234440"/>
            <a:ext cx="3566160" cy="3383280"/>
          </a:xfrm>
          <a:prstGeom prst="roundRect">
            <a:avLst>
              <a:gd name="adj" fmla="val 3243"/>
            </a:avLst>
          </a:prstGeom>
          <a:solidFill>
            <a:srgbClr val="EEF3F4"/>
          </a:solidFill>
          <a:ln w="12700">
            <a:solidFill>
              <a:srgbClr val="EEF3F4"/>
            </a:solidFill>
            <a:prstDash val="solid"/>
          </a:ln>
        </p:spPr>
      </p:sp>
      <p:sp>
        <p:nvSpPr>
          <p:cNvPr id="13" name="Text 10"/>
          <p:cNvSpPr txBox="1"/>
          <p:nvPr/>
        </p:nvSpPr>
        <p:spPr>
          <a:xfrm>
            <a:off x="8183880" y="1344168"/>
            <a:ext cx="3200400" cy="411480"/>
          </a:xfrm>
          <a:prstGeom prst="rect">
            <a:avLst/>
          </a:prstGeom>
          <a:noFill/>
          <a:ln/>
        </p:spPr>
        <p:txBody>
          <a:bodyPr wrap="square" lIns="0" tIns="0" rIns="0" bIns="0" rtlCol="0" anchor="ctr"/>
          <a:lstStyle/>
          <a:p>
            <a:pPr indent="0" marL="0">
              <a:buNone/>
            </a:pPr>
            <a:r>
              <a:rPr lang="en-US" sz="2400" b="1" dirty="0">
                <a:solidFill>
                  <a:srgbClr val="0F4C5C"/>
                </a:solidFill>
                <a:latin typeface="Meiryo" pitchFamily="34" charset="0"/>
                <a:ea typeface="Meiryo" pitchFamily="34" charset="-122"/>
                <a:cs typeface="Meiryo" pitchFamily="34" charset="-120"/>
              </a:rPr>
              <a:t>動かす</a:t>
            </a:r>
            <a:endParaRPr lang="en-US" sz="2400" dirty="0"/>
          </a:p>
        </p:txBody>
      </p:sp>
      <p:sp>
        <p:nvSpPr>
          <p:cNvPr id="14" name="Text 11"/>
          <p:cNvSpPr txBox="1"/>
          <p:nvPr/>
        </p:nvSpPr>
        <p:spPr>
          <a:xfrm>
            <a:off x="8183880" y="1801368"/>
            <a:ext cx="3200400" cy="26974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RNA.fold で構造を予測する</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一塩基を変えて結果を比べる</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RNA.inverse_fold で配列を設計し再予測・比較する</a:t>
            </a:r>
            <a:endParaRPr lang="en-US" sz="1900" dirty="0"/>
          </a:p>
        </p:txBody>
      </p:sp>
      <p:sp>
        <p:nvSpPr>
          <p:cNvPr id="15" name="Shape 12"/>
          <p:cNvSpPr/>
          <p:nvPr/>
        </p:nvSpPr>
        <p:spPr>
          <a:xfrm>
            <a:off x="502920" y="4846320"/>
            <a:ext cx="11155680" cy="1325880"/>
          </a:xfrm>
          <a:prstGeom prst="roundRect">
            <a:avLst>
              <a:gd name="adj" fmla="val 8276"/>
            </a:avLst>
          </a:prstGeom>
          <a:solidFill>
            <a:srgbClr val="FFFFFF"/>
          </a:solidFill>
          <a:ln w="12700">
            <a:solidFill>
              <a:srgbClr val="FFFFFF"/>
            </a:solidFill>
            <a:prstDash val="solid"/>
          </a:ln>
        </p:spPr>
      </p:sp>
      <p:sp>
        <p:nvSpPr>
          <p:cNvPr id="16" name="Text 13"/>
          <p:cNvSpPr txBox="1"/>
          <p:nvPr/>
        </p:nvSpPr>
        <p:spPr>
          <a:xfrm>
            <a:off x="685800" y="4983480"/>
            <a:ext cx="10789920" cy="1051560"/>
          </a:xfrm>
          <a:prstGeom prst="rect">
            <a:avLst/>
          </a:prstGeom>
          <a:noFill/>
          <a:ln/>
        </p:spPr>
        <p:txBody>
          <a:bodyPr wrap="square" lIns="0" tIns="0" rIns="0" bIns="0" rtlCol="0" anchor="t">
            <a:normAutofit/>
          </a:bodyPr>
          <a:lstStyle/>
          <a:p>
            <a:pPr indent="0" marL="0">
              <a:spcAft>
                <a:spcPts val="400"/>
              </a:spcAft>
              <a:buNone/>
            </a:pPr>
            <a:r>
              <a:rPr lang="en-US" sz="1800" dirty="0">
                <a:solidFill>
                  <a:srgbClr val="5C6B73"/>
                </a:solidFill>
                <a:latin typeface="Meiryo" pitchFamily="34" charset="0"/>
                <a:ea typeface="Meiryo" pitchFamily="34" charset="-122"/>
                <a:cs typeface="Meiryo" pitchFamily="34" charset="-120"/>
              </a:rPr>
              <a:t>主目的ではないこと：動的計画法の証明、ソフトウェアの実装の理解、長いコードの手入力。必要な式と数値だけを扱い、細部は補足スライドとノートで支えます。</a:t>
            </a:r>
            <a:endParaRPr lang="en-US" sz="1800" dirty="0"/>
          </a:p>
        </p:txBody>
      </p:sp>
      <p:sp>
        <p:nvSpPr>
          <p:cNvPr id="17" name="Shape 14"/>
          <p:cNvSpPr/>
          <p:nvPr/>
        </p:nvSpPr>
        <p:spPr>
          <a:xfrm>
            <a:off x="502920" y="4846320"/>
            <a:ext cx="11155680" cy="1325880"/>
          </a:xfrm>
          <a:prstGeom prst="rect">
            <a:avLst/>
          </a:prstGeom>
          <a:ln w="12700">
            <a:solidFill>
              <a:srgbClr val="C9D3D6"/>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120分の進め方：説明と実習の時間配分</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7863840" cy="914400"/>
        </p:xfrm>
        <a:graphic>
          <a:graphicData uri="http://schemas.openxmlformats.org/drawingml/2006/table">
            <a:tbl>
              <a:tblPr/>
              <a:tblGrid>
                <a:gridCol w="1737360"/>
                <a:gridCol w="4754880"/>
                <a:gridCol w="640080"/>
                <a:gridCol w="731520"/>
              </a:tblGrid>
              <a:tr h="0">
                <a:tc>
                  <a:txBody>
                    <a:bodyPr/>
                    <a:lstStyle/>
                    <a:p>
                      <a:pPr algn="l" indent="0" marL="0">
                        <a:buNone/>
                      </a:pPr>
                      <a:r>
                        <a:rPr lang="en-US" sz="1700" b="1" dirty="0">
                          <a:solidFill>
                            <a:srgbClr val="0A3540"/>
                          </a:solidFill>
                          <a:latin typeface="Meiryo" pitchFamily="34" charset="0"/>
                          <a:ea typeface="Meiryo" pitchFamily="34" charset="-122"/>
                          <a:cs typeface="Meiryo" pitchFamily="34" charset="-120"/>
                        </a:rPr>
                        <a:t>時刻</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700" b="1" dirty="0">
                          <a:solidFill>
                            <a:srgbClr val="0A3540"/>
                          </a:solidFill>
                          <a:latin typeface="Meiryo" pitchFamily="34" charset="0"/>
                          <a:ea typeface="Meiryo" pitchFamily="34" charset="-122"/>
                          <a:cs typeface="Meiryo" pitchFamily="34" charset="-120"/>
                        </a:rPr>
                        <a:t>内容</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700" b="1" dirty="0">
                          <a:solidFill>
                            <a:srgbClr val="0A3540"/>
                          </a:solidFill>
                          <a:latin typeface="Meiryo" pitchFamily="34" charset="0"/>
                          <a:ea typeface="Meiryo" pitchFamily="34" charset="-122"/>
                          <a:cs typeface="Meiryo" pitchFamily="34" charset="-120"/>
                        </a:rPr>
                        <a:t>分</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1700" b="1" dirty="0">
                          <a:solidFill>
                            <a:srgbClr val="0A3540"/>
                          </a:solidFill>
                          <a:latin typeface="Meiryo" pitchFamily="34" charset="0"/>
                          <a:ea typeface="Meiryo" pitchFamily="34" charset="-122"/>
                          <a:cs typeface="Meiryo" pitchFamily="34" charset="-120"/>
                        </a:rPr>
                        <a:t>録画</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19:00–19:12</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到達目標とRNA設計の応用例</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12</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19:12–19:30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二次構造・エネルギー・MFE・DP（動的計画法）の直感</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18</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19:30–19:45</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演習1：構造予測と配列変更</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15</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停止</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19:45–20:00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inverse folding と RNAinverse の仕組み</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15</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20:00–20:40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演習2：配列設計・再予測・候補比較（グループ）</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40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停止</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20:40–20:50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応用への展開・まとめ・提出課題</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20:50–21:00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質疑応答</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停止</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7" name="Shape 3"/>
          <p:cNvSpPr/>
          <p:nvPr/>
        </p:nvSpPr>
        <p:spPr>
          <a:xfrm>
            <a:off x="8686800" y="1234440"/>
            <a:ext cx="3017520" cy="1828800"/>
          </a:xfrm>
          <a:prstGeom prst="roundRect">
            <a:avLst>
              <a:gd name="adj" fmla="val 6000"/>
            </a:avLst>
          </a:prstGeom>
          <a:solidFill>
            <a:srgbClr val="EEF3F4"/>
          </a:solidFill>
          <a:ln w="12700">
            <a:solidFill>
              <a:srgbClr val="EEF3F4"/>
            </a:solidFill>
            <a:prstDash val="solid"/>
          </a:ln>
        </p:spPr>
      </p:sp>
      <p:sp>
        <p:nvSpPr>
          <p:cNvPr id="8" name="Text 4"/>
          <p:cNvSpPr txBox="1"/>
          <p:nvPr/>
        </p:nvSpPr>
        <p:spPr>
          <a:xfrm>
            <a:off x="8869680" y="1344168"/>
            <a:ext cx="26517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内訳</a:t>
            </a:r>
            <a:endParaRPr lang="en-US" sz="2000" dirty="0"/>
          </a:p>
        </p:txBody>
      </p:sp>
      <p:sp>
        <p:nvSpPr>
          <p:cNvPr id="9" name="Text 5"/>
          <p:cNvSpPr txBox="1"/>
          <p:nvPr/>
        </p:nvSpPr>
        <p:spPr>
          <a:xfrm>
            <a:off x="8869680" y="1801368"/>
            <a:ext cx="2651760" cy="11430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説明・まとめ 55分</a:t>
            </a:r>
            <a:endParaRPr lang="en-US" sz="1800" dirty="0"/>
          </a:p>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実習 55分</a:t>
            </a:r>
            <a:endParaRPr lang="en-US" sz="1800" dirty="0"/>
          </a:p>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質疑 10分</a:t>
            </a:r>
            <a:endParaRPr lang="en-US" sz="1800" dirty="0"/>
          </a:p>
        </p:txBody>
      </p:sp>
      <p:sp>
        <p:nvSpPr>
          <p:cNvPr id="10" name="Shape 6"/>
          <p:cNvSpPr/>
          <p:nvPr/>
        </p:nvSpPr>
        <p:spPr>
          <a:xfrm>
            <a:off x="8686800" y="3246120"/>
            <a:ext cx="3017520" cy="2834640"/>
          </a:xfrm>
          <a:prstGeom prst="roundRect">
            <a:avLst>
              <a:gd name="adj" fmla="val 3871"/>
            </a:avLst>
          </a:prstGeom>
          <a:solidFill>
            <a:srgbClr val="EEF3F4"/>
          </a:solidFill>
          <a:ln w="12700">
            <a:solidFill>
              <a:srgbClr val="EEF3F4"/>
            </a:solidFill>
            <a:prstDash val="solid"/>
          </a:ln>
        </p:spPr>
      </p:sp>
      <p:sp>
        <p:nvSpPr>
          <p:cNvPr id="11" name="Text 7"/>
          <p:cNvSpPr txBox="1"/>
          <p:nvPr/>
        </p:nvSpPr>
        <p:spPr>
          <a:xfrm>
            <a:off x="8869680" y="3355848"/>
            <a:ext cx="26517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進め方</a:t>
            </a:r>
            <a:endParaRPr lang="en-US" sz="2000" dirty="0"/>
          </a:p>
        </p:txBody>
      </p:sp>
      <p:sp>
        <p:nvSpPr>
          <p:cNvPr id="12" name="Text 8"/>
          <p:cNvSpPr txBox="1"/>
          <p:nvPr/>
        </p:nvSpPr>
        <p:spPr>
          <a:xfrm>
            <a:off x="8869680" y="3813048"/>
            <a:ext cx="2651760" cy="2148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同じ16塩基RNAを使い続ける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短いコードを実行し、配列や目標構造だけを書き換える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演習はグループで、提出担当者の画面共有で進める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演習には「必須」「時間があれば」の表示あり</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RNA設計の応用：センサー、発現制御、触媒、ナノ構造</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8</a:t>
            </a:r>
            <a:endParaRPr lang="en-US" sz="1100" dirty="0"/>
          </a:p>
        </p:txBody>
      </p:sp>
      <p:sp>
        <p:nvSpPr>
          <p:cNvPr id="6" name="Shape 3"/>
          <p:cNvSpPr/>
          <p:nvPr/>
        </p:nvSpPr>
        <p:spPr>
          <a:xfrm>
            <a:off x="502920" y="1234440"/>
            <a:ext cx="3794760" cy="2148840"/>
          </a:xfrm>
          <a:prstGeom prst="roundRect">
            <a:avLst>
              <a:gd name="adj" fmla="val 5106"/>
            </a:avLst>
          </a:prstGeom>
          <a:solidFill>
            <a:srgbClr val="EEF3F4"/>
          </a:solidFill>
          <a:ln w="12700">
            <a:solidFill>
              <a:srgbClr val="EEF3F4"/>
            </a:solidFill>
            <a:prstDash val="solid"/>
          </a:ln>
        </p:spPr>
      </p:sp>
      <p:sp>
        <p:nvSpPr>
          <p:cNvPr id="7" name="Text 4"/>
          <p:cNvSpPr txBox="1"/>
          <p:nvPr/>
        </p:nvSpPr>
        <p:spPr>
          <a:xfrm>
            <a:off x="685800" y="1344168"/>
            <a:ext cx="3429000" cy="411480"/>
          </a:xfrm>
          <a:prstGeom prst="rect">
            <a:avLst/>
          </a:prstGeom>
          <a:noFill/>
          <a:ln/>
        </p:spPr>
        <p:txBody>
          <a:bodyPr wrap="square" lIns="0" tIns="0" rIns="0" bIns="0" rtlCol="0" anchor="ctr"/>
          <a:lstStyle/>
          <a:p>
            <a:pPr indent="0" marL="0">
              <a:buNone/>
            </a:pPr>
            <a:r>
              <a:rPr lang="en-US" sz="2200" b="1" dirty="0">
                <a:solidFill>
                  <a:srgbClr val="E36414"/>
                </a:solidFill>
                <a:latin typeface="Meiryo" pitchFamily="34" charset="0"/>
                <a:ea typeface="Meiryo" pitchFamily="34" charset="-122"/>
                <a:cs typeface="Meiryo" pitchFamily="34" charset="-120"/>
              </a:rPr>
              <a:t>センサー</a:t>
            </a:r>
            <a:endParaRPr lang="en-US" sz="2200" dirty="0"/>
          </a:p>
        </p:txBody>
      </p:sp>
      <p:sp>
        <p:nvSpPr>
          <p:cNvPr id="8" name="Text 5"/>
          <p:cNvSpPr txBox="1"/>
          <p:nvPr/>
        </p:nvSpPr>
        <p:spPr>
          <a:xfrm>
            <a:off x="685800" y="1801368"/>
            <a:ext cx="342900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アプタマー：小分子やタンパク質に結合</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結合で構造が変わり、蛍光や翻訳を切り替える</a:t>
            </a:r>
            <a:endParaRPr lang="en-US" sz="1700" dirty="0"/>
          </a:p>
        </p:txBody>
      </p:sp>
      <p:sp>
        <p:nvSpPr>
          <p:cNvPr id="9" name="Shape 6"/>
          <p:cNvSpPr/>
          <p:nvPr/>
        </p:nvSpPr>
        <p:spPr>
          <a:xfrm>
            <a:off x="4434840" y="1234440"/>
            <a:ext cx="3794760" cy="2148840"/>
          </a:xfrm>
          <a:prstGeom prst="roundRect">
            <a:avLst>
              <a:gd name="adj" fmla="val 5106"/>
            </a:avLst>
          </a:prstGeom>
          <a:solidFill>
            <a:srgbClr val="EEF3F4"/>
          </a:solidFill>
          <a:ln w="12700">
            <a:solidFill>
              <a:srgbClr val="EEF3F4"/>
            </a:solidFill>
            <a:prstDash val="solid"/>
          </a:ln>
        </p:spPr>
      </p:sp>
      <p:sp>
        <p:nvSpPr>
          <p:cNvPr id="10" name="Text 7"/>
          <p:cNvSpPr txBox="1"/>
          <p:nvPr/>
        </p:nvSpPr>
        <p:spPr>
          <a:xfrm>
            <a:off x="4617720" y="1344168"/>
            <a:ext cx="342900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発現制御</a:t>
            </a:r>
            <a:endParaRPr lang="en-US" sz="2200" dirty="0"/>
          </a:p>
        </p:txBody>
      </p:sp>
      <p:sp>
        <p:nvSpPr>
          <p:cNvPr id="11" name="Text 8"/>
          <p:cNvSpPr txBox="1"/>
          <p:nvPr/>
        </p:nvSpPr>
        <p:spPr>
          <a:xfrm>
            <a:off x="4617720" y="1801368"/>
            <a:ext cx="342900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リボスイッチ（天然）、toehold switch（人工）</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入力RNAの有無で翻訳ON/OFF</a:t>
            </a:r>
            <a:endParaRPr lang="en-US" sz="1700" dirty="0"/>
          </a:p>
        </p:txBody>
      </p:sp>
      <p:sp>
        <p:nvSpPr>
          <p:cNvPr id="12" name="Shape 9"/>
          <p:cNvSpPr/>
          <p:nvPr/>
        </p:nvSpPr>
        <p:spPr>
          <a:xfrm>
            <a:off x="502920" y="3566160"/>
            <a:ext cx="3794760" cy="2148840"/>
          </a:xfrm>
          <a:prstGeom prst="roundRect">
            <a:avLst>
              <a:gd name="adj" fmla="val 5106"/>
            </a:avLst>
          </a:prstGeom>
          <a:solidFill>
            <a:srgbClr val="EEF3F4"/>
          </a:solidFill>
          <a:ln w="12700">
            <a:solidFill>
              <a:srgbClr val="EEF3F4"/>
            </a:solidFill>
            <a:prstDash val="solid"/>
          </a:ln>
        </p:spPr>
      </p:sp>
      <p:sp>
        <p:nvSpPr>
          <p:cNvPr id="13" name="Text 10"/>
          <p:cNvSpPr txBox="1"/>
          <p:nvPr/>
        </p:nvSpPr>
        <p:spPr>
          <a:xfrm>
            <a:off x="685800" y="3675888"/>
            <a:ext cx="3429000" cy="411480"/>
          </a:xfrm>
          <a:prstGeom prst="rect">
            <a:avLst/>
          </a:prstGeom>
          <a:noFill/>
          <a:ln/>
        </p:spPr>
        <p:txBody>
          <a:bodyPr wrap="square" lIns="0" tIns="0" rIns="0" bIns="0" rtlCol="0" anchor="ctr"/>
          <a:lstStyle/>
          <a:p>
            <a:pPr indent="0" marL="0">
              <a:buNone/>
            </a:pPr>
            <a:r>
              <a:rPr lang="en-US" sz="2200" b="1" dirty="0">
                <a:solidFill>
                  <a:srgbClr val="009E73"/>
                </a:solidFill>
                <a:latin typeface="Meiryo" pitchFamily="34" charset="0"/>
                <a:ea typeface="Meiryo" pitchFamily="34" charset="-122"/>
                <a:cs typeface="Meiryo" pitchFamily="34" charset="-120"/>
              </a:rPr>
              <a:t>触媒</a:t>
            </a:r>
            <a:endParaRPr lang="en-US" sz="2200" dirty="0"/>
          </a:p>
        </p:txBody>
      </p:sp>
      <p:sp>
        <p:nvSpPr>
          <p:cNvPr id="14" name="Text 11"/>
          <p:cNvSpPr txBox="1"/>
          <p:nvPr/>
        </p:nvSpPr>
        <p:spPr>
          <a:xfrm>
            <a:off x="685800" y="4133088"/>
            <a:ext cx="342900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リボザイム：RNA自身が反応を触媒</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ハンマーヘッド型、自己切断・連結</a:t>
            </a:r>
            <a:endParaRPr lang="en-US" sz="1700" dirty="0"/>
          </a:p>
        </p:txBody>
      </p:sp>
      <p:sp>
        <p:nvSpPr>
          <p:cNvPr id="15" name="Shape 12"/>
          <p:cNvSpPr/>
          <p:nvPr/>
        </p:nvSpPr>
        <p:spPr>
          <a:xfrm>
            <a:off x="4434840" y="3566160"/>
            <a:ext cx="3794760" cy="2148840"/>
          </a:xfrm>
          <a:prstGeom prst="roundRect">
            <a:avLst>
              <a:gd name="adj" fmla="val 5106"/>
            </a:avLst>
          </a:prstGeom>
          <a:solidFill>
            <a:srgbClr val="EEF3F4"/>
          </a:solidFill>
          <a:ln w="12700">
            <a:solidFill>
              <a:srgbClr val="EEF3F4"/>
            </a:solidFill>
            <a:prstDash val="solid"/>
          </a:ln>
        </p:spPr>
      </p:sp>
      <p:sp>
        <p:nvSpPr>
          <p:cNvPr id="16" name="Text 13"/>
          <p:cNvSpPr txBox="1"/>
          <p:nvPr/>
        </p:nvSpPr>
        <p:spPr>
          <a:xfrm>
            <a:off x="4617720" y="3675888"/>
            <a:ext cx="3429000" cy="411480"/>
          </a:xfrm>
          <a:prstGeom prst="rect">
            <a:avLst/>
          </a:prstGeom>
          <a:noFill/>
          <a:ln/>
        </p:spPr>
        <p:txBody>
          <a:bodyPr wrap="square" lIns="0" tIns="0" rIns="0" bIns="0" rtlCol="0" anchor="ctr"/>
          <a:lstStyle/>
          <a:p>
            <a:pPr indent="0" marL="0">
              <a:buNone/>
            </a:pPr>
            <a:r>
              <a:rPr lang="en-US" sz="2200" b="1" dirty="0">
                <a:solidFill>
                  <a:srgbClr val="7570B3"/>
                </a:solidFill>
                <a:latin typeface="Meiryo" pitchFamily="34" charset="0"/>
                <a:ea typeface="Meiryo" pitchFamily="34" charset="-122"/>
                <a:cs typeface="Meiryo" pitchFamily="34" charset="-120"/>
              </a:rPr>
              <a:t>ナノ構造</a:t>
            </a:r>
            <a:endParaRPr lang="en-US" sz="2200" dirty="0"/>
          </a:p>
        </p:txBody>
      </p:sp>
      <p:sp>
        <p:nvSpPr>
          <p:cNvPr id="17" name="Text 14"/>
          <p:cNvSpPr txBox="1"/>
          <p:nvPr/>
        </p:nvSpPr>
        <p:spPr>
          <a:xfrm>
            <a:off x="4617720" y="4133088"/>
            <a:ext cx="342900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RNA origami：1本鎖が転写中に折れてタイルに</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分子の足場、細胞内で遺伝的に発現可能</a:t>
            </a:r>
            <a:endParaRPr lang="en-US" sz="1700" dirty="0"/>
          </a:p>
        </p:txBody>
      </p:sp>
      <p:sp>
        <p:nvSpPr>
          <p:cNvPr id="18" name="Shape 15"/>
          <p:cNvSpPr/>
          <p:nvPr/>
        </p:nvSpPr>
        <p:spPr>
          <a:xfrm>
            <a:off x="8595360" y="1234440"/>
            <a:ext cx="3108960" cy="4800600"/>
          </a:xfrm>
          <a:prstGeom prst="roundRect">
            <a:avLst>
              <a:gd name="adj" fmla="val 3529"/>
            </a:avLst>
          </a:prstGeom>
          <a:solidFill>
            <a:srgbClr val="EEF3F4"/>
          </a:solidFill>
          <a:ln w="12700">
            <a:solidFill>
              <a:srgbClr val="EEF3F4"/>
            </a:solidFill>
            <a:prstDash val="solid"/>
          </a:ln>
        </p:spPr>
      </p:sp>
      <p:sp>
        <p:nvSpPr>
          <p:cNvPr id="19" name="Text 16"/>
          <p:cNvSpPr txBox="1"/>
          <p:nvPr/>
        </p:nvSpPr>
        <p:spPr>
          <a:xfrm>
            <a:off x="8778240" y="1344168"/>
            <a:ext cx="27432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共通の考え方</a:t>
            </a:r>
            <a:endParaRPr lang="en-US" sz="2000" dirty="0"/>
          </a:p>
        </p:txBody>
      </p:sp>
      <p:sp>
        <p:nvSpPr>
          <p:cNvPr id="20" name="Shape 17"/>
          <p:cNvSpPr/>
          <p:nvPr/>
        </p:nvSpPr>
        <p:spPr>
          <a:xfrm>
            <a:off x="8823960" y="1920240"/>
            <a:ext cx="2651760" cy="566928"/>
          </a:xfrm>
          <a:prstGeom prst="roundRect">
            <a:avLst>
              <a:gd name="adj" fmla="val 16129"/>
            </a:avLst>
          </a:prstGeom>
          <a:solidFill>
            <a:srgbClr val="FFFFFF"/>
          </a:solidFill>
          <a:ln w="12700">
            <a:solidFill>
              <a:srgbClr val="C9D3D6"/>
            </a:solidFill>
            <a:prstDash val="solid"/>
          </a:ln>
        </p:spPr>
      </p:sp>
      <p:sp>
        <p:nvSpPr>
          <p:cNvPr id="21" name="Text 18"/>
          <p:cNvSpPr txBox="1"/>
          <p:nvPr/>
        </p:nvSpPr>
        <p:spPr>
          <a:xfrm>
            <a:off x="8915400" y="1920240"/>
            <a:ext cx="2468880" cy="566928"/>
          </a:xfrm>
          <a:prstGeom prst="rect">
            <a:avLst/>
          </a:prstGeom>
          <a:noFill/>
          <a:ln/>
        </p:spPr>
        <p:txBody>
          <a:bodyPr wrap="square" lIns="0" tIns="0" rIns="0" bIns="0" rtlCol="0" anchor="ctr"/>
          <a:lstStyle/>
          <a:p>
            <a:pPr algn="ctr" indent="0" marL="0">
              <a:buNone/>
            </a:pPr>
            <a:r>
              <a:rPr lang="en-US" sz="1400" dirty="0">
                <a:solidFill>
                  <a:srgbClr val="1F2A30"/>
                </a:solidFill>
                <a:latin typeface="Meiryo" pitchFamily="34" charset="0"/>
                <a:ea typeface="Meiryo" pitchFamily="34" charset="-122"/>
                <a:cs typeface="Meiryo" pitchFamily="34" charset="-120"/>
              </a:rPr>
              <a:t>配列（A/C/G/U の並び）</a:t>
            </a:r>
            <a:endParaRPr lang="en-US" sz="1400" dirty="0"/>
          </a:p>
        </p:txBody>
      </p:sp>
      <p:sp>
        <p:nvSpPr>
          <p:cNvPr id="22" name="Shape 19"/>
          <p:cNvSpPr/>
          <p:nvPr/>
        </p:nvSpPr>
        <p:spPr>
          <a:xfrm>
            <a:off x="10149840" y="2487168"/>
            <a:ext cx="9144" cy="438912"/>
          </a:xfrm>
          <a:prstGeom prst="line">
            <a:avLst/>
          </a:prstGeom>
          <a:noFill/>
          <a:ln w="19050">
            <a:solidFill>
              <a:srgbClr val="0F4C5C"/>
            </a:solidFill>
            <a:prstDash val="solid"/>
            <a:tailEnd type="triangle"/>
          </a:ln>
        </p:spPr>
      </p:sp>
      <p:sp>
        <p:nvSpPr>
          <p:cNvPr id="23" name="Shape 20"/>
          <p:cNvSpPr/>
          <p:nvPr/>
        </p:nvSpPr>
        <p:spPr>
          <a:xfrm>
            <a:off x="8823960" y="2926080"/>
            <a:ext cx="2651760" cy="566928"/>
          </a:xfrm>
          <a:prstGeom prst="roundRect">
            <a:avLst>
              <a:gd name="adj" fmla="val 16129"/>
            </a:avLst>
          </a:prstGeom>
          <a:solidFill>
            <a:srgbClr val="FBE9DC"/>
          </a:solidFill>
          <a:ln w="12700">
            <a:solidFill>
              <a:srgbClr val="E36414"/>
            </a:solidFill>
            <a:prstDash val="solid"/>
          </a:ln>
        </p:spPr>
      </p:sp>
      <p:sp>
        <p:nvSpPr>
          <p:cNvPr id="24" name="Text 21"/>
          <p:cNvSpPr txBox="1"/>
          <p:nvPr/>
        </p:nvSpPr>
        <p:spPr>
          <a:xfrm>
            <a:off x="8915400" y="2926080"/>
            <a:ext cx="2468880" cy="566928"/>
          </a:xfrm>
          <a:prstGeom prst="rect">
            <a:avLst/>
          </a:prstGeom>
          <a:noFill/>
          <a:ln/>
        </p:spPr>
        <p:txBody>
          <a:bodyPr wrap="square" lIns="0" tIns="0" rIns="0" bIns="0" rtlCol="0" anchor="ctr"/>
          <a:lstStyle/>
          <a:p>
            <a:pPr algn="ctr" indent="0" marL="0">
              <a:buNone/>
            </a:pPr>
            <a:r>
              <a:rPr lang="en-US" sz="1400" dirty="0">
                <a:solidFill>
                  <a:srgbClr val="1F2A30"/>
                </a:solidFill>
                <a:latin typeface="Meiryo" pitchFamily="34" charset="0"/>
                <a:ea typeface="Meiryo" pitchFamily="34" charset="-122"/>
                <a:cs typeface="Meiryo" pitchFamily="34" charset="-120"/>
              </a:rPr>
              <a:t>二次構造（どこが対合するか）</a:t>
            </a:r>
            <a:endParaRPr lang="en-US" sz="1400" dirty="0"/>
          </a:p>
        </p:txBody>
      </p:sp>
      <p:sp>
        <p:nvSpPr>
          <p:cNvPr id="25" name="Shape 22"/>
          <p:cNvSpPr/>
          <p:nvPr/>
        </p:nvSpPr>
        <p:spPr>
          <a:xfrm>
            <a:off x="10149840" y="3493008"/>
            <a:ext cx="9144" cy="438912"/>
          </a:xfrm>
          <a:prstGeom prst="line">
            <a:avLst/>
          </a:prstGeom>
          <a:noFill/>
          <a:ln w="19050">
            <a:solidFill>
              <a:srgbClr val="0F4C5C"/>
            </a:solidFill>
            <a:prstDash val="solid"/>
            <a:tailEnd type="triangle"/>
          </a:ln>
        </p:spPr>
      </p:sp>
      <p:sp>
        <p:nvSpPr>
          <p:cNvPr id="26" name="Shape 23"/>
          <p:cNvSpPr/>
          <p:nvPr/>
        </p:nvSpPr>
        <p:spPr>
          <a:xfrm>
            <a:off x="8823960" y="3931920"/>
            <a:ext cx="2651760" cy="566928"/>
          </a:xfrm>
          <a:prstGeom prst="roundRect">
            <a:avLst>
              <a:gd name="adj" fmla="val 16129"/>
            </a:avLst>
          </a:prstGeom>
          <a:solidFill>
            <a:srgbClr val="FFFFFF"/>
          </a:solidFill>
          <a:ln w="12700">
            <a:solidFill>
              <a:srgbClr val="C9D3D6"/>
            </a:solidFill>
            <a:prstDash val="solid"/>
          </a:ln>
        </p:spPr>
      </p:sp>
      <p:sp>
        <p:nvSpPr>
          <p:cNvPr id="27" name="Text 24"/>
          <p:cNvSpPr txBox="1"/>
          <p:nvPr/>
        </p:nvSpPr>
        <p:spPr>
          <a:xfrm>
            <a:off x="8915400" y="3931920"/>
            <a:ext cx="2468880" cy="566928"/>
          </a:xfrm>
          <a:prstGeom prst="rect">
            <a:avLst/>
          </a:prstGeom>
          <a:noFill/>
          <a:ln/>
        </p:spPr>
        <p:txBody>
          <a:bodyPr wrap="square" lIns="0" tIns="0" rIns="0" bIns="0" rtlCol="0" anchor="ctr"/>
          <a:lstStyle/>
          <a:p>
            <a:pPr algn="ctr" indent="0" marL="0">
              <a:buNone/>
            </a:pPr>
            <a:r>
              <a:rPr lang="en-US" sz="1400" dirty="0">
                <a:solidFill>
                  <a:srgbClr val="1F2A30"/>
                </a:solidFill>
                <a:latin typeface="Meiryo" pitchFamily="34" charset="0"/>
                <a:ea typeface="Meiryo" pitchFamily="34" charset="-122"/>
                <a:cs typeface="Meiryo" pitchFamily="34" charset="-120"/>
              </a:rPr>
              <a:t>立体構造・相互作用</a:t>
            </a:r>
            <a:endParaRPr lang="en-US" sz="1400" dirty="0"/>
          </a:p>
        </p:txBody>
      </p:sp>
      <p:sp>
        <p:nvSpPr>
          <p:cNvPr id="28" name="Shape 25"/>
          <p:cNvSpPr/>
          <p:nvPr/>
        </p:nvSpPr>
        <p:spPr>
          <a:xfrm>
            <a:off x="10149840" y="4498848"/>
            <a:ext cx="9144" cy="438912"/>
          </a:xfrm>
          <a:prstGeom prst="line">
            <a:avLst/>
          </a:prstGeom>
          <a:noFill/>
          <a:ln w="19050">
            <a:solidFill>
              <a:srgbClr val="0F4C5C"/>
            </a:solidFill>
            <a:prstDash val="solid"/>
            <a:tailEnd type="triangle"/>
          </a:ln>
        </p:spPr>
      </p:sp>
      <p:sp>
        <p:nvSpPr>
          <p:cNvPr id="29" name="Shape 26"/>
          <p:cNvSpPr/>
          <p:nvPr/>
        </p:nvSpPr>
        <p:spPr>
          <a:xfrm>
            <a:off x="8823960" y="4937760"/>
            <a:ext cx="2651760" cy="566928"/>
          </a:xfrm>
          <a:prstGeom prst="roundRect">
            <a:avLst>
              <a:gd name="adj" fmla="val 16129"/>
            </a:avLst>
          </a:prstGeom>
          <a:solidFill>
            <a:srgbClr val="FFFFFF"/>
          </a:solidFill>
          <a:ln w="12700">
            <a:solidFill>
              <a:srgbClr val="C9D3D6"/>
            </a:solidFill>
            <a:prstDash val="solid"/>
          </a:ln>
        </p:spPr>
      </p:sp>
      <p:sp>
        <p:nvSpPr>
          <p:cNvPr id="30" name="Text 27"/>
          <p:cNvSpPr txBox="1"/>
          <p:nvPr/>
        </p:nvSpPr>
        <p:spPr>
          <a:xfrm>
            <a:off x="8915400" y="4937760"/>
            <a:ext cx="2468880" cy="566928"/>
          </a:xfrm>
          <a:prstGeom prst="rect">
            <a:avLst/>
          </a:prstGeom>
          <a:noFill/>
          <a:ln/>
        </p:spPr>
        <p:txBody>
          <a:bodyPr wrap="square" lIns="0" tIns="0" rIns="0" bIns="0" rtlCol="0" anchor="ctr"/>
          <a:lstStyle/>
          <a:p>
            <a:pPr algn="ctr" indent="0" marL="0">
              <a:buNone/>
            </a:pPr>
            <a:r>
              <a:rPr lang="en-US" sz="1400" dirty="0">
                <a:solidFill>
                  <a:srgbClr val="1F2A30"/>
                </a:solidFill>
                <a:latin typeface="Meiryo" pitchFamily="34" charset="0"/>
                <a:ea typeface="Meiryo" pitchFamily="34" charset="-122"/>
                <a:cs typeface="Meiryo" pitchFamily="34" charset="-120"/>
              </a:rPr>
              <a:t>機能（結合・切替・触媒・形）</a:t>
            </a:r>
            <a:endParaRPr lang="en-US" sz="1400" dirty="0"/>
          </a:p>
        </p:txBody>
      </p:sp>
      <p:sp>
        <p:nvSpPr>
          <p:cNvPr id="31" name="Text 28"/>
          <p:cNvSpPr txBox="1"/>
          <p:nvPr/>
        </p:nvSpPr>
        <p:spPr>
          <a:xfrm>
            <a:off x="8823960" y="5532120"/>
            <a:ext cx="2651760" cy="457200"/>
          </a:xfrm>
          <a:prstGeom prst="rect">
            <a:avLst/>
          </a:prstGeom>
          <a:noFill/>
          <a:ln/>
        </p:spPr>
        <p:txBody>
          <a:bodyPr wrap="square" lIns="0" tIns="0" rIns="0" bIns="0" rtlCol="0" anchor="t"/>
          <a:lstStyle/>
          <a:p>
            <a:pPr algn="ctr" indent="0" marL="0">
              <a:buNone/>
            </a:pPr>
            <a:r>
              <a:rPr lang="en-US" sz="1200" dirty="0">
                <a:solidFill>
                  <a:srgbClr val="E36414"/>
                </a:solidFill>
                <a:latin typeface="Meiryo" pitchFamily="34" charset="0"/>
                <a:ea typeface="Meiryo" pitchFamily="34" charset="-122"/>
                <a:cs typeface="Meiryo" pitchFamily="34" charset="-120"/>
              </a:rPr>
              <a:t>今日はこの層（二次構造）で予測と設計を行う</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応用例：RNAスイッチ（toehold switch）は入力で働きを変える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9</a:t>
            </a:r>
            <a:endParaRPr lang="en-US" sz="1100" dirty="0"/>
          </a:p>
        </p:txBody>
      </p:sp>
      <p:sp>
        <p:nvSpPr>
          <p:cNvPr id="6" name="Text 3"/>
          <p:cNvSpPr txBox="1"/>
          <p:nvPr/>
        </p:nvSpPr>
        <p:spPr>
          <a:xfrm>
            <a:off x="502920" y="1143000"/>
            <a:ext cx="36576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OFF：スイッチRNA単独</a:t>
            </a:r>
            <a:endParaRPr lang="en-US" sz="1600" dirty="0"/>
          </a:p>
        </p:txBody>
      </p:sp>
      <p:sp>
        <p:nvSpPr>
          <p:cNvPr id="7" name="Shape 4"/>
          <p:cNvSpPr/>
          <p:nvPr/>
        </p:nvSpPr>
        <p:spPr>
          <a:xfrm flipH="1">
            <a:off x="2100733" y="1700784"/>
            <a:ext cx="182832" cy="64238"/>
          </a:xfrm>
          <a:prstGeom prst="line">
            <a:avLst/>
          </a:prstGeom>
          <a:noFill/>
          <a:ln w="19050">
            <a:solidFill>
              <a:srgbClr val="A7B4BA"/>
            </a:solidFill>
            <a:prstDash val="solid"/>
          </a:ln>
        </p:spPr>
      </p:sp>
      <p:sp>
        <p:nvSpPr>
          <p:cNvPr id="8" name="Shape 5"/>
          <p:cNvSpPr/>
          <p:nvPr/>
        </p:nvSpPr>
        <p:spPr>
          <a:xfrm flipH="1">
            <a:off x="1953401" y="1765022"/>
            <a:ext cx="147332" cy="126006"/>
          </a:xfrm>
          <a:prstGeom prst="line">
            <a:avLst/>
          </a:prstGeom>
          <a:noFill/>
          <a:ln w="19050">
            <a:solidFill>
              <a:srgbClr val="A7B4BA"/>
            </a:solidFill>
            <a:prstDash val="solid"/>
          </a:ln>
        </p:spPr>
      </p:sp>
      <p:sp>
        <p:nvSpPr>
          <p:cNvPr id="9" name="Shape 6"/>
          <p:cNvSpPr/>
          <p:nvPr/>
        </p:nvSpPr>
        <p:spPr>
          <a:xfrm flipH="1">
            <a:off x="1861465" y="1891028"/>
            <a:ext cx="91936" cy="170739"/>
          </a:xfrm>
          <a:prstGeom prst="line">
            <a:avLst/>
          </a:prstGeom>
          <a:noFill/>
          <a:ln w="19050">
            <a:solidFill>
              <a:srgbClr val="A7B4BA"/>
            </a:solidFill>
            <a:prstDash val="solid"/>
          </a:ln>
        </p:spPr>
      </p:sp>
      <p:sp>
        <p:nvSpPr>
          <p:cNvPr id="10" name="Shape 7"/>
          <p:cNvSpPr/>
          <p:nvPr/>
        </p:nvSpPr>
        <p:spPr>
          <a:xfrm flipH="1">
            <a:off x="1837408" y="2061767"/>
            <a:ext cx="24057" cy="192455"/>
          </a:xfrm>
          <a:prstGeom prst="line">
            <a:avLst/>
          </a:prstGeom>
          <a:noFill/>
          <a:ln w="19050">
            <a:solidFill>
              <a:srgbClr val="A7B4BA"/>
            </a:solidFill>
            <a:prstDash val="solid"/>
          </a:ln>
        </p:spPr>
      </p:sp>
      <p:sp>
        <p:nvSpPr>
          <p:cNvPr id="11" name="Shape 8"/>
          <p:cNvSpPr/>
          <p:nvPr/>
        </p:nvSpPr>
        <p:spPr>
          <a:xfrm>
            <a:off x="1837408" y="2254222"/>
            <a:ext cx="47073" cy="188034"/>
          </a:xfrm>
          <a:prstGeom prst="line">
            <a:avLst/>
          </a:prstGeom>
          <a:noFill/>
          <a:ln w="19050">
            <a:solidFill>
              <a:srgbClr val="A7B4BA"/>
            </a:solidFill>
            <a:prstDash val="solid"/>
          </a:ln>
        </p:spPr>
      </p:sp>
      <p:sp>
        <p:nvSpPr>
          <p:cNvPr id="12" name="Shape 9"/>
          <p:cNvSpPr/>
          <p:nvPr/>
        </p:nvSpPr>
        <p:spPr>
          <a:xfrm>
            <a:off x="1884482" y="2442255"/>
            <a:ext cx="111702" cy="158385"/>
          </a:xfrm>
          <a:prstGeom prst="line">
            <a:avLst/>
          </a:prstGeom>
          <a:noFill/>
          <a:ln w="19050">
            <a:solidFill>
              <a:srgbClr val="A7B4BA"/>
            </a:solidFill>
            <a:prstDash val="solid"/>
          </a:ln>
        </p:spPr>
      </p:sp>
      <p:sp>
        <p:nvSpPr>
          <p:cNvPr id="13" name="Shape 10"/>
          <p:cNvSpPr/>
          <p:nvPr/>
        </p:nvSpPr>
        <p:spPr>
          <a:xfrm>
            <a:off x="1996183" y="2600640"/>
            <a:ext cx="161506" cy="107411"/>
          </a:xfrm>
          <a:prstGeom prst="line">
            <a:avLst/>
          </a:prstGeom>
          <a:noFill/>
          <a:ln w="19050">
            <a:solidFill>
              <a:srgbClr val="A7B4BA"/>
            </a:solidFill>
            <a:prstDash val="solid"/>
          </a:ln>
        </p:spPr>
      </p:sp>
      <p:sp>
        <p:nvSpPr>
          <p:cNvPr id="14" name="Shape 11"/>
          <p:cNvSpPr/>
          <p:nvPr/>
        </p:nvSpPr>
        <p:spPr>
          <a:xfrm>
            <a:off x="2157689" y="2708051"/>
            <a:ext cx="189334" cy="41742"/>
          </a:xfrm>
          <a:prstGeom prst="line">
            <a:avLst/>
          </a:prstGeom>
          <a:noFill/>
          <a:ln w="19050">
            <a:solidFill>
              <a:srgbClr val="A7B4BA"/>
            </a:solidFill>
            <a:prstDash val="solid"/>
          </a:ln>
        </p:spPr>
      </p:sp>
      <p:sp>
        <p:nvSpPr>
          <p:cNvPr id="15" name="Shape 12"/>
          <p:cNvSpPr/>
          <p:nvPr/>
        </p:nvSpPr>
        <p:spPr>
          <a:xfrm>
            <a:off x="2347023" y="2749793"/>
            <a:ext cx="29778" cy="192845"/>
          </a:xfrm>
          <a:prstGeom prst="line">
            <a:avLst/>
          </a:prstGeom>
          <a:noFill/>
          <a:ln w="19050">
            <a:solidFill>
              <a:srgbClr val="A7B4BA"/>
            </a:solidFill>
            <a:prstDash val="solid"/>
          </a:ln>
        </p:spPr>
      </p:sp>
      <p:sp>
        <p:nvSpPr>
          <p:cNvPr id="16" name="Shape 13"/>
          <p:cNvSpPr/>
          <p:nvPr/>
        </p:nvSpPr>
        <p:spPr>
          <a:xfrm>
            <a:off x="2376802" y="2942638"/>
            <a:ext cx="29778" cy="192715"/>
          </a:xfrm>
          <a:prstGeom prst="line">
            <a:avLst/>
          </a:prstGeom>
          <a:noFill/>
          <a:ln w="19050">
            <a:solidFill>
              <a:srgbClr val="A7B4BA"/>
            </a:solidFill>
            <a:prstDash val="solid"/>
          </a:ln>
        </p:spPr>
      </p:sp>
      <p:sp>
        <p:nvSpPr>
          <p:cNvPr id="17" name="Shape 14"/>
          <p:cNvSpPr/>
          <p:nvPr/>
        </p:nvSpPr>
        <p:spPr>
          <a:xfrm>
            <a:off x="2406580" y="3135352"/>
            <a:ext cx="29778" cy="192845"/>
          </a:xfrm>
          <a:prstGeom prst="line">
            <a:avLst/>
          </a:prstGeom>
          <a:noFill/>
          <a:ln w="19050">
            <a:solidFill>
              <a:srgbClr val="A7B4BA"/>
            </a:solidFill>
            <a:prstDash val="solid"/>
          </a:ln>
        </p:spPr>
      </p:sp>
      <p:sp>
        <p:nvSpPr>
          <p:cNvPr id="18" name="Shape 15"/>
          <p:cNvSpPr/>
          <p:nvPr/>
        </p:nvSpPr>
        <p:spPr>
          <a:xfrm>
            <a:off x="2436359" y="3328197"/>
            <a:ext cx="29778" cy="192715"/>
          </a:xfrm>
          <a:prstGeom prst="line">
            <a:avLst/>
          </a:prstGeom>
          <a:noFill/>
          <a:ln w="19050">
            <a:solidFill>
              <a:srgbClr val="A7B4BA"/>
            </a:solidFill>
            <a:prstDash val="solid"/>
          </a:ln>
        </p:spPr>
      </p:sp>
      <p:sp>
        <p:nvSpPr>
          <p:cNvPr id="19" name="Shape 16"/>
          <p:cNvSpPr/>
          <p:nvPr/>
        </p:nvSpPr>
        <p:spPr>
          <a:xfrm>
            <a:off x="2466137" y="3520912"/>
            <a:ext cx="29778" cy="192715"/>
          </a:xfrm>
          <a:prstGeom prst="line">
            <a:avLst/>
          </a:prstGeom>
          <a:noFill/>
          <a:ln w="19050">
            <a:solidFill>
              <a:srgbClr val="A7B4BA"/>
            </a:solidFill>
            <a:prstDash val="solid"/>
          </a:ln>
        </p:spPr>
      </p:sp>
      <p:sp>
        <p:nvSpPr>
          <p:cNvPr id="20" name="Shape 17"/>
          <p:cNvSpPr/>
          <p:nvPr/>
        </p:nvSpPr>
        <p:spPr>
          <a:xfrm>
            <a:off x="2495916" y="3713627"/>
            <a:ext cx="29648" cy="192845"/>
          </a:xfrm>
          <a:prstGeom prst="line">
            <a:avLst/>
          </a:prstGeom>
          <a:noFill/>
          <a:ln w="19050">
            <a:solidFill>
              <a:srgbClr val="A7B4BA"/>
            </a:solidFill>
            <a:prstDash val="solid"/>
          </a:ln>
        </p:spPr>
      </p:sp>
      <p:sp>
        <p:nvSpPr>
          <p:cNvPr id="21" name="Shape 18"/>
          <p:cNvSpPr/>
          <p:nvPr/>
        </p:nvSpPr>
        <p:spPr>
          <a:xfrm>
            <a:off x="2525564" y="3906472"/>
            <a:ext cx="29778" cy="192715"/>
          </a:xfrm>
          <a:prstGeom prst="line">
            <a:avLst/>
          </a:prstGeom>
          <a:noFill/>
          <a:ln w="19050">
            <a:solidFill>
              <a:srgbClr val="A7B4BA"/>
            </a:solidFill>
            <a:prstDash val="solid"/>
          </a:ln>
        </p:spPr>
      </p:sp>
      <p:sp>
        <p:nvSpPr>
          <p:cNvPr id="22" name="Shape 19"/>
          <p:cNvSpPr/>
          <p:nvPr/>
        </p:nvSpPr>
        <p:spPr>
          <a:xfrm>
            <a:off x="2555343" y="4099187"/>
            <a:ext cx="29778" cy="192845"/>
          </a:xfrm>
          <a:prstGeom prst="line">
            <a:avLst/>
          </a:prstGeom>
          <a:noFill/>
          <a:ln w="19050">
            <a:solidFill>
              <a:srgbClr val="A7B4BA"/>
            </a:solidFill>
            <a:prstDash val="solid"/>
          </a:ln>
        </p:spPr>
      </p:sp>
      <p:sp>
        <p:nvSpPr>
          <p:cNvPr id="23" name="Shape 20"/>
          <p:cNvSpPr/>
          <p:nvPr/>
        </p:nvSpPr>
        <p:spPr>
          <a:xfrm>
            <a:off x="2585121" y="4292032"/>
            <a:ext cx="29778" cy="192715"/>
          </a:xfrm>
          <a:prstGeom prst="line">
            <a:avLst/>
          </a:prstGeom>
          <a:noFill/>
          <a:ln w="19050">
            <a:solidFill>
              <a:srgbClr val="A7B4BA"/>
            </a:solidFill>
            <a:prstDash val="solid"/>
          </a:ln>
        </p:spPr>
      </p:sp>
      <p:sp>
        <p:nvSpPr>
          <p:cNvPr id="24" name="Shape 21"/>
          <p:cNvSpPr/>
          <p:nvPr/>
        </p:nvSpPr>
        <p:spPr>
          <a:xfrm flipH="1">
            <a:off x="2490844" y="4484747"/>
            <a:ext cx="124055" cy="163847"/>
          </a:xfrm>
          <a:prstGeom prst="line">
            <a:avLst/>
          </a:prstGeom>
          <a:noFill/>
          <a:ln w="19050">
            <a:solidFill>
              <a:srgbClr val="A7B4BA"/>
            </a:solidFill>
            <a:prstDash val="solid"/>
          </a:ln>
        </p:spPr>
      </p:sp>
      <p:sp>
        <p:nvSpPr>
          <p:cNvPr id="25" name="Shape 22"/>
          <p:cNvSpPr/>
          <p:nvPr/>
        </p:nvSpPr>
        <p:spPr>
          <a:xfrm>
            <a:off x="2490844" y="4648593"/>
            <a:ext cx="29258" cy="203508"/>
          </a:xfrm>
          <a:prstGeom prst="line">
            <a:avLst/>
          </a:prstGeom>
          <a:noFill/>
          <a:ln w="19050">
            <a:solidFill>
              <a:srgbClr val="A7B4BA"/>
            </a:solidFill>
            <a:prstDash val="solid"/>
          </a:ln>
        </p:spPr>
      </p:sp>
      <p:sp>
        <p:nvSpPr>
          <p:cNvPr id="26" name="Shape 23"/>
          <p:cNvSpPr/>
          <p:nvPr/>
        </p:nvSpPr>
        <p:spPr>
          <a:xfrm>
            <a:off x="2520103" y="4852101"/>
            <a:ext cx="165147" cy="122235"/>
          </a:xfrm>
          <a:prstGeom prst="line">
            <a:avLst/>
          </a:prstGeom>
          <a:noFill/>
          <a:ln w="19050">
            <a:solidFill>
              <a:srgbClr val="A7B4BA"/>
            </a:solidFill>
            <a:prstDash val="solid"/>
          </a:ln>
        </p:spPr>
      </p:sp>
      <p:sp>
        <p:nvSpPr>
          <p:cNvPr id="27" name="Shape 24"/>
          <p:cNvSpPr/>
          <p:nvPr/>
        </p:nvSpPr>
        <p:spPr>
          <a:xfrm flipH="1">
            <a:off x="2685250" y="4942997"/>
            <a:ext cx="203118" cy="31339"/>
          </a:xfrm>
          <a:prstGeom prst="line">
            <a:avLst/>
          </a:prstGeom>
          <a:noFill/>
          <a:ln w="19050">
            <a:solidFill>
              <a:srgbClr val="A7B4BA"/>
            </a:solidFill>
            <a:prstDash val="solid"/>
          </a:ln>
        </p:spPr>
      </p:sp>
      <p:sp>
        <p:nvSpPr>
          <p:cNvPr id="28" name="Shape 25"/>
          <p:cNvSpPr/>
          <p:nvPr/>
        </p:nvSpPr>
        <p:spPr>
          <a:xfrm flipH="1">
            <a:off x="2888367" y="4776550"/>
            <a:ext cx="120544" cy="166447"/>
          </a:xfrm>
          <a:prstGeom prst="line">
            <a:avLst/>
          </a:prstGeom>
          <a:noFill/>
          <a:ln w="19050">
            <a:solidFill>
              <a:srgbClr val="A7B4BA"/>
            </a:solidFill>
            <a:prstDash val="solid"/>
          </a:ln>
        </p:spPr>
      </p:sp>
      <p:sp>
        <p:nvSpPr>
          <p:cNvPr id="29" name="Shape 26"/>
          <p:cNvSpPr/>
          <p:nvPr/>
        </p:nvSpPr>
        <p:spPr>
          <a:xfrm>
            <a:off x="2975362" y="4573822"/>
            <a:ext cx="33550" cy="202728"/>
          </a:xfrm>
          <a:prstGeom prst="line">
            <a:avLst/>
          </a:prstGeom>
          <a:noFill/>
          <a:ln w="19050">
            <a:solidFill>
              <a:srgbClr val="A7B4BA"/>
            </a:solidFill>
            <a:prstDash val="solid"/>
          </a:ln>
        </p:spPr>
      </p:sp>
      <p:sp>
        <p:nvSpPr>
          <p:cNvPr id="30" name="Shape 27"/>
          <p:cNvSpPr/>
          <p:nvPr/>
        </p:nvSpPr>
        <p:spPr>
          <a:xfrm>
            <a:off x="2807744" y="4454968"/>
            <a:ext cx="167618" cy="118854"/>
          </a:xfrm>
          <a:prstGeom prst="line">
            <a:avLst/>
          </a:prstGeom>
          <a:noFill/>
          <a:ln w="19050">
            <a:solidFill>
              <a:srgbClr val="A7B4BA"/>
            </a:solidFill>
            <a:prstDash val="solid"/>
          </a:ln>
        </p:spPr>
      </p:sp>
      <p:sp>
        <p:nvSpPr>
          <p:cNvPr id="31" name="Shape 28"/>
          <p:cNvSpPr/>
          <p:nvPr/>
        </p:nvSpPr>
        <p:spPr>
          <a:xfrm>
            <a:off x="2777966" y="4262253"/>
            <a:ext cx="29778" cy="192715"/>
          </a:xfrm>
          <a:prstGeom prst="line">
            <a:avLst/>
          </a:prstGeom>
          <a:noFill/>
          <a:ln w="19050">
            <a:solidFill>
              <a:srgbClr val="A7B4BA"/>
            </a:solidFill>
            <a:prstDash val="solid"/>
          </a:ln>
        </p:spPr>
      </p:sp>
      <p:sp>
        <p:nvSpPr>
          <p:cNvPr id="32" name="Shape 29"/>
          <p:cNvSpPr/>
          <p:nvPr/>
        </p:nvSpPr>
        <p:spPr>
          <a:xfrm>
            <a:off x="2748188" y="4069408"/>
            <a:ext cx="29778" cy="192845"/>
          </a:xfrm>
          <a:prstGeom prst="line">
            <a:avLst/>
          </a:prstGeom>
          <a:noFill/>
          <a:ln w="19050">
            <a:solidFill>
              <a:srgbClr val="A7B4BA"/>
            </a:solidFill>
            <a:prstDash val="solid"/>
          </a:ln>
        </p:spPr>
      </p:sp>
      <p:sp>
        <p:nvSpPr>
          <p:cNvPr id="33" name="Shape 30"/>
          <p:cNvSpPr/>
          <p:nvPr/>
        </p:nvSpPr>
        <p:spPr>
          <a:xfrm>
            <a:off x="2718409" y="3876693"/>
            <a:ext cx="29778" cy="192715"/>
          </a:xfrm>
          <a:prstGeom prst="line">
            <a:avLst/>
          </a:prstGeom>
          <a:noFill/>
          <a:ln w="19050">
            <a:solidFill>
              <a:srgbClr val="A7B4BA"/>
            </a:solidFill>
            <a:prstDash val="solid"/>
          </a:ln>
        </p:spPr>
      </p:sp>
      <p:sp>
        <p:nvSpPr>
          <p:cNvPr id="34" name="Shape 31"/>
          <p:cNvSpPr/>
          <p:nvPr/>
        </p:nvSpPr>
        <p:spPr>
          <a:xfrm>
            <a:off x="2688631" y="3683849"/>
            <a:ext cx="29778" cy="192845"/>
          </a:xfrm>
          <a:prstGeom prst="line">
            <a:avLst/>
          </a:prstGeom>
          <a:noFill/>
          <a:ln w="19050">
            <a:solidFill>
              <a:srgbClr val="A7B4BA"/>
            </a:solidFill>
            <a:prstDash val="solid"/>
          </a:ln>
        </p:spPr>
      </p:sp>
      <p:sp>
        <p:nvSpPr>
          <p:cNvPr id="35" name="Shape 32"/>
          <p:cNvSpPr/>
          <p:nvPr/>
        </p:nvSpPr>
        <p:spPr>
          <a:xfrm>
            <a:off x="2658852" y="3491134"/>
            <a:ext cx="29778" cy="192715"/>
          </a:xfrm>
          <a:prstGeom prst="line">
            <a:avLst/>
          </a:prstGeom>
          <a:noFill/>
          <a:ln w="19050">
            <a:solidFill>
              <a:srgbClr val="A7B4BA"/>
            </a:solidFill>
            <a:prstDash val="solid"/>
          </a:ln>
        </p:spPr>
      </p:sp>
      <p:sp>
        <p:nvSpPr>
          <p:cNvPr id="36" name="Shape 33"/>
          <p:cNvSpPr/>
          <p:nvPr/>
        </p:nvSpPr>
        <p:spPr>
          <a:xfrm>
            <a:off x="2629074" y="3298419"/>
            <a:ext cx="29778" cy="192715"/>
          </a:xfrm>
          <a:prstGeom prst="line">
            <a:avLst/>
          </a:prstGeom>
          <a:noFill/>
          <a:ln w="19050">
            <a:solidFill>
              <a:srgbClr val="A7B4BA"/>
            </a:solidFill>
            <a:prstDash val="solid"/>
          </a:ln>
        </p:spPr>
      </p:sp>
      <p:sp>
        <p:nvSpPr>
          <p:cNvPr id="37" name="Shape 34"/>
          <p:cNvSpPr/>
          <p:nvPr/>
        </p:nvSpPr>
        <p:spPr>
          <a:xfrm>
            <a:off x="2599295" y="3105574"/>
            <a:ext cx="29778" cy="192845"/>
          </a:xfrm>
          <a:prstGeom prst="line">
            <a:avLst/>
          </a:prstGeom>
          <a:noFill/>
          <a:ln w="19050">
            <a:solidFill>
              <a:srgbClr val="A7B4BA"/>
            </a:solidFill>
            <a:prstDash val="solid"/>
          </a:ln>
        </p:spPr>
      </p:sp>
      <p:sp>
        <p:nvSpPr>
          <p:cNvPr id="38" name="Shape 35"/>
          <p:cNvSpPr/>
          <p:nvPr/>
        </p:nvSpPr>
        <p:spPr>
          <a:xfrm>
            <a:off x="2569517" y="2912859"/>
            <a:ext cx="29778" cy="192715"/>
          </a:xfrm>
          <a:prstGeom prst="line">
            <a:avLst/>
          </a:prstGeom>
          <a:noFill/>
          <a:ln w="19050">
            <a:solidFill>
              <a:srgbClr val="A7B4BA"/>
            </a:solidFill>
            <a:prstDash val="solid"/>
          </a:ln>
        </p:spPr>
      </p:sp>
      <p:sp>
        <p:nvSpPr>
          <p:cNvPr id="39" name="Shape 36"/>
          <p:cNvSpPr/>
          <p:nvPr/>
        </p:nvSpPr>
        <p:spPr>
          <a:xfrm>
            <a:off x="2539738" y="2720014"/>
            <a:ext cx="29778" cy="192845"/>
          </a:xfrm>
          <a:prstGeom prst="line">
            <a:avLst/>
          </a:prstGeom>
          <a:noFill/>
          <a:ln w="19050">
            <a:solidFill>
              <a:srgbClr val="A7B4BA"/>
            </a:solidFill>
            <a:prstDash val="solid"/>
          </a:ln>
        </p:spPr>
      </p:sp>
      <p:sp>
        <p:nvSpPr>
          <p:cNvPr id="40" name="Shape 37"/>
          <p:cNvSpPr/>
          <p:nvPr/>
        </p:nvSpPr>
        <p:spPr>
          <a:xfrm flipH="1">
            <a:off x="2539738" y="2623137"/>
            <a:ext cx="167878" cy="96878"/>
          </a:xfrm>
          <a:prstGeom prst="line">
            <a:avLst/>
          </a:prstGeom>
          <a:noFill/>
          <a:ln w="19050">
            <a:solidFill>
              <a:srgbClr val="A7B4BA"/>
            </a:solidFill>
            <a:prstDash val="solid"/>
          </a:ln>
        </p:spPr>
      </p:sp>
      <p:sp>
        <p:nvSpPr>
          <p:cNvPr id="41" name="Shape 38"/>
          <p:cNvSpPr/>
          <p:nvPr/>
        </p:nvSpPr>
        <p:spPr>
          <a:xfrm flipH="1">
            <a:off x="2707616" y="2472034"/>
            <a:ext cx="121585" cy="151103"/>
          </a:xfrm>
          <a:prstGeom prst="line">
            <a:avLst/>
          </a:prstGeom>
          <a:noFill/>
          <a:ln w="19050">
            <a:solidFill>
              <a:srgbClr val="A7B4BA"/>
            </a:solidFill>
            <a:prstDash val="solid"/>
          </a:ln>
        </p:spPr>
      </p:sp>
      <p:sp>
        <p:nvSpPr>
          <p:cNvPr id="42" name="Shape 39"/>
          <p:cNvSpPr/>
          <p:nvPr/>
        </p:nvSpPr>
        <p:spPr>
          <a:xfrm flipH="1">
            <a:off x="2829201" y="2287251"/>
            <a:ext cx="58777" cy="184783"/>
          </a:xfrm>
          <a:prstGeom prst="line">
            <a:avLst/>
          </a:prstGeom>
          <a:noFill/>
          <a:ln w="19050">
            <a:solidFill>
              <a:srgbClr val="A7B4BA"/>
            </a:solidFill>
            <a:prstDash val="solid"/>
          </a:ln>
        </p:spPr>
      </p:sp>
      <p:sp>
        <p:nvSpPr>
          <p:cNvPr id="43" name="Shape 40"/>
          <p:cNvSpPr/>
          <p:nvPr/>
        </p:nvSpPr>
        <p:spPr>
          <a:xfrm>
            <a:off x="2876014" y="2093756"/>
            <a:ext cx="11963" cy="193495"/>
          </a:xfrm>
          <a:prstGeom prst="line">
            <a:avLst/>
          </a:prstGeom>
          <a:noFill/>
          <a:ln w="19050">
            <a:solidFill>
              <a:srgbClr val="A7B4BA"/>
            </a:solidFill>
            <a:prstDash val="solid"/>
          </a:ln>
        </p:spPr>
      </p:sp>
      <p:sp>
        <p:nvSpPr>
          <p:cNvPr id="44" name="Shape 41"/>
          <p:cNvSpPr/>
          <p:nvPr/>
        </p:nvSpPr>
        <p:spPr>
          <a:xfrm>
            <a:off x="2795001" y="1917556"/>
            <a:ext cx="81013" cy="176200"/>
          </a:xfrm>
          <a:prstGeom prst="line">
            <a:avLst/>
          </a:prstGeom>
          <a:noFill/>
          <a:ln w="19050">
            <a:solidFill>
              <a:srgbClr val="A7B4BA"/>
            </a:solidFill>
            <a:prstDash val="solid"/>
          </a:ln>
        </p:spPr>
      </p:sp>
      <p:sp>
        <p:nvSpPr>
          <p:cNvPr id="45" name="Shape 42"/>
          <p:cNvSpPr/>
          <p:nvPr/>
        </p:nvSpPr>
        <p:spPr>
          <a:xfrm>
            <a:off x="2655861" y="1782577"/>
            <a:ext cx="139140" cy="134978"/>
          </a:xfrm>
          <a:prstGeom prst="line">
            <a:avLst/>
          </a:prstGeom>
          <a:noFill/>
          <a:ln w="19050">
            <a:solidFill>
              <a:srgbClr val="A7B4BA"/>
            </a:solidFill>
            <a:prstDash val="solid"/>
          </a:ln>
        </p:spPr>
      </p:sp>
      <p:sp>
        <p:nvSpPr>
          <p:cNvPr id="46" name="Shape 43"/>
          <p:cNvSpPr/>
          <p:nvPr/>
        </p:nvSpPr>
        <p:spPr>
          <a:xfrm flipH="1">
            <a:off x="2347023" y="2720014"/>
            <a:ext cx="192715" cy="29778"/>
          </a:xfrm>
          <a:prstGeom prst="line">
            <a:avLst/>
          </a:prstGeom>
          <a:noFill/>
          <a:ln w="19050">
            <a:solidFill>
              <a:srgbClr val="0F4C5C"/>
            </a:solidFill>
            <a:prstDash val="solid"/>
          </a:ln>
        </p:spPr>
      </p:sp>
      <p:sp>
        <p:nvSpPr>
          <p:cNvPr id="47" name="Shape 44"/>
          <p:cNvSpPr/>
          <p:nvPr/>
        </p:nvSpPr>
        <p:spPr>
          <a:xfrm flipH="1">
            <a:off x="2376802" y="2912859"/>
            <a:ext cx="192715" cy="29778"/>
          </a:xfrm>
          <a:prstGeom prst="line">
            <a:avLst/>
          </a:prstGeom>
          <a:noFill/>
          <a:ln w="19050">
            <a:solidFill>
              <a:srgbClr val="0F4C5C"/>
            </a:solidFill>
            <a:prstDash val="solid"/>
          </a:ln>
        </p:spPr>
      </p:sp>
      <p:sp>
        <p:nvSpPr>
          <p:cNvPr id="48" name="Shape 45"/>
          <p:cNvSpPr/>
          <p:nvPr/>
        </p:nvSpPr>
        <p:spPr>
          <a:xfrm flipH="1">
            <a:off x="2406580" y="3105574"/>
            <a:ext cx="192715" cy="29778"/>
          </a:xfrm>
          <a:prstGeom prst="line">
            <a:avLst/>
          </a:prstGeom>
          <a:noFill/>
          <a:ln w="19050">
            <a:solidFill>
              <a:srgbClr val="0F4C5C"/>
            </a:solidFill>
            <a:prstDash val="solid"/>
          </a:ln>
        </p:spPr>
      </p:sp>
      <p:sp>
        <p:nvSpPr>
          <p:cNvPr id="49" name="Shape 46"/>
          <p:cNvSpPr/>
          <p:nvPr/>
        </p:nvSpPr>
        <p:spPr>
          <a:xfrm flipH="1">
            <a:off x="2436359" y="3298419"/>
            <a:ext cx="192715" cy="29778"/>
          </a:xfrm>
          <a:prstGeom prst="line">
            <a:avLst/>
          </a:prstGeom>
          <a:noFill/>
          <a:ln w="19050">
            <a:solidFill>
              <a:srgbClr val="0F4C5C"/>
            </a:solidFill>
            <a:prstDash val="solid"/>
          </a:ln>
        </p:spPr>
      </p:sp>
      <p:sp>
        <p:nvSpPr>
          <p:cNvPr id="50" name="Shape 47"/>
          <p:cNvSpPr/>
          <p:nvPr/>
        </p:nvSpPr>
        <p:spPr>
          <a:xfrm flipH="1">
            <a:off x="2466137" y="3491134"/>
            <a:ext cx="192715" cy="29778"/>
          </a:xfrm>
          <a:prstGeom prst="line">
            <a:avLst/>
          </a:prstGeom>
          <a:noFill/>
          <a:ln w="19050">
            <a:solidFill>
              <a:srgbClr val="0F4C5C"/>
            </a:solidFill>
            <a:prstDash val="solid"/>
          </a:ln>
        </p:spPr>
      </p:sp>
      <p:sp>
        <p:nvSpPr>
          <p:cNvPr id="51" name="Shape 48"/>
          <p:cNvSpPr/>
          <p:nvPr/>
        </p:nvSpPr>
        <p:spPr>
          <a:xfrm flipH="1">
            <a:off x="2495916" y="3683849"/>
            <a:ext cx="192715" cy="29778"/>
          </a:xfrm>
          <a:prstGeom prst="line">
            <a:avLst/>
          </a:prstGeom>
          <a:noFill/>
          <a:ln w="19050">
            <a:solidFill>
              <a:srgbClr val="0F4C5C"/>
            </a:solidFill>
            <a:prstDash val="solid"/>
          </a:ln>
        </p:spPr>
      </p:sp>
      <p:sp>
        <p:nvSpPr>
          <p:cNvPr id="52" name="Shape 49"/>
          <p:cNvSpPr/>
          <p:nvPr/>
        </p:nvSpPr>
        <p:spPr>
          <a:xfrm flipH="1">
            <a:off x="2525564" y="3876693"/>
            <a:ext cx="192845" cy="29778"/>
          </a:xfrm>
          <a:prstGeom prst="line">
            <a:avLst/>
          </a:prstGeom>
          <a:noFill/>
          <a:ln w="19050">
            <a:solidFill>
              <a:srgbClr val="0F4C5C"/>
            </a:solidFill>
            <a:prstDash val="solid"/>
          </a:ln>
        </p:spPr>
      </p:sp>
      <p:sp>
        <p:nvSpPr>
          <p:cNvPr id="53" name="Shape 50"/>
          <p:cNvSpPr/>
          <p:nvPr/>
        </p:nvSpPr>
        <p:spPr>
          <a:xfrm flipH="1">
            <a:off x="2555343" y="4069408"/>
            <a:ext cx="192845" cy="29778"/>
          </a:xfrm>
          <a:prstGeom prst="line">
            <a:avLst/>
          </a:prstGeom>
          <a:noFill/>
          <a:ln w="19050">
            <a:solidFill>
              <a:srgbClr val="0F4C5C"/>
            </a:solidFill>
            <a:prstDash val="solid"/>
          </a:ln>
        </p:spPr>
      </p:sp>
      <p:sp>
        <p:nvSpPr>
          <p:cNvPr id="54" name="Shape 51"/>
          <p:cNvSpPr/>
          <p:nvPr/>
        </p:nvSpPr>
        <p:spPr>
          <a:xfrm flipH="1">
            <a:off x="2585121" y="4262253"/>
            <a:ext cx="192845" cy="29778"/>
          </a:xfrm>
          <a:prstGeom prst="line">
            <a:avLst/>
          </a:prstGeom>
          <a:noFill/>
          <a:ln w="19050">
            <a:solidFill>
              <a:srgbClr val="0F4C5C"/>
            </a:solidFill>
            <a:prstDash val="solid"/>
          </a:ln>
        </p:spPr>
      </p:sp>
      <p:sp>
        <p:nvSpPr>
          <p:cNvPr id="55" name="Shape 52"/>
          <p:cNvSpPr/>
          <p:nvPr/>
        </p:nvSpPr>
        <p:spPr>
          <a:xfrm flipH="1">
            <a:off x="2614900" y="4454968"/>
            <a:ext cx="192845" cy="29778"/>
          </a:xfrm>
          <a:prstGeom prst="line">
            <a:avLst/>
          </a:prstGeom>
          <a:noFill/>
          <a:ln w="19050">
            <a:solidFill>
              <a:srgbClr val="0F4C5C"/>
            </a:solidFill>
            <a:prstDash val="solid"/>
          </a:ln>
        </p:spPr>
      </p:sp>
      <p:sp>
        <p:nvSpPr>
          <p:cNvPr id="56" name="Text 53"/>
          <p:cNvSpPr/>
          <p:nvPr/>
        </p:nvSpPr>
        <p:spPr>
          <a:xfrm>
            <a:off x="2182981" y="1600200"/>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57" name="Text 54"/>
          <p:cNvSpPr/>
          <p:nvPr/>
        </p:nvSpPr>
        <p:spPr>
          <a:xfrm>
            <a:off x="2000149" y="1664438"/>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58" name="Text 55"/>
          <p:cNvSpPr/>
          <p:nvPr/>
        </p:nvSpPr>
        <p:spPr>
          <a:xfrm>
            <a:off x="1852817" y="1790444"/>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59" name="Text 56"/>
          <p:cNvSpPr/>
          <p:nvPr/>
        </p:nvSpPr>
        <p:spPr>
          <a:xfrm>
            <a:off x="1760881" y="1961183"/>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0" name="Text 57"/>
          <p:cNvSpPr/>
          <p:nvPr/>
        </p:nvSpPr>
        <p:spPr>
          <a:xfrm>
            <a:off x="1736824" y="2153638"/>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1" name="Text 58"/>
          <p:cNvSpPr/>
          <p:nvPr/>
        </p:nvSpPr>
        <p:spPr>
          <a:xfrm>
            <a:off x="1783898" y="2341671"/>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2" name="Text 59"/>
          <p:cNvSpPr/>
          <p:nvPr/>
        </p:nvSpPr>
        <p:spPr>
          <a:xfrm>
            <a:off x="1895599" y="2500056"/>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3" name="Text 60"/>
          <p:cNvSpPr/>
          <p:nvPr/>
        </p:nvSpPr>
        <p:spPr>
          <a:xfrm>
            <a:off x="2057105" y="2607467"/>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4" name="Text 61"/>
          <p:cNvSpPr/>
          <p:nvPr/>
        </p:nvSpPr>
        <p:spPr>
          <a:xfrm>
            <a:off x="2246439" y="2649209"/>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5" name="Text 62"/>
          <p:cNvSpPr/>
          <p:nvPr/>
        </p:nvSpPr>
        <p:spPr>
          <a:xfrm>
            <a:off x="2276218" y="2842054"/>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6" name="Text 63"/>
          <p:cNvSpPr/>
          <p:nvPr/>
        </p:nvSpPr>
        <p:spPr>
          <a:xfrm>
            <a:off x="2305996" y="3034768"/>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7" name="Text 64"/>
          <p:cNvSpPr/>
          <p:nvPr/>
        </p:nvSpPr>
        <p:spPr>
          <a:xfrm>
            <a:off x="2335775" y="3227613"/>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8" name="Text 65"/>
          <p:cNvSpPr/>
          <p:nvPr/>
        </p:nvSpPr>
        <p:spPr>
          <a:xfrm>
            <a:off x="2365553" y="3420328"/>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9" name="Text 66"/>
          <p:cNvSpPr/>
          <p:nvPr/>
        </p:nvSpPr>
        <p:spPr>
          <a:xfrm>
            <a:off x="2395332" y="3613043"/>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0" name="Text 67"/>
          <p:cNvSpPr/>
          <p:nvPr/>
        </p:nvSpPr>
        <p:spPr>
          <a:xfrm>
            <a:off x="2424980" y="3805888"/>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1" name="Text 68"/>
          <p:cNvSpPr/>
          <p:nvPr/>
        </p:nvSpPr>
        <p:spPr>
          <a:xfrm>
            <a:off x="2454759" y="3998603"/>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2" name="Text 69"/>
          <p:cNvSpPr/>
          <p:nvPr/>
        </p:nvSpPr>
        <p:spPr>
          <a:xfrm>
            <a:off x="2484537" y="4191448"/>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3" name="Text 70"/>
          <p:cNvSpPr/>
          <p:nvPr/>
        </p:nvSpPr>
        <p:spPr>
          <a:xfrm>
            <a:off x="2514316" y="4384163"/>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4" name="Text 71"/>
          <p:cNvSpPr/>
          <p:nvPr/>
        </p:nvSpPr>
        <p:spPr>
          <a:xfrm>
            <a:off x="2390260" y="4548009"/>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5" name="Text 72"/>
          <p:cNvSpPr/>
          <p:nvPr/>
        </p:nvSpPr>
        <p:spPr>
          <a:xfrm>
            <a:off x="2419519" y="4751517"/>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6" name="Text 73"/>
          <p:cNvSpPr/>
          <p:nvPr/>
        </p:nvSpPr>
        <p:spPr>
          <a:xfrm>
            <a:off x="2584666" y="4873752"/>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7" name="Text 74"/>
          <p:cNvSpPr/>
          <p:nvPr/>
        </p:nvSpPr>
        <p:spPr>
          <a:xfrm>
            <a:off x="2787783" y="4842413"/>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8" name="Text 75"/>
          <p:cNvSpPr/>
          <p:nvPr/>
        </p:nvSpPr>
        <p:spPr>
          <a:xfrm>
            <a:off x="2908328" y="4675966"/>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9" name="Text 76"/>
          <p:cNvSpPr/>
          <p:nvPr/>
        </p:nvSpPr>
        <p:spPr>
          <a:xfrm>
            <a:off x="2874778" y="4473238"/>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0" name="Text 77"/>
          <p:cNvSpPr/>
          <p:nvPr/>
        </p:nvSpPr>
        <p:spPr>
          <a:xfrm>
            <a:off x="2707160" y="4354384"/>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1" name="Text 78"/>
          <p:cNvSpPr/>
          <p:nvPr/>
        </p:nvSpPr>
        <p:spPr>
          <a:xfrm>
            <a:off x="2677382" y="4161669"/>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2" name="Text 79"/>
          <p:cNvSpPr/>
          <p:nvPr/>
        </p:nvSpPr>
        <p:spPr>
          <a:xfrm>
            <a:off x="2647604" y="3968824"/>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3" name="Text 80"/>
          <p:cNvSpPr/>
          <p:nvPr/>
        </p:nvSpPr>
        <p:spPr>
          <a:xfrm>
            <a:off x="2617825" y="3776109"/>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4" name="Text 81"/>
          <p:cNvSpPr/>
          <p:nvPr/>
        </p:nvSpPr>
        <p:spPr>
          <a:xfrm>
            <a:off x="2588047" y="3583265"/>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5" name="Text 82"/>
          <p:cNvSpPr/>
          <p:nvPr/>
        </p:nvSpPr>
        <p:spPr>
          <a:xfrm>
            <a:off x="2558268" y="3390550"/>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6" name="Text 83"/>
          <p:cNvSpPr/>
          <p:nvPr/>
        </p:nvSpPr>
        <p:spPr>
          <a:xfrm>
            <a:off x="2528490" y="3197835"/>
            <a:ext cx="201168" cy="201168"/>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7" name="Text 84"/>
          <p:cNvSpPr/>
          <p:nvPr/>
        </p:nvSpPr>
        <p:spPr>
          <a:xfrm>
            <a:off x="2498711" y="3004990"/>
            <a:ext cx="201168" cy="201168"/>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8" name="Text 85"/>
          <p:cNvSpPr/>
          <p:nvPr/>
        </p:nvSpPr>
        <p:spPr>
          <a:xfrm>
            <a:off x="2468933" y="2812275"/>
            <a:ext cx="201168" cy="201168"/>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9" name="Text 86"/>
          <p:cNvSpPr/>
          <p:nvPr/>
        </p:nvSpPr>
        <p:spPr>
          <a:xfrm>
            <a:off x="2439154" y="2619430"/>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0" name="Text 87"/>
          <p:cNvSpPr/>
          <p:nvPr/>
        </p:nvSpPr>
        <p:spPr>
          <a:xfrm>
            <a:off x="2607032" y="2522553"/>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1" name="Text 88"/>
          <p:cNvSpPr/>
          <p:nvPr/>
        </p:nvSpPr>
        <p:spPr>
          <a:xfrm>
            <a:off x="2728617" y="2371450"/>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2" name="Text 89"/>
          <p:cNvSpPr/>
          <p:nvPr/>
        </p:nvSpPr>
        <p:spPr>
          <a:xfrm>
            <a:off x="2787393" y="2186667"/>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3" name="Text 90"/>
          <p:cNvSpPr/>
          <p:nvPr/>
        </p:nvSpPr>
        <p:spPr>
          <a:xfrm>
            <a:off x="2775430" y="1993172"/>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4" name="Text 91"/>
          <p:cNvSpPr/>
          <p:nvPr/>
        </p:nvSpPr>
        <p:spPr>
          <a:xfrm>
            <a:off x="2694417" y="1816972"/>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5" name="Text 92"/>
          <p:cNvSpPr/>
          <p:nvPr/>
        </p:nvSpPr>
        <p:spPr>
          <a:xfrm>
            <a:off x="2555277" y="1681993"/>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6" name="Shape 93"/>
          <p:cNvSpPr/>
          <p:nvPr/>
        </p:nvSpPr>
        <p:spPr>
          <a:xfrm>
            <a:off x="594360" y="5257800"/>
            <a:ext cx="164592" cy="164592"/>
          </a:xfrm>
          <a:prstGeom prst="ellipse">
            <a:avLst/>
          </a:prstGeom>
          <a:solidFill>
            <a:srgbClr val="E36414"/>
          </a:solidFill>
          <a:ln w="12700">
            <a:solidFill>
              <a:srgbClr val="E36414"/>
            </a:solidFill>
            <a:prstDash val="solid"/>
          </a:ln>
        </p:spPr>
      </p:sp>
      <p:sp>
        <p:nvSpPr>
          <p:cNvPr id="97" name="Text 94"/>
          <p:cNvSpPr txBox="1"/>
          <p:nvPr/>
        </p:nvSpPr>
        <p:spPr>
          <a:xfrm>
            <a:off x="822960" y="5212080"/>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toehold（一本鎖）</a:t>
            </a:r>
            <a:endParaRPr lang="en-US" sz="1100" dirty="0"/>
          </a:p>
        </p:txBody>
      </p:sp>
      <p:sp>
        <p:nvSpPr>
          <p:cNvPr id="98" name="Shape 95"/>
          <p:cNvSpPr/>
          <p:nvPr/>
        </p:nvSpPr>
        <p:spPr>
          <a:xfrm>
            <a:off x="594360" y="5495544"/>
            <a:ext cx="164592" cy="164592"/>
          </a:xfrm>
          <a:prstGeom prst="ellipse">
            <a:avLst/>
          </a:prstGeom>
          <a:solidFill>
            <a:srgbClr val="0F4C5C"/>
          </a:solidFill>
          <a:ln w="12700">
            <a:solidFill>
              <a:srgbClr val="0F4C5C"/>
            </a:solidFill>
            <a:prstDash val="solid"/>
          </a:ln>
        </p:spPr>
      </p:sp>
      <p:sp>
        <p:nvSpPr>
          <p:cNvPr id="99" name="Text 96"/>
          <p:cNvSpPr txBox="1"/>
          <p:nvPr/>
        </p:nvSpPr>
        <p:spPr>
          <a:xfrm>
            <a:off x="822960" y="5449824"/>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ステム</a:t>
            </a:r>
            <a:endParaRPr lang="en-US" sz="1100" dirty="0"/>
          </a:p>
        </p:txBody>
      </p:sp>
      <p:sp>
        <p:nvSpPr>
          <p:cNvPr id="100" name="Shape 97"/>
          <p:cNvSpPr/>
          <p:nvPr/>
        </p:nvSpPr>
        <p:spPr>
          <a:xfrm>
            <a:off x="594360" y="5733288"/>
            <a:ext cx="164592" cy="164592"/>
          </a:xfrm>
          <a:prstGeom prst="ellipse">
            <a:avLst/>
          </a:prstGeom>
          <a:solidFill>
            <a:srgbClr val="009E73"/>
          </a:solidFill>
          <a:ln w="12700">
            <a:solidFill>
              <a:srgbClr val="009E73"/>
            </a:solidFill>
            <a:prstDash val="solid"/>
          </a:ln>
        </p:spPr>
      </p:sp>
      <p:sp>
        <p:nvSpPr>
          <p:cNvPr id="101" name="Text 98"/>
          <p:cNvSpPr txBox="1"/>
          <p:nvPr/>
        </p:nvSpPr>
        <p:spPr>
          <a:xfrm>
            <a:off x="822960" y="5687568"/>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RBS（ループ内に隠す）</a:t>
            </a:r>
            <a:endParaRPr lang="en-US" sz="1100" dirty="0"/>
          </a:p>
        </p:txBody>
      </p:sp>
      <p:sp>
        <p:nvSpPr>
          <p:cNvPr id="102" name="Shape 99"/>
          <p:cNvSpPr/>
          <p:nvPr/>
        </p:nvSpPr>
        <p:spPr>
          <a:xfrm>
            <a:off x="594360" y="5971032"/>
            <a:ext cx="164592" cy="164592"/>
          </a:xfrm>
          <a:prstGeom prst="ellipse">
            <a:avLst/>
          </a:prstGeom>
          <a:solidFill>
            <a:srgbClr val="E69F00"/>
          </a:solidFill>
          <a:ln w="12700">
            <a:solidFill>
              <a:srgbClr val="E69F00"/>
            </a:solidFill>
            <a:prstDash val="solid"/>
          </a:ln>
        </p:spPr>
      </p:sp>
      <p:sp>
        <p:nvSpPr>
          <p:cNvPr id="103" name="Text 100"/>
          <p:cNvSpPr txBox="1"/>
          <p:nvPr/>
        </p:nvSpPr>
        <p:spPr>
          <a:xfrm>
            <a:off x="822960" y="5925312"/>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AUG（ステム内）</a:t>
            </a:r>
            <a:endParaRPr lang="en-US" sz="1100" dirty="0"/>
          </a:p>
        </p:txBody>
      </p:sp>
      <p:sp>
        <p:nvSpPr>
          <p:cNvPr id="104" name="Shape 101"/>
          <p:cNvSpPr/>
          <p:nvPr/>
        </p:nvSpPr>
        <p:spPr>
          <a:xfrm>
            <a:off x="594360" y="6208776"/>
            <a:ext cx="164592" cy="164592"/>
          </a:xfrm>
          <a:prstGeom prst="ellipse">
            <a:avLst/>
          </a:prstGeom>
          <a:solidFill>
            <a:srgbClr val="9AA8AE"/>
          </a:solidFill>
          <a:ln w="12700">
            <a:solidFill>
              <a:srgbClr val="9AA8AE"/>
            </a:solidFill>
            <a:prstDash val="solid"/>
          </a:ln>
        </p:spPr>
      </p:sp>
      <p:sp>
        <p:nvSpPr>
          <p:cNvPr id="105" name="Text 102"/>
          <p:cNvSpPr txBox="1"/>
          <p:nvPr/>
        </p:nvSpPr>
        <p:spPr>
          <a:xfrm>
            <a:off x="822960" y="6163056"/>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下流の遺伝子</a:t>
            </a:r>
            <a:endParaRPr lang="en-US" sz="1100" dirty="0"/>
          </a:p>
        </p:txBody>
      </p:sp>
      <p:sp>
        <p:nvSpPr>
          <p:cNvPr id="106" name="Text 103"/>
          <p:cNvSpPr txBox="1"/>
          <p:nvPr/>
        </p:nvSpPr>
        <p:spPr>
          <a:xfrm>
            <a:off x="4572000" y="1143000"/>
            <a:ext cx="41148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ON：トリガーRNAが結合して開く</a:t>
            </a:r>
            <a:endParaRPr lang="en-US" sz="1600" dirty="0"/>
          </a:p>
        </p:txBody>
      </p:sp>
      <p:sp>
        <p:nvSpPr>
          <p:cNvPr id="107" name="Shape 104"/>
          <p:cNvSpPr/>
          <p:nvPr/>
        </p:nvSpPr>
        <p:spPr>
          <a:xfrm>
            <a:off x="4572000" y="2194560"/>
            <a:ext cx="146304" cy="146304"/>
          </a:xfrm>
          <a:prstGeom prst="ellipse">
            <a:avLst/>
          </a:prstGeom>
          <a:solidFill>
            <a:srgbClr val="8E44AD"/>
          </a:solidFill>
          <a:ln w="12700">
            <a:solidFill>
              <a:srgbClr val="8E44AD"/>
            </a:solidFill>
            <a:prstDash val="solid"/>
          </a:ln>
        </p:spPr>
      </p:sp>
      <p:sp>
        <p:nvSpPr>
          <p:cNvPr id="108" name="Shape 105"/>
          <p:cNvSpPr/>
          <p:nvPr/>
        </p:nvSpPr>
        <p:spPr>
          <a:xfrm>
            <a:off x="4745736" y="2194560"/>
            <a:ext cx="146304" cy="146304"/>
          </a:xfrm>
          <a:prstGeom prst="ellipse">
            <a:avLst/>
          </a:prstGeom>
          <a:solidFill>
            <a:srgbClr val="8E44AD"/>
          </a:solidFill>
          <a:ln w="12700">
            <a:solidFill>
              <a:srgbClr val="8E44AD"/>
            </a:solidFill>
            <a:prstDash val="solid"/>
          </a:ln>
        </p:spPr>
      </p:sp>
      <p:sp>
        <p:nvSpPr>
          <p:cNvPr id="109" name="Shape 106"/>
          <p:cNvSpPr/>
          <p:nvPr/>
        </p:nvSpPr>
        <p:spPr>
          <a:xfrm>
            <a:off x="4919472" y="2194560"/>
            <a:ext cx="146304" cy="146304"/>
          </a:xfrm>
          <a:prstGeom prst="ellipse">
            <a:avLst/>
          </a:prstGeom>
          <a:solidFill>
            <a:srgbClr val="8E44AD"/>
          </a:solidFill>
          <a:ln w="12700">
            <a:solidFill>
              <a:srgbClr val="8E44AD"/>
            </a:solidFill>
            <a:prstDash val="solid"/>
          </a:ln>
        </p:spPr>
      </p:sp>
      <p:sp>
        <p:nvSpPr>
          <p:cNvPr id="110" name="Shape 107"/>
          <p:cNvSpPr/>
          <p:nvPr/>
        </p:nvSpPr>
        <p:spPr>
          <a:xfrm>
            <a:off x="5093208" y="2194560"/>
            <a:ext cx="146304" cy="146304"/>
          </a:xfrm>
          <a:prstGeom prst="ellipse">
            <a:avLst/>
          </a:prstGeom>
          <a:solidFill>
            <a:srgbClr val="8E44AD"/>
          </a:solidFill>
          <a:ln w="12700">
            <a:solidFill>
              <a:srgbClr val="8E44AD"/>
            </a:solidFill>
            <a:prstDash val="solid"/>
          </a:ln>
        </p:spPr>
      </p:sp>
      <p:sp>
        <p:nvSpPr>
          <p:cNvPr id="111" name="Shape 108"/>
          <p:cNvSpPr/>
          <p:nvPr/>
        </p:nvSpPr>
        <p:spPr>
          <a:xfrm>
            <a:off x="5266944" y="2194560"/>
            <a:ext cx="146304" cy="146304"/>
          </a:xfrm>
          <a:prstGeom prst="ellipse">
            <a:avLst/>
          </a:prstGeom>
          <a:solidFill>
            <a:srgbClr val="8E44AD"/>
          </a:solidFill>
          <a:ln w="12700">
            <a:solidFill>
              <a:srgbClr val="8E44AD"/>
            </a:solidFill>
            <a:prstDash val="solid"/>
          </a:ln>
        </p:spPr>
      </p:sp>
      <p:sp>
        <p:nvSpPr>
          <p:cNvPr id="112" name="Shape 109"/>
          <p:cNvSpPr/>
          <p:nvPr/>
        </p:nvSpPr>
        <p:spPr>
          <a:xfrm>
            <a:off x="5440680" y="2194560"/>
            <a:ext cx="146304" cy="146304"/>
          </a:xfrm>
          <a:prstGeom prst="ellipse">
            <a:avLst/>
          </a:prstGeom>
          <a:solidFill>
            <a:srgbClr val="8E44AD"/>
          </a:solidFill>
          <a:ln w="12700">
            <a:solidFill>
              <a:srgbClr val="8E44AD"/>
            </a:solidFill>
            <a:prstDash val="solid"/>
          </a:ln>
        </p:spPr>
      </p:sp>
      <p:sp>
        <p:nvSpPr>
          <p:cNvPr id="113" name="Shape 110"/>
          <p:cNvSpPr/>
          <p:nvPr/>
        </p:nvSpPr>
        <p:spPr>
          <a:xfrm>
            <a:off x="5614416" y="2194560"/>
            <a:ext cx="146304" cy="146304"/>
          </a:xfrm>
          <a:prstGeom prst="ellipse">
            <a:avLst/>
          </a:prstGeom>
          <a:solidFill>
            <a:srgbClr val="8E44AD"/>
          </a:solidFill>
          <a:ln w="12700">
            <a:solidFill>
              <a:srgbClr val="8E44AD"/>
            </a:solidFill>
            <a:prstDash val="solid"/>
          </a:ln>
        </p:spPr>
      </p:sp>
      <p:sp>
        <p:nvSpPr>
          <p:cNvPr id="114" name="Shape 111"/>
          <p:cNvSpPr/>
          <p:nvPr/>
        </p:nvSpPr>
        <p:spPr>
          <a:xfrm>
            <a:off x="5788152" y="2194560"/>
            <a:ext cx="146304" cy="146304"/>
          </a:xfrm>
          <a:prstGeom prst="ellipse">
            <a:avLst/>
          </a:prstGeom>
          <a:solidFill>
            <a:srgbClr val="8E44AD"/>
          </a:solidFill>
          <a:ln w="12700">
            <a:solidFill>
              <a:srgbClr val="8E44AD"/>
            </a:solidFill>
            <a:prstDash val="solid"/>
          </a:ln>
        </p:spPr>
      </p:sp>
      <p:sp>
        <p:nvSpPr>
          <p:cNvPr id="115" name="Shape 112"/>
          <p:cNvSpPr/>
          <p:nvPr/>
        </p:nvSpPr>
        <p:spPr>
          <a:xfrm>
            <a:off x="5961888" y="2194560"/>
            <a:ext cx="146304" cy="146304"/>
          </a:xfrm>
          <a:prstGeom prst="ellipse">
            <a:avLst/>
          </a:prstGeom>
          <a:solidFill>
            <a:srgbClr val="8E44AD"/>
          </a:solidFill>
          <a:ln w="12700">
            <a:solidFill>
              <a:srgbClr val="8E44AD"/>
            </a:solidFill>
            <a:prstDash val="solid"/>
          </a:ln>
        </p:spPr>
      </p:sp>
      <p:sp>
        <p:nvSpPr>
          <p:cNvPr id="116" name="Shape 113"/>
          <p:cNvSpPr/>
          <p:nvPr/>
        </p:nvSpPr>
        <p:spPr>
          <a:xfrm>
            <a:off x="6135624" y="2194560"/>
            <a:ext cx="146304" cy="146304"/>
          </a:xfrm>
          <a:prstGeom prst="ellipse">
            <a:avLst/>
          </a:prstGeom>
          <a:solidFill>
            <a:srgbClr val="8E44AD"/>
          </a:solidFill>
          <a:ln w="12700">
            <a:solidFill>
              <a:srgbClr val="8E44AD"/>
            </a:solidFill>
            <a:prstDash val="solid"/>
          </a:ln>
        </p:spPr>
      </p:sp>
      <p:sp>
        <p:nvSpPr>
          <p:cNvPr id="117" name="Shape 114"/>
          <p:cNvSpPr/>
          <p:nvPr/>
        </p:nvSpPr>
        <p:spPr>
          <a:xfrm>
            <a:off x="6309360" y="2194560"/>
            <a:ext cx="146304" cy="146304"/>
          </a:xfrm>
          <a:prstGeom prst="ellipse">
            <a:avLst/>
          </a:prstGeom>
          <a:solidFill>
            <a:srgbClr val="8E44AD"/>
          </a:solidFill>
          <a:ln w="12700">
            <a:solidFill>
              <a:srgbClr val="8E44AD"/>
            </a:solidFill>
            <a:prstDash val="solid"/>
          </a:ln>
        </p:spPr>
      </p:sp>
      <p:sp>
        <p:nvSpPr>
          <p:cNvPr id="118" name="Shape 115"/>
          <p:cNvSpPr/>
          <p:nvPr/>
        </p:nvSpPr>
        <p:spPr>
          <a:xfrm>
            <a:off x="6483096" y="2194560"/>
            <a:ext cx="146304" cy="146304"/>
          </a:xfrm>
          <a:prstGeom prst="ellipse">
            <a:avLst/>
          </a:prstGeom>
          <a:solidFill>
            <a:srgbClr val="8E44AD"/>
          </a:solidFill>
          <a:ln w="12700">
            <a:solidFill>
              <a:srgbClr val="8E44AD"/>
            </a:solidFill>
            <a:prstDash val="solid"/>
          </a:ln>
        </p:spPr>
      </p:sp>
      <p:sp>
        <p:nvSpPr>
          <p:cNvPr id="119" name="Shape 116"/>
          <p:cNvSpPr/>
          <p:nvPr/>
        </p:nvSpPr>
        <p:spPr>
          <a:xfrm>
            <a:off x="6656832" y="2194560"/>
            <a:ext cx="146304" cy="146304"/>
          </a:xfrm>
          <a:prstGeom prst="ellipse">
            <a:avLst/>
          </a:prstGeom>
          <a:solidFill>
            <a:srgbClr val="8E44AD"/>
          </a:solidFill>
          <a:ln w="12700">
            <a:solidFill>
              <a:srgbClr val="8E44AD"/>
            </a:solidFill>
            <a:prstDash val="solid"/>
          </a:ln>
        </p:spPr>
      </p:sp>
      <p:sp>
        <p:nvSpPr>
          <p:cNvPr id="120" name="Shape 117"/>
          <p:cNvSpPr/>
          <p:nvPr/>
        </p:nvSpPr>
        <p:spPr>
          <a:xfrm>
            <a:off x="6830568" y="2194560"/>
            <a:ext cx="146304" cy="146304"/>
          </a:xfrm>
          <a:prstGeom prst="ellipse">
            <a:avLst/>
          </a:prstGeom>
          <a:solidFill>
            <a:srgbClr val="8E44AD"/>
          </a:solidFill>
          <a:ln w="12700">
            <a:solidFill>
              <a:srgbClr val="8E44AD"/>
            </a:solidFill>
            <a:prstDash val="solid"/>
          </a:ln>
        </p:spPr>
      </p:sp>
      <p:sp>
        <p:nvSpPr>
          <p:cNvPr id="121" name="Shape 118"/>
          <p:cNvSpPr/>
          <p:nvPr/>
        </p:nvSpPr>
        <p:spPr>
          <a:xfrm>
            <a:off x="7004304" y="2194560"/>
            <a:ext cx="146304" cy="146304"/>
          </a:xfrm>
          <a:prstGeom prst="ellipse">
            <a:avLst/>
          </a:prstGeom>
          <a:solidFill>
            <a:srgbClr val="8E44AD"/>
          </a:solidFill>
          <a:ln w="12700">
            <a:solidFill>
              <a:srgbClr val="8E44AD"/>
            </a:solidFill>
            <a:prstDash val="solid"/>
          </a:ln>
        </p:spPr>
      </p:sp>
      <p:sp>
        <p:nvSpPr>
          <p:cNvPr id="122" name="Shape 119"/>
          <p:cNvSpPr/>
          <p:nvPr/>
        </p:nvSpPr>
        <p:spPr>
          <a:xfrm>
            <a:off x="7178040" y="2194560"/>
            <a:ext cx="146304" cy="146304"/>
          </a:xfrm>
          <a:prstGeom prst="ellipse">
            <a:avLst/>
          </a:prstGeom>
          <a:solidFill>
            <a:srgbClr val="8E44AD"/>
          </a:solidFill>
          <a:ln w="12700">
            <a:solidFill>
              <a:srgbClr val="8E44AD"/>
            </a:solidFill>
            <a:prstDash val="solid"/>
          </a:ln>
        </p:spPr>
      </p:sp>
      <p:sp>
        <p:nvSpPr>
          <p:cNvPr id="123" name="Shape 120"/>
          <p:cNvSpPr/>
          <p:nvPr/>
        </p:nvSpPr>
        <p:spPr>
          <a:xfrm>
            <a:off x="7351776" y="2194560"/>
            <a:ext cx="146304" cy="146304"/>
          </a:xfrm>
          <a:prstGeom prst="ellipse">
            <a:avLst/>
          </a:prstGeom>
          <a:solidFill>
            <a:srgbClr val="8E44AD"/>
          </a:solidFill>
          <a:ln w="12700">
            <a:solidFill>
              <a:srgbClr val="8E44AD"/>
            </a:solidFill>
            <a:prstDash val="solid"/>
          </a:ln>
        </p:spPr>
      </p:sp>
      <p:sp>
        <p:nvSpPr>
          <p:cNvPr id="124" name="Shape 121"/>
          <p:cNvSpPr/>
          <p:nvPr/>
        </p:nvSpPr>
        <p:spPr>
          <a:xfrm>
            <a:off x="7525512" y="2194560"/>
            <a:ext cx="146304" cy="146304"/>
          </a:xfrm>
          <a:prstGeom prst="ellipse">
            <a:avLst/>
          </a:prstGeom>
          <a:solidFill>
            <a:srgbClr val="8E44AD"/>
          </a:solidFill>
          <a:ln w="12700">
            <a:solidFill>
              <a:srgbClr val="8E44AD"/>
            </a:solidFill>
            <a:prstDash val="solid"/>
          </a:ln>
        </p:spPr>
      </p:sp>
      <p:sp>
        <p:nvSpPr>
          <p:cNvPr id="125" name="Shape 122"/>
          <p:cNvSpPr/>
          <p:nvPr/>
        </p:nvSpPr>
        <p:spPr>
          <a:xfrm>
            <a:off x="7699248" y="2194560"/>
            <a:ext cx="146304" cy="146304"/>
          </a:xfrm>
          <a:prstGeom prst="ellipse">
            <a:avLst/>
          </a:prstGeom>
          <a:solidFill>
            <a:srgbClr val="8E44AD"/>
          </a:solidFill>
          <a:ln w="12700">
            <a:solidFill>
              <a:srgbClr val="8E44AD"/>
            </a:solidFill>
            <a:prstDash val="solid"/>
          </a:ln>
        </p:spPr>
      </p:sp>
      <p:sp>
        <p:nvSpPr>
          <p:cNvPr id="126" name="Shape 123"/>
          <p:cNvSpPr/>
          <p:nvPr/>
        </p:nvSpPr>
        <p:spPr>
          <a:xfrm>
            <a:off x="7872984" y="2194560"/>
            <a:ext cx="146304" cy="146304"/>
          </a:xfrm>
          <a:prstGeom prst="ellipse">
            <a:avLst/>
          </a:prstGeom>
          <a:solidFill>
            <a:srgbClr val="8E44AD"/>
          </a:solidFill>
          <a:ln w="12700">
            <a:solidFill>
              <a:srgbClr val="8E44AD"/>
            </a:solidFill>
            <a:prstDash val="solid"/>
          </a:ln>
        </p:spPr>
      </p:sp>
      <p:sp>
        <p:nvSpPr>
          <p:cNvPr id="127" name="Shape 124"/>
          <p:cNvSpPr/>
          <p:nvPr/>
        </p:nvSpPr>
        <p:spPr>
          <a:xfrm>
            <a:off x="8046720" y="2194560"/>
            <a:ext cx="146304" cy="146304"/>
          </a:xfrm>
          <a:prstGeom prst="ellipse">
            <a:avLst/>
          </a:prstGeom>
          <a:solidFill>
            <a:srgbClr val="8E44AD"/>
          </a:solidFill>
          <a:ln w="12700">
            <a:solidFill>
              <a:srgbClr val="8E44AD"/>
            </a:solidFill>
            <a:prstDash val="solid"/>
          </a:ln>
        </p:spPr>
      </p:sp>
      <p:sp>
        <p:nvSpPr>
          <p:cNvPr id="128" name="Shape 125"/>
          <p:cNvSpPr/>
          <p:nvPr/>
        </p:nvSpPr>
        <p:spPr>
          <a:xfrm>
            <a:off x="8220456" y="2194560"/>
            <a:ext cx="146304" cy="146304"/>
          </a:xfrm>
          <a:prstGeom prst="ellipse">
            <a:avLst/>
          </a:prstGeom>
          <a:solidFill>
            <a:srgbClr val="8E44AD"/>
          </a:solidFill>
          <a:ln w="12700">
            <a:solidFill>
              <a:srgbClr val="8E44AD"/>
            </a:solidFill>
            <a:prstDash val="solid"/>
          </a:ln>
        </p:spPr>
      </p:sp>
      <p:sp>
        <p:nvSpPr>
          <p:cNvPr id="129" name="Text 126"/>
          <p:cNvSpPr txBox="1"/>
          <p:nvPr/>
        </p:nvSpPr>
        <p:spPr>
          <a:xfrm>
            <a:off x="4572000" y="1901952"/>
            <a:ext cx="1828800" cy="274320"/>
          </a:xfrm>
          <a:prstGeom prst="rect">
            <a:avLst/>
          </a:prstGeom>
          <a:noFill/>
          <a:ln/>
        </p:spPr>
        <p:txBody>
          <a:bodyPr wrap="square" lIns="0" tIns="0" rIns="0" bIns="0" rtlCol="0" anchor="t"/>
          <a:lstStyle/>
          <a:p>
            <a:pPr indent="0" marL="0">
              <a:buNone/>
            </a:pPr>
            <a:r>
              <a:rPr lang="en-US" sz="1100" dirty="0">
                <a:solidFill>
                  <a:srgbClr val="8E44AD"/>
                </a:solidFill>
                <a:latin typeface="Meiryo" pitchFamily="34" charset="0"/>
                <a:ea typeface="Meiryo" pitchFamily="34" charset="-122"/>
                <a:cs typeface="Meiryo" pitchFamily="34" charset="-120"/>
              </a:rPr>
              <a:t>トリガーRNA</a:t>
            </a:r>
            <a:endParaRPr lang="en-US" sz="1100" dirty="0"/>
          </a:p>
        </p:txBody>
      </p:sp>
      <p:sp>
        <p:nvSpPr>
          <p:cNvPr id="130" name="Shape 127"/>
          <p:cNvSpPr/>
          <p:nvPr/>
        </p:nvSpPr>
        <p:spPr>
          <a:xfrm>
            <a:off x="4572000" y="2788920"/>
            <a:ext cx="146304" cy="146304"/>
          </a:xfrm>
          <a:prstGeom prst="ellipse">
            <a:avLst/>
          </a:prstGeom>
          <a:solidFill>
            <a:srgbClr val="E36414"/>
          </a:solidFill>
          <a:ln w="12700">
            <a:solidFill>
              <a:srgbClr val="E36414"/>
            </a:solidFill>
            <a:prstDash val="solid"/>
          </a:ln>
        </p:spPr>
      </p:sp>
      <p:sp>
        <p:nvSpPr>
          <p:cNvPr id="131" name="Shape 128"/>
          <p:cNvSpPr/>
          <p:nvPr/>
        </p:nvSpPr>
        <p:spPr>
          <a:xfrm>
            <a:off x="4645152" y="2340864"/>
            <a:ext cx="9144" cy="448056"/>
          </a:xfrm>
          <a:prstGeom prst="line">
            <a:avLst/>
          </a:prstGeom>
          <a:noFill/>
          <a:ln w="12700">
            <a:solidFill>
              <a:srgbClr val="C9D3D6"/>
            </a:solidFill>
            <a:prstDash val="solid"/>
          </a:ln>
        </p:spPr>
      </p:sp>
      <p:sp>
        <p:nvSpPr>
          <p:cNvPr id="132" name="Shape 129"/>
          <p:cNvSpPr/>
          <p:nvPr/>
        </p:nvSpPr>
        <p:spPr>
          <a:xfrm>
            <a:off x="4745736" y="2788920"/>
            <a:ext cx="146304" cy="146304"/>
          </a:xfrm>
          <a:prstGeom prst="ellipse">
            <a:avLst/>
          </a:prstGeom>
          <a:solidFill>
            <a:srgbClr val="E36414"/>
          </a:solidFill>
          <a:ln w="12700">
            <a:solidFill>
              <a:srgbClr val="E36414"/>
            </a:solidFill>
            <a:prstDash val="solid"/>
          </a:ln>
        </p:spPr>
      </p:sp>
      <p:sp>
        <p:nvSpPr>
          <p:cNvPr id="133" name="Shape 130"/>
          <p:cNvSpPr/>
          <p:nvPr/>
        </p:nvSpPr>
        <p:spPr>
          <a:xfrm>
            <a:off x="4818888" y="2340864"/>
            <a:ext cx="9144" cy="448056"/>
          </a:xfrm>
          <a:prstGeom prst="line">
            <a:avLst/>
          </a:prstGeom>
          <a:noFill/>
          <a:ln w="12700">
            <a:solidFill>
              <a:srgbClr val="C9D3D6"/>
            </a:solidFill>
            <a:prstDash val="solid"/>
          </a:ln>
        </p:spPr>
      </p:sp>
      <p:sp>
        <p:nvSpPr>
          <p:cNvPr id="134" name="Shape 131"/>
          <p:cNvSpPr/>
          <p:nvPr/>
        </p:nvSpPr>
        <p:spPr>
          <a:xfrm>
            <a:off x="4919472" y="2788920"/>
            <a:ext cx="146304" cy="146304"/>
          </a:xfrm>
          <a:prstGeom prst="ellipse">
            <a:avLst/>
          </a:prstGeom>
          <a:solidFill>
            <a:srgbClr val="E36414"/>
          </a:solidFill>
          <a:ln w="12700">
            <a:solidFill>
              <a:srgbClr val="E36414"/>
            </a:solidFill>
            <a:prstDash val="solid"/>
          </a:ln>
        </p:spPr>
      </p:sp>
      <p:sp>
        <p:nvSpPr>
          <p:cNvPr id="135" name="Shape 132"/>
          <p:cNvSpPr/>
          <p:nvPr/>
        </p:nvSpPr>
        <p:spPr>
          <a:xfrm>
            <a:off x="4992624" y="2340864"/>
            <a:ext cx="9144" cy="448056"/>
          </a:xfrm>
          <a:prstGeom prst="line">
            <a:avLst/>
          </a:prstGeom>
          <a:noFill/>
          <a:ln w="12700">
            <a:solidFill>
              <a:srgbClr val="C9D3D6"/>
            </a:solidFill>
            <a:prstDash val="solid"/>
          </a:ln>
        </p:spPr>
      </p:sp>
      <p:sp>
        <p:nvSpPr>
          <p:cNvPr id="136" name="Shape 133"/>
          <p:cNvSpPr/>
          <p:nvPr/>
        </p:nvSpPr>
        <p:spPr>
          <a:xfrm>
            <a:off x="5093208" y="2788920"/>
            <a:ext cx="146304" cy="146304"/>
          </a:xfrm>
          <a:prstGeom prst="ellipse">
            <a:avLst/>
          </a:prstGeom>
          <a:solidFill>
            <a:srgbClr val="E36414"/>
          </a:solidFill>
          <a:ln w="12700">
            <a:solidFill>
              <a:srgbClr val="E36414"/>
            </a:solidFill>
            <a:prstDash val="solid"/>
          </a:ln>
        </p:spPr>
      </p:sp>
      <p:sp>
        <p:nvSpPr>
          <p:cNvPr id="137" name="Shape 134"/>
          <p:cNvSpPr/>
          <p:nvPr/>
        </p:nvSpPr>
        <p:spPr>
          <a:xfrm>
            <a:off x="5166360" y="2340864"/>
            <a:ext cx="9144" cy="448056"/>
          </a:xfrm>
          <a:prstGeom prst="line">
            <a:avLst/>
          </a:prstGeom>
          <a:noFill/>
          <a:ln w="12700">
            <a:solidFill>
              <a:srgbClr val="C9D3D6"/>
            </a:solidFill>
            <a:prstDash val="solid"/>
          </a:ln>
        </p:spPr>
      </p:sp>
      <p:sp>
        <p:nvSpPr>
          <p:cNvPr id="138" name="Shape 135"/>
          <p:cNvSpPr/>
          <p:nvPr/>
        </p:nvSpPr>
        <p:spPr>
          <a:xfrm>
            <a:off x="5266944" y="2788920"/>
            <a:ext cx="146304" cy="146304"/>
          </a:xfrm>
          <a:prstGeom prst="ellipse">
            <a:avLst/>
          </a:prstGeom>
          <a:solidFill>
            <a:srgbClr val="E36414"/>
          </a:solidFill>
          <a:ln w="12700">
            <a:solidFill>
              <a:srgbClr val="E36414"/>
            </a:solidFill>
            <a:prstDash val="solid"/>
          </a:ln>
        </p:spPr>
      </p:sp>
      <p:sp>
        <p:nvSpPr>
          <p:cNvPr id="139" name="Shape 136"/>
          <p:cNvSpPr/>
          <p:nvPr/>
        </p:nvSpPr>
        <p:spPr>
          <a:xfrm>
            <a:off x="5340096" y="2340864"/>
            <a:ext cx="9144" cy="448056"/>
          </a:xfrm>
          <a:prstGeom prst="line">
            <a:avLst/>
          </a:prstGeom>
          <a:noFill/>
          <a:ln w="12700">
            <a:solidFill>
              <a:srgbClr val="C9D3D6"/>
            </a:solidFill>
            <a:prstDash val="solid"/>
          </a:ln>
        </p:spPr>
      </p:sp>
      <p:sp>
        <p:nvSpPr>
          <p:cNvPr id="140" name="Shape 137"/>
          <p:cNvSpPr/>
          <p:nvPr/>
        </p:nvSpPr>
        <p:spPr>
          <a:xfrm>
            <a:off x="5440680" y="2788920"/>
            <a:ext cx="146304" cy="146304"/>
          </a:xfrm>
          <a:prstGeom prst="ellipse">
            <a:avLst/>
          </a:prstGeom>
          <a:solidFill>
            <a:srgbClr val="E36414"/>
          </a:solidFill>
          <a:ln w="12700">
            <a:solidFill>
              <a:srgbClr val="E36414"/>
            </a:solidFill>
            <a:prstDash val="solid"/>
          </a:ln>
        </p:spPr>
      </p:sp>
      <p:sp>
        <p:nvSpPr>
          <p:cNvPr id="141" name="Shape 138"/>
          <p:cNvSpPr/>
          <p:nvPr/>
        </p:nvSpPr>
        <p:spPr>
          <a:xfrm>
            <a:off x="5513832" y="2340864"/>
            <a:ext cx="9144" cy="448056"/>
          </a:xfrm>
          <a:prstGeom prst="line">
            <a:avLst/>
          </a:prstGeom>
          <a:noFill/>
          <a:ln w="12700">
            <a:solidFill>
              <a:srgbClr val="C9D3D6"/>
            </a:solidFill>
            <a:prstDash val="solid"/>
          </a:ln>
        </p:spPr>
      </p:sp>
      <p:sp>
        <p:nvSpPr>
          <p:cNvPr id="142" name="Shape 139"/>
          <p:cNvSpPr/>
          <p:nvPr/>
        </p:nvSpPr>
        <p:spPr>
          <a:xfrm>
            <a:off x="5614416" y="2788920"/>
            <a:ext cx="146304" cy="146304"/>
          </a:xfrm>
          <a:prstGeom prst="ellipse">
            <a:avLst/>
          </a:prstGeom>
          <a:solidFill>
            <a:srgbClr val="E36414"/>
          </a:solidFill>
          <a:ln w="12700">
            <a:solidFill>
              <a:srgbClr val="E36414"/>
            </a:solidFill>
            <a:prstDash val="solid"/>
          </a:ln>
        </p:spPr>
      </p:sp>
      <p:sp>
        <p:nvSpPr>
          <p:cNvPr id="143" name="Shape 140"/>
          <p:cNvSpPr/>
          <p:nvPr/>
        </p:nvSpPr>
        <p:spPr>
          <a:xfrm>
            <a:off x="5687568" y="2340864"/>
            <a:ext cx="9144" cy="448056"/>
          </a:xfrm>
          <a:prstGeom prst="line">
            <a:avLst/>
          </a:prstGeom>
          <a:noFill/>
          <a:ln w="12700">
            <a:solidFill>
              <a:srgbClr val="C9D3D6"/>
            </a:solidFill>
            <a:prstDash val="solid"/>
          </a:ln>
        </p:spPr>
      </p:sp>
      <p:sp>
        <p:nvSpPr>
          <p:cNvPr id="144" name="Shape 141"/>
          <p:cNvSpPr/>
          <p:nvPr/>
        </p:nvSpPr>
        <p:spPr>
          <a:xfrm>
            <a:off x="5788152" y="2788920"/>
            <a:ext cx="146304" cy="146304"/>
          </a:xfrm>
          <a:prstGeom prst="ellipse">
            <a:avLst/>
          </a:prstGeom>
          <a:solidFill>
            <a:srgbClr val="E36414"/>
          </a:solidFill>
          <a:ln w="12700">
            <a:solidFill>
              <a:srgbClr val="E36414"/>
            </a:solidFill>
            <a:prstDash val="solid"/>
          </a:ln>
        </p:spPr>
      </p:sp>
      <p:sp>
        <p:nvSpPr>
          <p:cNvPr id="145" name="Shape 142"/>
          <p:cNvSpPr/>
          <p:nvPr/>
        </p:nvSpPr>
        <p:spPr>
          <a:xfrm>
            <a:off x="5861304" y="2340864"/>
            <a:ext cx="9144" cy="448056"/>
          </a:xfrm>
          <a:prstGeom prst="line">
            <a:avLst/>
          </a:prstGeom>
          <a:noFill/>
          <a:ln w="12700">
            <a:solidFill>
              <a:srgbClr val="C9D3D6"/>
            </a:solidFill>
            <a:prstDash val="solid"/>
          </a:ln>
        </p:spPr>
      </p:sp>
      <p:sp>
        <p:nvSpPr>
          <p:cNvPr id="146" name="Shape 143"/>
          <p:cNvSpPr/>
          <p:nvPr/>
        </p:nvSpPr>
        <p:spPr>
          <a:xfrm>
            <a:off x="5961888" y="2788920"/>
            <a:ext cx="146304" cy="146304"/>
          </a:xfrm>
          <a:prstGeom prst="ellipse">
            <a:avLst/>
          </a:prstGeom>
          <a:solidFill>
            <a:srgbClr val="0F4C5C"/>
          </a:solidFill>
          <a:ln w="12700">
            <a:solidFill>
              <a:srgbClr val="0F4C5C"/>
            </a:solidFill>
            <a:prstDash val="solid"/>
          </a:ln>
        </p:spPr>
      </p:sp>
      <p:sp>
        <p:nvSpPr>
          <p:cNvPr id="147" name="Shape 144"/>
          <p:cNvSpPr/>
          <p:nvPr/>
        </p:nvSpPr>
        <p:spPr>
          <a:xfrm>
            <a:off x="6035040" y="2340864"/>
            <a:ext cx="9144" cy="448056"/>
          </a:xfrm>
          <a:prstGeom prst="line">
            <a:avLst/>
          </a:prstGeom>
          <a:noFill/>
          <a:ln w="12700">
            <a:solidFill>
              <a:srgbClr val="C9D3D6"/>
            </a:solidFill>
            <a:prstDash val="solid"/>
          </a:ln>
        </p:spPr>
      </p:sp>
      <p:sp>
        <p:nvSpPr>
          <p:cNvPr id="148" name="Shape 145"/>
          <p:cNvSpPr/>
          <p:nvPr/>
        </p:nvSpPr>
        <p:spPr>
          <a:xfrm>
            <a:off x="6135624" y="2788920"/>
            <a:ext cx="146304" cy="146304"/>
          </a:xfrm>
          <a:prstGeom prst="ellipse">
            <a:avLst/>
          </a:prstGeom>
          <a:solidFill>
            <a:srgbClr val="0F4C5C"/>
          </a:solidFill>
          <a:ln w="12700">
            <a:solidFill>
              <a:srgbClr val="0F4C5C"/>
            </a:solidFill>
            <a:prstDash val="solid"/>
          </a:ln>
        </p:spPr>
      </p:sp>
      <p:sp>
        <p:nvSpPr>
          <p:cNvPr id="149" name="Shape 146"/>
          <p:cNvSpPr/>
          <p:nvPr/>
        </p:nvSpPr>
        <p:spPr>
          <a:xfrm>
            <a:off x="6208776" y="2340864"/>
            <a:ext cx="9144" cy="448056"/>
          </a:xfrm>
          <a:prstGeom prst="line">
            <a:avLst/>
          </a:prstGeom>
          <a:noFill/>
          <a:ln w="12700">
            <a:solidFill>
              <a:srgbClr val="C9D3D6"/>
            </a:solidFill>
            <a:prstDash val="solid"/>
          </a:ln>
        </p:spPr>
      </p:sp>
      <p:sp>
        <p:nvSpPr>
          <p:cNvPr id="150" name="Shape 147"/>
          <p:cNvSpPr/>
          <p:nvPr/>
        </p:nvSpPr>
        <p:spPr>
          <a:xfrm>
            <a:off x="6309360" y="2788920"/>
            <a:ext cx="146304" cy="146304"/>
          </a:xfrm>
          <a:prstGeom prst="ellipse">
            <a:avLst/>
          </a:prstGeom>
          <a:solidFill>
            <a:srgbClr val="0F4C5C"/>
          </a:solidFill>
          <a:ln w="12700">
            <a:solidFill>
              <a:srgbClr val="0F4C5C"/>
            </a:solidFill>
            <a:prstDash val="solid"/>
          </a:ln>
        </p:spPr>
      </p:sp>
      <p:sp>
        <p:nvSpPr>
          <p:cNvPr id="151" name="Shape 148"/>
          <p:cNvSpPr/>
          <p:nvPr/>
        </p:nvSpPr>
        <p:spPr>
          <a:xfrm>
            <a:off x="6382512" y="2340864"/>
            <a:ext cx="9144" cy="448056"/>
          </a:xfrm>
          <a:prstGeom prst="line">
            <a:avLst/>
          </a:prstGeom>
          <a:noFill/>
          <a:ln w="12700">
            <a:solidFill>
              <a:srgbClr val="C9D3D6"/>
            </a:solidFill>
            <a:prstDash val="solid"/>
          </a:ln>
        </p:spPr>
      </p:sp>
      <p:sp>
        <p:nvSpPr>
          <p:cNvPr id="152" name="Shape 149"/>
          <p:cNvSpPr/>
          <p:nvPr/>
        </p:nvSpPr>
        <p:spPr>
          <a:xfrm>
            <a:off x="6483096" y="2788920"/>
            <a:ext cx="146304" cy="146304"/>
          </a:xfrm>
          <a:prstGeom prst="ellipse">
            <a:avLst/>
          </a:prstGeom>
          <a:solidFill>
            <a:srgbClr val="0F4C5C"/>
          </a:solidFill>
          <a:ln w="12700">
            <a:solidFill>
              <a:srgbClr val="0F4C5C"/>
            </a:solidFill>
            <a:prstDash val="solid"/>
          </a:ln>
        </p:spPr>
      </p:sp>
      <p:sp>
        <p:nvSpPr>
          <p:cNvPr id="153" name="Shape 150"/>
          <p:cNvSpPr/>
          <p:nvPr/>
        </p:nvSpPr>
        <p:spPr>
          <a:xfrm>
            <a:off x="6556248" y="2340864"/>
            <a:ext cx="9144" cy="448056"/>
          </a:xfrm>
          <a:prstGeom prst="line">
            <a:avLst/>
          </a:prstGeom>
          <a:noFill/>
          <a:ln w="12700">
            <a:solidFill>
              <a:srgbClr val="C9D3D6"/>
            </a:solidFill>
            <a:prstDash val="solid"/>
          </a:ln>
        </p:spPr>
      </p:sp>
      <p:sp>
        <p:nvSpPr>
          <p:cNvPr id="154" name="Shape 151"/>
          <p:cNvSpPr/>
          <p:nvPr/>
        </p:nvSpPr>
        <p:spPr>
          <a:xfrm>
            <a:off x="6656832" y="2788920"/>
            <a:ext cx="146304" cy="146304"/>
          </a:xfrm>
          <a:prstGeom prst="ellipse">
            <a:avLst/>
          </a:prstGeom>
          <a:solidFill>
            <a:srgbClr val="0F4C5C"/>
          </a:solidFill>
          <a:ln w="12700">
            <a:solidFill>
              <a:srgbClr val="0F4C5C"/>
            </a:solidFill>
            <a:prstDash val="solid"/>
          </a:ln>
        </p:spPr>
      </p:sp>
      <p:sp>
        <p:nvSpPr>
          <p:cNvPr id="155" name="Shape 152"/>
          <p:cNvSpPr/>
          <p:nvPr/>
        </p:nvSpPr>
        <p:spPr>
          <a:xfrm>
            <a:off x="6729984" y="2340864"/>
            <a:ext cx="9144" cy="448056"/>
          </a:xfrm>
          <a:prstGeom prst="line">
            <a:avLst/>
          </a:prstGeom>
          <a:noFill/>
          <a:ln w="12700">
            <a:solidFill>
              <a:srgbClr val="C9D3D6"/>
            </a:solidFill>
            <a:prstDash val="solid"/>
          </a:ln>
        </p:spPr>
      </p:sp>
      <p:sp>
        <p:nvSpPr>
          <p:cNvPr id="156" name="Shape 153"/>
          <p:cNvSpPr/>
          <p:nvPr/>
        </p:nvSpPr>
        <p:spPr>
          <a:xfrm>
            <a:off x="6830568" y="2788920"/>
            <a:ext cx="146304" cy="146304"/>
          </a:xfrm>
          <a:prstGeom prst="ellipse">
            <a:avLst/>
          </a:prstGeom>
          <a:solidFill>
            <a:srgbClr val="0F4C5C"/>
          </a:solidFill>
          <a:ln w="12700">
            <a:solidFill>
              <a:srgbClr val="0F4C5C"/>
            </a:solidFill>
            <a:prstDash val="solid"/>
          </a:ln>
        </p:spPr>
      </p:sp>
      <p:sp>
        <p:nvSpPr>
          <p:cNvPr id="157" name="Shape 154"/>
          <p:cNvSpPr/>
          <p:nvPr/>
        </p:nvSpPr>
        <p:spPr>
          <a:xfrm>
            <a:off x="6903720" y="2340864"/>
            <a:ext cx="9144" cy="448056"/>
          </a:xfrm>
          <a:prstGeom prst="line">
            <a:avLst/>
          </a:prstGeom>
          <a:noFill/>
          <a:ln w="12700">
            <a:solidFill>
              <a:srgbClr val="C9D3D6"/>
            </a:solidFill>
            <a:prstDash val="solid"/>
          </a:ln>
        </p:spPr>
      </p:sp>
      <p:sp>
        <p:nvSpPr>
          <p:cNvPr id="158" name="Shape 155"/>
          <p:cNvSpPr/>
          <p:nvPr/>
        </p:nvSpPr>
        <p:spPr>
          <a:xfrm>
            <a:off x="7004304" y="2788920"/>
            <a:ext cx="146304" cy="146304"/>
          </a:xfrm>
          <a:prstGeom prst="ellipse">
            <a:avLst/>
          </a:prstGeom>
          <a:solidFill>
            <a:srgbClr val="0F4C5C"/>
          </a:solidFill>
          <a:ln w="12700">
            <a:solidFill>
              <a:srgbClr val="0F4C5C"/>
            </a:solidFill>
            <a:prstDash val="solid"/>
          </a:ln>
        </p:spPr>
      </p:sp>
      <p:sp>
        <p:nvSpPr>
          <p:cNvPr id="159" name="Shape 156"/>
          <p:cNvSpPr/>
          <p:nvPr/>
        </p:nvSpPr>
        <p:spPr>
          <a:xfrm>
            <a:off x="7077456" y="2340864"/>
            <a:ext cx="9144" cy="448056"/>
          </a:xfrm>
          <a:prstGeom prst="line">
            <a:avLst/>
          </a:prstGeom>
          <a:noFill/>
          <a:ln w="12700">
            <a:solidFill>
              <a:srgbClr val="C9D3D6"/>
            </a:solidFill>
            <a:prstDash val="solid"/>
          </a:ln>
        </p:spPr>
      </p:sp>
      <p:sp>
        <p:nvSpPr>
          <p:cNvPr id="160" name="Shape 157"/>
          <p:cNvSpPr/>
          <p:nvPr/>
        </p:nvSpPr>
        <p:spPr>
          <a:xfrm>
            <a:off x="7178040" y="2788920"/>
            <a:ext cx="146304" cy="146304"/>
          </a:xfrm>
          <a:prstGeom prst="ellipse">
            <a:avLst/>
          </a:prstGeom>
          <a:solidFill>
            <a:srgbClr val="0F4C5C"/>
          </a:solidFill>
          <a:ln w="12700">
            <a:solidFill>
              <a:srgbClr val="0F4C5C"/>
            </a:solidFill>
            <a:prstDash val="solid"/>
          </a:ln>
        </p:spPr>
      </p:sp>
      <p:sp>
        <p:nvSpPr>
          <p:cNvPr id="161" name="Shape 158"/>
          <p:cNvSpPr/>
          <p:nvPr/>
        </p:nvSpPr>
        <p:spPr>
          <a:xfrm>
            <a:off x="7251192" y="2340864"/>
            <a:ext cx="9144" cy="448056"/>
          </a:xfrm>
          <a:prstGeom prst="line">
            <a:avLst/>
          </a:prstGeom>
          <a:noFill/>
          <a:ln w="12700">
            <a:solidFill>
              <a:srgbClr val="C9D3D6"/>
            </a:solidFill>
            <a:prstDash val="solid"/>
          </a:ln>
        </p:spPr>
      </p:sp>
      <p:sp>
        <p:nvSpPr>
          <p:cNvPr id="162" name="Shape 159"/>
          <p:cNvSpPr/>
          <p:nvPr/>
        </p:nvSpPr>
        <p:spPr>
          <a:xfrm>
            <a:off x="7351776" y="2788920"/>
            <a:ext cx="146304" cy="146304"/>
          </a:xfrm>
          <a:prstGeom prst="ellipse">
            <a:avLst/>
          </a:prstGeom>
          <a:solidFill>
            <a:srgbClr val="0F4C5C"/>
          </a:solidFill>
          <a:ln w="12700">
            <a:solidFill>
              <a:srgbClr val="0F4C5C"/>
            </a:solidFill>
            <a:prstDash val="solid"/>
          </a:ln>
        </p:spPr>
      </p:sp>
      <p:sp>
        <p:nvSpPr>
          <p:cNvPr id="163" name="Shape 160"/>
          <p:cNvSpPr/>
          <p:nvPr/>
        </p:nvSpPr>
        <p:spPr>
          <a:xfrm>
            <a:off x="7424928" y="2340864"/>
            <a:ext cx="9144" cy="448056"/>
          </a:xfrm>
          <a:prstGeom prst="line">
            <a:avLst/>
          </a:prstGeom>
          <a:noFill/>
          <a:ln w="12700">
            <a:solidFill>
              <a:srgbClr val="C9D3D6"/>
            </a:solidFill>
            <a:prstDash val="solid"/>
          </a:ln>
        </p:spPr>
      </p:sp>
      <p:sp>
        <p:nvSpPr>
          <p:cNvPr id="164" name="Shape 161"/>
          <p:cNvSpPr/>
          <p:nvPr/>
        </p:nvSpPr>
        <p:spPr>
          <a:xfrm>
            <a:off x="7525512" y="2788920"/>
            <a:ext cx="146304" cy="146304"/>
          </a:xfrm>
          <a:prstGeom prst="ellipse">
            <a:avLst/>
          </a:prstGeom>
          <a:solidFill>
            <a:srgbClr val="0F4C5C"/>
          </a:solidFill>
          <a:ln w="12700">
            <a:solidFill>
              <a:srgbClr val="0F4C5C"/>
            </a:solidFill>
            <a:prstDash val="solid"/>
          </a:ln>
        </p:spPr>
      </p:sp>
      <p:sp>
        <p:nvSpPr>
          <p:cNvPr id="165" name="Shape 162"/>
          <p:cNvSpPr/>
          <p:nvPr/>
        </p:nvSpPr>
        <p:spPr>
          <a:xfrm>
            <a:off x="7598664" y="2340864"/>
            <a:ext cx="9144" cy="448056"/>
          </a:xfrm>
          <a:prstGeom prst="line">
            <a:avLst/>
          </a:prstGeom>
          <a:noFill/>
          <a:ln w="12700">
            <a:solidFill>
              <a:srgbClr val="C9D3D6"/>
            </a:solidFill>
            <a:prstDash val="solid"/>
          </a:ln>
        </p:spPr>
      </p:sp>
      <p:sp>
        <p:nvSpPr>
          <p:cNvPr id="166" name="Shape 163"/>
          <p:cNvSpPr/>
          <p:nvPr/>
        </p:nvSpPr>
        <p:spPr>
          <a:xfrm>
            <a:off x="7699248" y="2788920"/>
            <a:ext cx="146304" cy="146304"/>
          </a:xfrm>
          <a:prstGeom prst="ellipse">
            <a:avLst/>
          </a:prstGeom>
          <a:solidFill>
            <a:srgbClr val="0F4C5C"/>
          </a:solidFill>
          <a:ln w="12700">
            <a:solidFill>
              <a:srgbClr val="0F4C5C"/>
            </a:solidFill>
            <a:prstDash val="solid"/>
          </a:ln>
        </p:spPr>
      </p:sp>
      <p:sp>
        <p:nvSpPr>
          <p:cNvPr id="167" name="Shape 164"/>
          <p:cNvSpPr/>
          <p:nvPr/>
        </p:nvSpPr>
        <p:spPr>
          <a:xfrm>
            <a:off x="7772400" y="2340864"/>
            <a:ext cx="9144" cy="448056"/>
          </a:xfrm>
          <a:prstGeom prst="line">
            <a:avLst/>
          </a:prstGeom>
          <a:noFill/>
          <a:ln w="12700">
            <a:solidFill>
              <a:srgbClr val="C9D3D6"/>
            </a:solidFill>
            <a:prstDash val="solid"/>
          </a:ln>
        </p:spPr>
      </p:sp>
      <p:sp>
        <p:nvSpPr>
          <p:cNvPr id="168" name="Shape 165"/>
          <p:cNvSpPr/>
          <p:nvPr/>
        </p:nvSpPr>
        <p:spPr>
          <a:xfrm>
            <a:off x="7872984" y="2788920"/>
            <a:ext cx="146304" cy="146304"/>
          </a:xfrm>
          <a:prstGeom prst="ellipse">
            <a:avLst/>
          </a:prstGeom>
          <a:solidFill>
            <a:srgbClr val="009E73"/>
          </a:solidFill>
          <a:ln w="12700">
            <a:solidFill>
              <a:srgbClr val="009E73"/>
            </a:solidFill>
            <a:prstDash val="solid"/>
          </a:ln>
        </p:spPr>
      </p:sp>
      <p:sp>
        <p:nvSpPr>
          <p:cNvPr id="169" name="Shape 166"/>
          <p:cNvSpPr/>
          <p:nvPr/>
        </p:nvSpPr>
        <p:spPr>
          <a:xfrm>
            <a:off x="7946136" y="2340864"/>
            <a:ext cx="9144" cy="448056"/>
          </a:xfrm>
          <a:prstGeom prst="line">
            <a:avLst/>
          </a:prstGeom>
          <a:noFill/>
          <a:ln w="12700">
            <a:solidFill>
              <a:srgbClr val="C9D3D6"/>
            </a:solidFill>
            <a:prstDash val="solid"/>
          </a:ln>
        </p:spPr>
      </p:sp>
      <p:sp>
        <p:nvSpPr>
          <p:cNvPr id="170" name="Shape 167"/>
          <p:cNvSpPr/>
          <p:nvPr/>
        </p:nvSpPr>
        <p:spPr>
          <a:xfrm>
            <a:off x="8046720" y="2788920"/>
            <a:ext cx="146304" cy="146304"/>
          </a:xfrm>
          <a:prstGeom prst="ellipse">
            <a:avLst/>
          </a:prstGeom>
          <a:solidFill>
            <a:srgbClr val="009E73"/>
          </a:solidFill>
          <a:ln w="12700">
            <a:solidFill>
              <a:srgbClr val="009E73"/>
            </a:solidFill>
            <a:prstDash val="solid"/>
          </a:ln>
        </p:spPr>
      </p:sp>
      <p:sp>
        <p:nvSpPr>
          <p:cNvPr id="171" name="Shape 168"/>
          <p:cNvSpPr/>
          <p:nvPr/>
        </p:nvSpPr>
        <p:spPr>
          <a:xfrm>
            <a:off x="8119872" y="2340864"/>
            <a:ext cx="9144" cy="448056"/>
          </a:xfrm>
          <a:prstGeom prst="line">
            <a:avLst/>
          </a:prstGeom>
          <a:noFill/>
          <a:ln w="12700">
            <a:solidFill>
              <a:srgbClr val="C9D3D6"/>
            </a:solidFill>
            <a:prstDash val="solid"/>
          </a:ln>
        </p:spPr>
      </p:sp>
      <p:sp>
        <p:nvSpPr>
          <p:cNvPr id="172" name="Shape 169"/>
          <p:cNvSpPr/>
          <p:nvPr/>
        </p:nvSpPr>
        <p:spPr>
          <a:xfrm>
            <a:off x="8220456" y="2788920"/>
            <a:ext cx="146304" cy="146304"/>
          </a:xfrm>
          <a:prstGeom prst="ellipse">
            <a:avLst/>
          </a:prstGeom>
          <a:solidFill>
            <a:srgbClr val="009E73"/>
          </a:solidFill>
          <a:ln w="12700">
            <a:solidFill>
              <a:srgbClr val="009E73"/>
            </a:solidFill>
            <a:prstDash val="solid"/>
          </a:ln>
        </p:spPr>
      </p:sp>
      <p:sp>
        <p:nvSpPr>
          <p:cNvPr id="173" name="Shape 170"/>
          <p:cNvSpPr/>
          <p:nvPr/>
        </p:nvSpPr>
        <p:spPr>
          <a:xfrm>
            <a:off x="8293608" y="2340864"/>
            <a:ext cx="9144" cy="448056"/>
          </a:xfrm>
          <a:prstGeom prst="line">
            <a:avLst/>
          </a:prstGeom>
          <a:noFill/>
          <a:ln w="12700">
            <a:solidFill>
              <a:srgbClr val="C9D3D6"/>
            </a:solidFill>
            <a:prstDash val="solid"/>
          </a:ln>
        </p:spPr>
      </p:sp>
      <p:sp>
        <p:nvSpPr>
          <p:cNvPr id="174" name="Shape 171"/>
          <p:cNvSpPr/>
          <p:nvPr/>
        </p:nvSpPr>
        <p:spPr>
          <a:xfrm>
            <a:off x="8394192" y="2788920"/>
            <a:ext cx="146304" cy="146304"/>
          </a:xfrm>
          <a:prstGeom prst="ellipse">
            <a:avLst/>
          </a:prstGeom>
          <a:solidFill>
            <a:srgbClr val="009E73"/>
          </a:solidFill>
          <a:ln w="12700">
            <a:solidFill>
              <a:srgbClr val="009E73"/>
            </a:solidFill>
            <a:prstDash val="solid"/>
          </a:ln>
        </p:spPr>
      </p:sp>
      <p:sp>
        <p:nvSpPr>
          <p:cNvPr id="175" name="Shape 172"/>
          <p:cNvSpPr/>
          <p:nvPr/>
        </p:nvSpPr>
        <p:spPr>
          <a:xfrm>
            <a:off x="8567928" y="2788920"/>
            <a:ext cx="146304" cy="146304"/>
          </a:xfrm>
          <a:prstGeom prst="ellipse">
            <a:avLst/>
          </a:prstGeom>
          <a:solidFill>
            <a:srgbClr val="009E73"/>
          </a:solidFill>
          <a:ln w="12700">
            <a:solidFill>
              <a:srgbClr val="009E73"/>
            </a:solidFill>
            <a:prstDash val="solid"/>
          </a:ln>
        </p:spPr>
      </p:sp>
      <p:sp>
        <p:nvSpPr>
          <p:cNvPr id="176" name="Shape 173"/>
          <p:cNvSpPr/>
          <p:nvPr/>
        </p:nvSpPr>
        <p:spPr>
          <a:xfrm>
            <a:off x="8741664" y="2788920"/>
            <a:ext cx="146304" cy="146304"/>
          </a:xfrm>
          <a:prstGeom prst="ellipse">
            <a:avLst/>
          </a:prstGeom>
          <a:solidFill>
            <a:srgbClr val="009E73"/>
          </a:solidFill>
          <a:ln w="12700">
            <a:solidFill>
              <a:srgbClr val="009E73"/>
            </a:solidFill>
            <a:prstDash val="solid"/>
          </a:ln>
        </p:spPr>
      </p:sp>
      <p:sp>
        <p:nvSpPr>
          <p:cNvPr id="177" name="Shape 174"/>
          <p:cNvSpPr/>
          <p:nvPr/>
        </p:nvSpPr>
        <p:spPr>
          <a:xfrm>
            <a:off x="8915400" y="2788920"/>
            <a:ext cx="146304" cy="146304"/>
          </a:xfrm>
          <a:prstGeom prst="ellipse">
            <a:avLst/>
          </a:prstGeom>
          <a:solidFill>
            <a:srgbClr val="0F4C5C"/>
          </a:solidFill>
          <a:ln w="12700">
            <a:solidFill>
              <a:srgbClr val="0F4C5C"/>
            </a:solidFill>
            <a:prstDash val="solid"/>
          </a:ln>
        </p:spPr>
      </p:sp>
      <p:sp>
        <p:nvSpPr>
          <p:cNvPr id="178" name="Shape 175"/>
          <p:cNvSpPr/>
          <p:nvPr/>
        </p:nvSpPr>
        <p:spPr>
          <a:xfrm>
            <a:off x="9089136" y="2788920"/>
            <a:ext cx="146304" cy="146304"/>
          </a:xfrm>
          <a:prstGeom prst="ellipse">
            <a:avLst/>
          </a:prstGeom>
          <a:solidFill>
            <a:srgbClr val="0F4C5C"/>
          </a:solidFill>
          <a:ln w="12700">
            <a:solidFill>
              <a:srgbClr val="0F4C5C"/>
            </a:solidFill>
            <a:prstDash val="solid"/>
          </a:ln>
        </p:spPr>
      </p:sp>
      <p:sp>
        <p:nvSpPr>
          <p:cNvPr id="179" name="Shape 176"/>
          <p:cNvSpPr/>
          <p:nvPr/>
        </p:nvSpPr>
        <p:spPr>
          <a:xfrm>
            <a:off x="9262872" y="2788920"/>
            <a:ext cx="146304" cy="146304"/>
          </a:xfrm>
          <a:prstGeom prst="ellipse">
            <a:avLst/>
          </a:prstGeom>
          <a:solidFill>
            <a:srgbClr val="0F4C5C"/>
          </a:solidFill>
          <a:ln w="12700">
            <a:solidFill>
              <a:srgbClr val="0F4C5C"/>
            </a:solidFill>
            <a:prstDash val="solid"/>
          </a:ln>
        </p:spPr>
      </p:sp>
      <p:sp>
        <p:nvSpPr>
          <p:cNvPr id="180" name="Shape 177"/>
          <p:cNvSpPr/>
          <p:nvPr/>
        </p:nvSpPr>
        <p:spPr>
          <a:xfrm>
            <a:off x="9436608" y="2788920"/>
            <a:ext cx="146304" cy="146304"/>
          </a:xfrm>
          <a:prstGeom prst="ellipse">
            <a:avLst/>
          </a:prstGeom>
          <a:solidFill>
            <a:srgbClr val="0F4C5C"/>
          </a:solidFill>
          <a:ln w="12700">
            <a:solidFill>
              <a:srgbClr val="0F4C5C"/>
            </a:solidFill>
            <a:prstDash val="solid"/>
          </a:ln>
        </p:spPr>
      </p:sp>
      <p:sp>
        <p:nvSpPr>
          <p:cNvPr id="181" name="Shape 178"/>
          <p:cNvSpPr/>
          <p:nvPr/>
        </p:nvSpPr>
        <p:spPr>
          <a:xfrm>
            <a:off x="9610344" y="2788920"/>
            <a:ext cx="146304" cy="146304"/>
          </a:xfrm>
          <a:prstGeom prst="ellipse">
            <a:avLst/>
          </a:prstGeom>
          <a:solidFill>
            <a:srgbClr val="0F4C5C"/>
          </a:solidFill>
          <a:ln w="12700">
            <a:solidFill>
              <a:srgbClr val="0F4C5C"/>
            </a:solidFill>
            <a:prstDash val="solid"/>
          </a:ln>
        </p:spPr>
      </p:sp>
      <p:sp>
        <p:nvSpPr>
          <p:cNvPr id="182" name="Shape 179"/>
          <p:cNvSpPr/>
          <p:nvPr/>
        </p:nvSpPr>
        <p:spPr>
          <a:xfrm>
            <a:off x="9784080" y="2788920"/>
            <a:ext cx="146304" cy="146304"/>
          </a:xfrm>
          <a:prstGeom prst="ellipse">
            <a:avLst/>
          </a:prstGeom>
          <a:solidFill>
            <a:srgbClr val="0F4C5C"/>
          </a:solidFill>
          <a:ln w="12700">
            <a:solidFill>
              <a:srgbClr val="0F4C5C"/>
            </a:solidFill>
            <a:prstDash val="solid"/>
          </a:ln>
        </p:spPr>
      </p:sp>
      <p:sp>
        <p:nvSpPr>
          <p:cNvPr id="183" name="Shape 180"/>
          <p:cNvSpPr/>
          <p:nvPr/>
        </p:nvSpPr>
        <p:spPr>
          <a:xfrm>
            <a:off x="9957816" y="2788920"/>
            <a:ext cx="146304" cy="146304"/>
          </a:xfrm>
          <a:prstGeom prst="ellipse">
            <a:avLst/>
          </a:prstGeom>
          <a:solidFill>
            <a:srgbClr val="E69F00"/>
          </a:solidFill>
          <a:ln w="12700">
            <a:solidFill>
              <a:srgbClr val="E69F00"/>
            </a:solidFill>
            <a:prstDash val="solid"/>
          </a:ln>
        </p:spPr>
      </p:sp>
      <p:sp>
        <p:nvSpPr>
          <p:cNvPr id="184" name="Shape 181"/>
          <p:cNvSpPr/>
          <p:nvPr/>
        </p:nvSpPr>
        <p:spPr>
          <a:xfrm>
            <a:off x="10131552" y="2788920"/>
            <a:ext cx="146304" cy="146304"/>
          </a:xfrm>
          <a:prstGeom prst="ellipse">
            <a:avLst/>
          </a:prstGeom>
          <a:solidFill>
            <a:srgbClr val="E69F00"/>
          </a:solidFill>
          <a:ln w="12700">
            <a:solidFill>
              <a:srgbClr val="E69F00"/>
            </a:solidFill>
            <a:prstDash val="solid"/>
          </a:ln>
        </p:spPr>
      </p:sp>
      <p:sp>
        <p:nvSpPr>
          <p:cNvPr id="185" name="Shape 182"/>
          <p:cNvSpPr/>
          <p:nvPr/>
        </p:nvSpPr>
        <p:spPr>
          <a:xfrm>
            <a:off x="10305288" y="2788920"/>
            <a:ext cx="146304" cy="146304"/>
          </a:xfrm>
          <a:prstGeom prst="ellipse">
            <a:avLst/>
          </a:prstGeom>
          <a:solidFill>
            <a:srgbClr val="E69F00"/>
          </a:solidFill>
          <a:ln w="12700">
            <a:solidFill>
              <a:srgbClr val="E69F00"/>
            </a:solidFill>
            <a:prstDash val="solid"/>
          </a:ln>
        </p:spPr>
      </p:sp>
      <p:sp>
        <p:nvSpPr>
          <p:cNvPr id="186" name="Shape 183"/>
          <p:cNvSpPr/>
          <p:nvPr/>
        </p:nvSpPr>
        <p:spPr>
          <a:xfrm>
            <a:off x="10479024" y="2788920"/>
            <a:ext cx="146304" cy="146304"/>
          </a:xfrm>
          <a:prstGeom prst="ellipse">
            <a:avLst/>
          </a:prstGeom>
          <a:solidFill>
            <a:srgbClr val="9AA8AE"/>
          </a:solidFill>
          <a:ln w="12700">
            <a:solidFill>
              <a:srgbClr val="9AA8AE"/>
            </a:solidFill>
            <a:prstDash val="solid"/>
          </a:ln>
        </p:spPr>
      </p:sp>
      <p:sp>
        <p:nvSpPr>
          <p:cNvPr id="187" name="Shape 184"/>
          <p:cNvSpPr/>
          <p:nvPr/>
        </p:nvSpPr>
        <p:spPr>
          <a:xfrm>
            <a:off x="10652760" y="2788920"/>
            <a:ext cx="146304" cy="146304"/>
          </a:xfrm>
          <a:prstGeom prst="ellipse">
            <a:avLst/>
          </a:prstGeom>
          <a:solidFill>
            <a:srgbClr val="9AA8AE"/>
          </a:solidFill>
          <a:ln w="12700">
            <a:solidFill>
              <a:srgbClr val="9AA8AE"/>
            </a:solidFill>
            <a:prstDash val="solid"/>
          </a:ln>
        </p:spPr>
      </p:sp>
      <p:sp>
        <p:nvSpPr>
          <p:cNvPr id="188" name="Shape 185"/>
          <p:cNvSpPr/>
          <p:nvPr/>
        </p:nvSpPr>
        <p:spPr>
          <a:xfrm>
            <a:off x="10826496" y="2788920"/>
            <a:ext cx="146304" cy="146304"/>
          </a:xfrm>
          <a:prstGeom prst="ellipse">
            <a:avLst/>
          </a:prstGeom>
          <a:solidFill>
            <a:srgbClr val="9AA8AE"/>
          </a:solidFill>
          <a:ln w="12700">
            <a:solidFill>
              <a:srgbClr val="9AA8AE"/>
            </a:solidFill>
            <a:prstDash val="solid"/>
          </a:ln>
        </p:spPr>
      </p:sp>
      <p:sp>
        <p:nvSpPr>
          <p:cNvPr id="189" name="Shape 186"/>
          <p:cNvSpPr/>
          <p:nvPr/>
        </p:nvSpPr>
        <p:spPr>
          <a:xfrm>
            <a:off x="11000232" y="2788920"/>
            <a:ext cx="146304" cy="146304"/>
          </a:xfrm>
          <a:prstGeom prst="ellipse">
            <a:avLst/>
          </a:prstGeom>
          <a:solidFill>
            <a:srgbClr val="9AA8AE"/>
          </a:solidFill>
          <a:ln w="12700">
            <a:solidFill>
              <a:srgbClr val="9AA8AE"/>
            </a:solidFill>
            <a:prstDash val="solid"/>
          </a:ln>
        </p:spPr>
      </p:sp>
      <p:sp>
        <p:nvSpPr>
          <p:cNvPr id="190" name="Shape 187"/>
          <p:cNvSpPr/>
          <p:nvPr/>
        </p:nvSpPr>
        <p:spPr>
          <a:xfrm>
            <a:off x="11173968" y="2788920"/>
            <a:ext cx="146304" cy="146304"/>
          </a:xfrm>
          <a:prstGeom prst="ellipse">
            <a:avLst/>
          </a:prstGeom>
          <a:solidFill>
            <a:srgbClr val="9AA8AE"/>
          </a:solidFill>
          <a:ln w="12700">
            <a:solidFill>
              <a:srgbClr val="9AA8AE"/>
            </a:solidFill>
            <a:prstDash val="solid"/>
          </a:ln>
        </p:spPr>
      </p:sp>
      <p:sp>
        <p:nvSpPr>
          <p:cNvPr id="191" name="Shape 188"/>
          <p:cNvSpPr/>
          <p:nvPr/>
        </p:nvSpPr>
        <p:spPr>
          <a:xfrm>
            <a:off x="11347704" y="2788920"/>
            <a:ext cx="146304" cy="146304"/>
          </a:xfrm>
          <a:prstGeom prst="ellipse">
            <a:avLst/>
          </a:prstGeom>
          <a:solidFill>
            <a:srgbClr val="9AA8AE"/>
          </a:solidFill>
          <a:ln w="12700">
            <a:solidFill>
              <a:srgbClr val="9AA8AE"/>
            </a:solidFill>
            <a:prstDash val="solid"/>
          </a:ln>
        </p:spPr>
      </p:sp>
      <p:sp>
        <p:nvSpPr>
          <p:cNvPr id="192" name="Text 189"/>
          <p:cNvSpPr txBox="1"/>
          <p:nvPr/>
        </p:nvSpPr>
        <p:spPr>
          <a:xfrm>
            <a:off x="4572000" y="3108960"/>
            <a:ext cx="4572000" cy="365760"/>
          </a:xfrm>
          <a:prstGeom prst="rect">
            <a:avLst/>
          </a:prstGeom>
          <a:noFill/>
          <a:ln/>
        </p:spPr>
        <p:txBody>
          <a:bodyPr wrap="square" lIns="0" tIns="0" rIns="0" bIns="0" rtlCol="0" anchor="t"/>
          <a:lstStyle/>
          <a:p>
            <a:pPr indent="0" marL="0">
              <a:buNone/>
            </a:pPr>
            <a:r>
              <a:rPr lang="en-US" sz="1300" dirty="0">
                <a:solidFill>
                  <a:srgbClr val="1F2A30"/>
                </a:solidFill>
                <a:latin typeface="Meiryo" pitchFamily="34" charset="0"/>
                <a:ea typeface="Meiryo" pitchFamily="34" charset="-122"/>
                <a:cs typeface="Meiryo" pitchFamily="34" charset="-120"/>
              </a:rPr>
              <a:t>RBS と AUG が露出 → リボソームが結合 → 翻訳 ON</a:t>
            </a:r>
            <a:endParaRPr lang="en-US" sz="1300" dirty="0"/>
          </a:p>
        </p:txBody>
      </p:sp>
      <p:sp>
        <p:nvSpPr>
          <p:cNvPr id="193" name="Text 190"/>
          <p:cNvSpPr txBox="1"/>
          <p:nvPr/>
        </p:nvSpPr>
        <p:spPr>
          <a:xfrm>
            <a:off x="4572000" y="3657600"/>
            <a:ext cx="3931920" cy="2651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スイッチRNA：ヘアピンで RBS と AUG を隠す（OFF）</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トリガーRNA：toehold に結合し鎖置換で開く（ON）</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設計では OFF 構造と ON 複合体の両方を評価</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ON/OFF 比：第1世代平均 約43、改良版平均 406</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直交セット：クロストーク12%未満が26系統</a:t>
            </a:r>
            <a:endParaRPr lang="en-US" sz="1500" dirty="0"/>
          </a:p>
        </p:txBody>
      </p:sp>
      <p:pic>
        <p:nvPicPr>
          <p:cNvPr id="194" name="Image 0" descr="/Users/sumishunsuke/Desktop/RNA/Course_RNAinverse/build/papers/green_f1_panelC.png">    </p:cNvPr>
          <p:cNvPicPr>
            <a:picLocks noChangeAspect="1"/>
          </p:cNvPicPr>
          <p:nvPr/>
        </p:nvPicPr>
        <p:blipFill>
          <a:blip r:embed="rId1"/>
          <a:srcRect l="0" r="0" t="0" b="0"/>
          <a:stretch/>
        </p:blipFill>
        <p:spPr>
          <a:xfrm>
            <a:off x="8686800" y="1325880"/>
            <a:ext cx="3017520" cy="1371600"/>
          </a:xfrm>
          <a:prstGeom prst="rect">
            <a:avLst/>
          </a:prstGeom>
        </p:spPr>
      </p:pic>
      <p:sp>
        <p:nvSpPr>
          <p:cNvPr id="195" name="Text 191"/>
          <p:cNvSpPr txBox="1"/>
          <p:nvPr/>
        </p:nvSpPr>
        <p:spPr>
          <a:xfrm>
            <a:off x="8686800" y="2743200"/>
            <a:ext cx="3017520" cy="1005840"/>
          </a:xfrm>
          <a:prstGeom prst="rect">
            <a:avLst/>
          </a:prstGeom>
          <a:noFill/>
          <a:ln/>
        </p:spPr>
        <p:txBody>
          <a:bodyPr wrap="square" lIns="0" tIns="0" rIns="0" bIns="0" rtlCol="0" anchor="b"/>
          <a:lstStyle/>
          <a:p>
            <a:pPr indent="0" marL="0">
              <a:buNone/>
            </a:pPr>
            <a:r>
              <a:rPr lang="en-US" sz="1200" dirty="0">
                <a:solidFill>
                  <a:srgbClr val="5C6B73"/>
                </a:solidFill>
                <a:latin typeface="Meiryo" pitchFamily="34" charset="0"/>
                <a:ea typeface="Meiryo" pitchFamily="34" charset="-122"/>
                <a:cs typeface="Meiryo" pitchFamily="34" charset="-120"/>
              </a:rPr>
              <a:t>Green, Silver, Collins, Yin (2014) Cell 159:925–939. 図はPMC著者原稿版（PMC4265554）掲載図の一部（第1世代スイッチの設計模式図）</a:t>
            </a:r>
            <a:endParaRPr lang="en-US" sz="1200" dirty="0"/>
          </a:p>
        </p:txBody>
      </p:sp>
      <p:sp>
        <p:nvSpPr>
          <p:cNvPr id="196" name="Shape 192"/>
          <p:cNvSpPr/>
          <p:nvPr/>
        </p:nvSpPr>
        <p:spPr>
          <a:xfrm>
            <a:off x="8686800" y="3840480"/>
            <a:ext cx="3017520" cy="2286000"/>
          </a:xfrm>
          <a:prstGeom prst="roundRect">
            <a:avLst>
              <a:gd name="adj" fmla="val 4800"/>
            </a:avLst>
          </a:prstGeom>
          <a:solidFill>
            <a:srgbClr val="EEF3F4"/>
          </a:solidFill>
          <a:ln w="12700">
            <a:solidFill>
              <a:srgbClr val="EEF3F4"/>
            </a:solidFill>
            <a:prstDash val="solid"/>
          </a:ln>
        </p:spPr>
      </p:sp>
      <p:sp>
        <p:nvSpPr>
          <p:cNvPr id="197" name="Text 193"/>
          <p:cNvSpPr txBox="1"/>
          <p:nvPr/>
        </p:nvSpPr>
        <p:spPr>
          <a:xfrm>
            <a:off x="8869680" y="3950208"/>
            <a:ext cx="26517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ポイント</a:t>
            </a:r>
            <a:endParaRPr lang="en-US" sz="2000" dirty="0"/>
          </a:p>
        </p:txBody>
      </p:sp>
      <p:sp>
        <p:nvSpPr>
          <p:cNvPr id="198" name="Text 194"/>
          <p:cNvSpPr txBox="1"/>
          <p:nvPr/>
        </p:nvSpPr>
        <p:spPr>
          <a:xfrm>
            <a:off x="8869680" y="4407408"/>
            <a:ext cx="265176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入力（トリガー）の有無で構造が変わる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「構造が変わる」を設計するには2状態の評価が要る（本日は単一状態のみ）</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応用例：RNAナノ構造（RNA origami）と分子の配置</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10</a:t>
            </a:r>
            <a:endParaRPr lang="en-US" sz="1100" dirty="0"/>
          </a:p>
        </p:txBody>
      </p:sp>
      <p:pic>
        <p:nvPicPr>
          <p:cNvPr id="6" name="Image 0" descr="/Users/sumishunsuke/Desktop/RNA/Course_RNAinverse/build/papers/geary_S4_2HAE.png">    </p:cNvPr>
          <p:cNvPicPr>
            <a:picLocks noChangeAspect="1"/>
          </p:cNvPicPr>
          <p:nvPr/>
        </p:nvPicPr>
        <p:blipFill>
          <a:blip r:embed="rId1"/>
          <a:srcRect l="0" r="0" t="0" b="0"/>
          <a:stretch/>
        </p:blipFill>
        <p:spPr>
          <a:xfrm>
            <a:off x="502920" y="1188720"/>
            <a:ext cx="5852160" cy="2514600"/>
          </a:xfrm>
          <a:prstGeom prst="rect">
            <a:avLst/>
          </a:prstGeom>
        </p:spPr>
      </p:pic>
      <p:sp>
        <p:nvSpPr>
          <p:cNvPr id="7" name="Text 3"/>
          <p:cNvSpPr txBox="1"/>
          <p:nvPr/>
        </p:nvSpPr>
        <p:spPr>
          <a:xfrm>
            <a:off x="502920" y="3703320"/>
            <a:ext cx="5852160" cy="548640"/>
          </a:xfrm>
          <a:prstGeom prst="rect">
            <a:avLst/>
          </a:prstGeom>
          <a:noFill/>
          <a:ln/>
        </p:spPr>
        <p:txBody>
          <a:bodyPr wrap="square" lIns="0" tIns="0" rIns="0" bIns="0" rtlCol="0" anchor="b"/>
          <a:lstStyle/>
          <a:p>
            <a:pPr indent="0" marL="0">
              <a:buNone/>
            </a:pPr>
            <a:r>
              <a:rPr lang="en-US" sz="1200" dirty="0">
                <a:solidFill>
                  <a:srgbClr val="5C6B73"/>
                </a:solidFill>
                <a:latin typeface="Meiryo" pitchFamily="34" charset="0"/>
                <a:ea typeface="Meiryo" pitchFamily="34" charset="-122"/>
                <a:cs typeface="Meiryo" pitchFamily="34" charset="-120"/>
              </a:rPr>
              <a:t>Geary, Rothemund, Andersen (2014) Science 345:799–804, Supplementary Fig. S4 より（2ヘリックスタイル 2H-AE のstrand-path図。色は5′→3′の合成順）</a:t>
            </a:r>
            <a:endParaRPr lang="en-US" sz="1200" dirty="0"/>
          </a:p>
        </p:txBody>
      </p:sp>
      <p:sp>
        <p:nvSpPr>
          <p:cNvPr id="8" name="Shape 4"/>
          <p:cNvSpPr/>
          <p:nvPr/>
        </p:nvSpPr>
        <p:spPr>
          <a:xfrm>
            <a:off x="502920" y="4572000"/>
            <a:ext cx="1325880" cy="822960"/>
          </a:xfrm>
          <a:prstGeom prst="roundRect">
            <a:avLst>
              <a:gd name="adj" fmla="val 11111"/>
            </a:avLst>
          </a:prstGeom>
          <a:solidFill>
            <a:srgbClr val="EEF3F4"/>
          </a:solidFill>
          <a:ln w="12700">
            <a:solidFill>
              <a:srgbClr val="EEF3F4"/>
            </a:solidFill>
            <a:prstDash val="solid"/>
          </a:ln>
        </p:spPr>
      </p:sp>
      <p:sp>
        <p:nvSpPr>
          <p:cNvPr id="9" name="Text 5"/>
          <p:cNvSpPr txBox="1"/>
          <p:nvPr/>
        </p:nvSpPr>
        <p:spPr>
          <a:xfrm>
            <a:off x="548640" y="4572000"/>
            <a:ext cx="1234440" cy="822960"/>
          </a:xfrm>
          <a:prstGeom prst="rect">
            <a:avLst/>
          </a:prstGeom>
          <a:noFill/>
          <a:ln/>
        </p:spPr>
        <p:txBody>
          <a:bodyPr wrap="square" lIns="0" tIns="0" rIns="0" bIns="0" rtlCol="0" anchor="ctr"/>
          <a:lstStyle/>
          <a:p>
            <a:pPr algn="ctr" indent="0" marL="0">
              <a:buNone/>
            </a:pPr>
            <a:r>
              <a:rPr lang="en-US" sz="1200" dirty="0">
                <a:solidFill>
                  <a:srgbClr val="1F2A30"/>
                </a:solidFill>
                <a:latin typeface="Meiryo" pitchFamily="34" charset="0"/>
                <a:ea typeface="Meiryo" pitchFamily="34" charset="-122"/>
                <a:cs typeface="Meiryo" pitchFamily="34" charset="-120"/>
              </a:rPr>
              <a:t>1本鎖RNAを転写</a:t>
            </a:r>
            <a:endParaRPr lang="en-US" sz="1200" dirty="0"/>
          </a:p>
        </p:txBody>
      </p:sp>
      <p:sp>
        <p:nvSpPr>
          <p:cNvPr id="10" name="Shape 6"/>
          <p:cNvSpPr/>
          <p:nvPr/>
        </p:nvSpPr>
        <p:spPr>
          <a:xfrm>
            <a:off x="1828800" y="4983480"/>
            <a:ext cx="155448" cy="9144"/>
          </a:xfrm>
          <a:prstGeom prst="line">
            <a:avLst/>
          </a:prstGeom>
          <a:noFill/>
          <a:ln w="19050">
            <a:solidFill>
              <a:srgbClr val="0F4C5C"/>
            </a:solidFill>
            <a:prstDash val="solid"/>
            <a:tailEnd type="triangle"/>
          </a:ln>
        </p:spPr>
      </p:sp>
      <p:sp>
        <p:nvSpPr>
          <p:cNvPr id="11" name="Shape 7"/>
          <p:cNvSpPr/>
          <p:nvPr/>
        </p:nvSpPr>
        <p:spPr>
          <a:xfrm>
            <a:off x="1984248" y="4572000"/>
            <a:ext cx="1325880" cy="822960"/>
          </a:xfrm>
          <a:prstGeom prst="roundRect">
            <a:avLst>
              <a:gd name="adj" fmla="val 11111"/>
            </a:avLst>
          </a:prstGeom>
          <a:solidFill>
            <a:srgbClr val="EEF3F4"/>
          </a:solidFill>
          <a:ln w="12700">
            <a:solidFill>
              <a:srgbClr val="EEF3F4"/>
            </a:solidFill>
            <a:prstDash val="solid"/>
          </a:ln>
        </p:spPr>
      </p:sp>
      <p:sp>
        <p:nvSpPr>
          <p:cNvPr id="12" name="Text 8"/>
          <p:cNvSpPr txBox="1"/>
          <p:nvPr/>
        </p:nvSpPr>
        <p:spPr>
          <a:xfrm>
            <a:off x="2029968" y="4572000"/>
            <a:ext cx="1234440" cy="822960"/>
          </a:xfrm>
          <a:prstGeom prst="rect">
            <a:avLst/>
          </a:prstGeom>
          <a:noFill/>
          <a:ln/>
        </p:spPr>
        <p:txBody>
          <a:bodyPr wrap="square" lIns="0" tIns="0" rIns="0" bIns="0" rtlCol="0" anchor="ctr"/>
          <a:lstStyle/>
          <a:p>
            <a:pPr algn="ctr" indent="0" marL="0">
              <a:buNone/>
            </a:pPr>
            <a:r>
              <a:rPr lang="en-US" sz="1200" dirty="0">
                <a:solidFill>
                  <a:srgbClr val="1F2A30"/>
                </a:solidFill>
                <a:latin typeface="Meiryo" pitchFamily="34" charset="0"/>
                <a:ea typeface="Meiryo" pitchFamily="34" charset="-122"/>
                <a:cs typeface="Meiryo" pitchFamily="34" charset="-120"/>
              </a:rPr>
              <a:t>転写中に折れる</a:t>
            </a:r>
            <a:endParaRPr lang="en-US" sz="1200" dirty="0"/>
          </a:p>
        </p:txBody>
      </p:sp>
      <p:sp>
        <p:nvSpPr>
          <p:cNvPr id="13" name="Shape 9"/>
          <p:cNvSpPr/>
          <p:nvPr/>
        </p:nvSpPr>
        <p:spPr>
          <a:xfrm>
            <a:off x="3310128" y="4983480"/>
            <a:ext cx="155448" cy="9144"/>
          </a:xfrm>
          <a:prstGeom prst="line">
            <a:avLst/>
          </a:prstGeom>
          <a:noFill/>
          <a:ln w="19050">
            <a:solidFill>
              <a:srgbClr val="0F4C5C"/>
            </a:solidFill>
            <a:prstDash val="solid"/>
            <a:tailEnd type="triangle"/>
          </a:ln>
        </p:spPr>
      </p:sp>
      <p:sp>
        <p:nvSpPr>
          <p:cNvPr id="14" name="Shape 10"/>
          <p:cNvSpPr/>
          <p:nvPr/>
        </p:nvSpPr>
        <p:spPr>
          <a:xfrm>
            <a:off x="3465576" y="4572000"/>
            <a:ext cx="1325880" cy="822960"/>
          </a:xfrm>
          <a:prstGeom prst="roundRect">
            <a:avLst>
              <a:gd name="adj" fmla="val 11111"/>
            </a:avLst>
          </a:prstGeom>
          <a:solidFill>
            <a:srgbClr val="EEF3F4"/>
          </a:solidFill>
          <a:ln w="12700">
            <a:solidFill>
              <a:srgbClr val="EEF3F4"/>
            </a:solidFill>
            <a:prstDash val="solid"/>
          </a:ln>
        </p:spPr>
      </p:sp>
      <p:sp>
        <p:nvSpPr>
          <p:cNvPr id="15" name="Text 11"/>
          <p:cNvSpPr txBox="1"/>
          <p:nvPr/>
        </p:nvSpPr>
        <p:spPr>
          <a:xfrm>
            <a:off x="3511296" y="4572000"/>
            <a:ext cx="1234440" cy="822960"/>
          </a:xfrm>
          <a:prstGeom prst="rect">
            <a:avLst/>
          </a:prstGeom>
          <a:noFill/>
          <a:ln/>
        </p:spPr>
        <p:txBody>
          <a:bodyPr wrap="square" lIns="0" tIns="0" rIns="0" bIns="0" rtlCol="0" anchor="ctr"/>
          <a:lstStyle/>
          <a:p>
            <a:pPr algn="ctr" indent="0" marL="0">
              <a:buNone/>
            </a:pPr>
            <a:r>
              <a:rPr lang="en-US" sz="1200" dirty="0">
                <a:solidFill>
                  <a:srgbClr val="1F2A30"/>
                </a:solidFill>
                <a:latin typeface="Meiryo" pitchFamily="34" charset="0"/>
                <a:ea typeface="Meiryo" pitchFamily="34" charset="-122"/>
                <a:cs typeface="Meiryo" pitchFamily="34" charset="-120"/>
              </a:rPr>
              <a:t>タイル状の構造</a:t>
            </a:r>
            <a:endParaRPr lang="en-US" sz="1200" dirty="0"/>
          </a:p>
        </p:txBody>
      </p:sp>
      <p:sp>
        <p:nvSpPr>
          <p:cNvPr id="16" name="Shape 12"/>
          <p:cNvSpPr/>
          <p:nvPr/>
        </p:nvSpPr>
        <p:spPr>
          <a:xfrm>
            <a:off x="4791456" y="4983480"/>
            <a:ext cx="155448" cy="9144"/>
          </a:xfrm>
          <a:prstGeom prst="line">
            <a:avLst/>
          </a:prstGeom>
          <a:noFill/>
          <a:ln w="19050">
            <a:solidFill>
              <a:srgbClr val="0F4C5C"/>
            </a:solidFill>
            <a:prstDash val="solid"/>
            <a:tailEnd type="triangle"/>
          </a:ln>
        </p:spPr>
      </p:sp>
      <p:sp>
        <p:nvSpPr>
          <p:cNvPr id="17" name="Shape 13"/>
          <p:cNvSpPr/>
          <p:nvPr/>
        </p:nvSpPr>
        <p:spPr>
          <a:xfrm>
            <a:off x="4946904" y="4572000"/>
            <a:ext cx="1325880" cy="822960"/>
          </a:xfrm>
          <a:prstGeom prst="roundRect">
            <a:avLst>
              <a:gd name="adj" fmla="val 11111"/>
            </a:avLst>
          </a:prstGeom>
          <a:solidFill>
            <a:srgbClr val="EEF3F4"/>
          </a:solidFill>
          <a:ln w="12700">
            <a:solidFill>
              <a:srgbClr val="EEF3F4"/>
            </a:solidFill>
            <a:prstDash val="solid"/>
          </a:ln>
        </p:spPr>
      </p:sp>
      <p:sp>
        <p:nvSpPr>
          <p:cNvPr id="18" name="Text 14"/>
          <p:cNvSpPr txBox="1"/>
          <p:nvPr/>
        </p:nvSpPr>
        <p:spPr>
          <a:xfrm>
            <a:off x="4992624" y="4572000"/>
            <a:ext cx="1234440" cy="822960"/>
          </a:xfrm>
          <a:prstGeom prst="rect">
            <a:avLst/>
          </a:prstGeom>
          <a:noFill/>
          <a:ln/>
        </p:spPr>
        <p:txBody>
          <a:bodyPr wrap="square" lIns="0" tIns="0" rIns="0" bIns="0" rtlCol="0" anchor="ctr"/>
          <a:lstStyle/>
          <a:p>
            <a:pPr algn="ctr" indent="0" marL="0">
              <a:buNone/>
            </a:pPr>
            <a:r>
              <a:rPr lang="en-US" sz="1200" dirty="0">
                <a:solidFill>
                  <a:srgbClr val="1F2A30"/>
                </a:solidFill>
                <a:latin typeface="Meiryo" pitchFamily="34" charset="0"/>
                <a:ea typeface="Meiryo" pitchFamily="34" charset="-122"/>
                <a:cs typeface="Meiryo" pitchFamily="34" charset="-120"/>
              </a:rPr>
              <a:t>格子に集合（AFMで観察）</a:t>
            </a:r>
            <a:endParaRPr lang="en-US" sz="1200" dirty="0"/>
          </a:p>
        </p:txBody>
      </p:sp>
      <p:sp>
        <p:nvSpPr>
          <p:cNvPr id="19" name="Text 15"/>
          <p:cNvSpPr txBox="1"/>
          <p:nvPr/>
        </p:nvSpPr>
        <p:spPr>
          <a:xfrm>
            <a:off x="502920" y="5440680"/>
            <a:ext cx="5852160" cy="27432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本講習用の流れ図（模式）</a:t>
            </a:r>
            <a:endParaRPr lang="en-US" sz="1100" dirty="0"/>
          </a:p>
        </p:txBody>
      </p:sp>
      <p:sp>
        <p:nvSpPr>
          <p:cNvPr id="20" name="Text 16"/>
          <p:cNvSpPr txBox="1"/>
          <p:nvPr/>
        </p:nvSpPr>
        <p:spPr>
          <a:xfrm>
            <a:off x="6675120" y="1188720"/>
            <a:ext cx="5029200" cy="47548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1本のRNA鎖が転写されながら折れる（cotranscriptional folding）</a:t>
            </a:r>
            <a:endParaRPr lang="en-US" sz="1700" dirty="0"/>
          </a:p>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らせんを架橋する crossover と、ループ同士が対合する kissing loop を組み合わせる</a:t>
            </a:r>
            <a:endParaRPr lang="en-US" sz="1700" dirty="0"/>
          </a:p>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タイルは最大 660 塩基。六角格子に自己集合</a:t>
            </a:r>
            <a:endParaRPr lang="en-US" sz="1700" dirty="0"/>
          </a:p>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遺伝子として細胞内で発現できるのがDNAナノ構造との違い</a:t>
            </a:r>
            <a:endParaRPr lang="en-US" sz="1700" dirty="0"/>
          </a:p>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二次構造予測は個々のステム・ヘアピン設計に使うが、kissing loop などの三次相互作用は別モデルが必要</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今日扱う設計問題：単一RNAの目標二次構造に合う配列を探す</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11</a:t>
            </a:r>
            <a:endParaRPr lang="en-US" sz="1100" dirty="0"/>
          </a:p>
        </p:txBody>
      </p:sp>
      <p:sp>
        <p:nvSpPr>
          <p:cNvPr id="6" name="Shape 3"/>
          <p:cNvSpPr/>
          <p:nvPr/>
        </p:nvSpPr>
        <p:spPr>
          <a:xfrm>
            <a:off x="502920" y="1234440"/>
            <a:ext cx="5394960" cy="2651760"/>
          </a:xfrm>
          <a:prstGeom prst="roundRect">
            <a:avLst>
              <a:gd name="adj" fmla="val 4138"/>
            </a:avLst>
          </a:prstGeom>
          <a:solidFill>
            <a:srgbClr val="EEF3F4"/>
          </a:solidFill>
          <a:ln w="12700">
            <a:solidFill>
              <a:srgbClr val="EEF3F4"/>
            </a:solidFill>
            <a:prstDash val="solid"/>
          </a:ln>
        </p:spPr>
      </p:sp>
      <p:sp>
        <p:nvSpPr>
          <p:cNvPr id="7" name="Text 4"/>
          <p:cNvSpPr txBox="1"/>
          <p:nvPr/>
        </p:nvSpPr>
        <p:spPr>
          <a:xfrm>
            <a:off x="685800" y="1344168"/>
            <a:ext cx="50292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予測（folding）</a:t>
            </a:r>
            <a:endParaRPr lang="en-US" sz="2000" dirty="0"/>
          </a:p>
        </p:txBody>
      </p:sp>
      <p:sp>
        <p:nvSpPr>
          <p:cNvPr id="8" name="Text 5"/>
          <p:cNvSpPr txBox="1"/>
          <p:nvPr/>
        </p:nvSpPr>
        <p:spPr>
          <a:xfrm>
            <a:off x="777240" y="1828800"/>
            <a:ext cx="1097280" cy="365760"/>
          </a:xfrm>
          <a:prstGeom prst="rect">
            <a:avLst/>
          </a:prstGeom>
          <a:noFill/>
          <a:ln/>
        </p:spPr>
        <p:txBody>
          <a:bodyPr wrap="square" lIns="0" tIns="0" rIns="0" bIns="0" rtlCol="0" anchor="t"/>
          <a:lstStyle/>
          <a:p>
            <a:pPr indent="0" marL="0">
              <a:buNone/>
            </a:pPr>
            <a:r>
              <a:rPr lang="en-US" sz="1600" dirty="0">
                <a:solidFill>
                  <a:srgbClr val="5C6B73"/>
                </a:solidFill>
                <a:latin typeface="Meiryo" pitchFamily="34" charset="0"/>
                <a:ea typeface="Meiryo" pitchFamily="34" charset="-122"/>
                <a:cs typeface="Meiryo" pitchFamily="34" charset="-120"/>
              </a:rPr>
              <a:t>配列</a:t>
            </a:r>
            <a:endParaRPr lang="en-US" sz="1600" dirty="0"/>
          </a:p>
        </p:txBody>
      </p:sp>
      <p:sp>
        <p:nvSpPr>
          <p:cNvPr id="9" name="Text 6"/>
          <p:cNvSpPr txBox="1"/>
          <p:nvPr/>
        </p:nvSpPr>
        <p:spPr>
          <a:xfrm>
            <a:off x="777240" y="2103120"/>
            <a:ext cx="2733040" cy="419100"/>
          </a:xfrm>
          <a:prstGeom prst="rect">
            <a:avLst/>
          </a:prstGeom>
          <a:noFill/>
          <a:ln/>
        </p:spPr>
        <p:txBody>
          <a:bodyPr wrap="square" lIns="0" tIns="0" rIns="0" bIns="0" rtlCol="0" anchor="ctr"/>
          <a:lstStyle/>
          <a:p>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56B4E9"/>
                </a:solidFill>
                <a:latin typeface="Consolas" pitchFamily="34" charset="0"/>
                <a:ea typeface="Consolas" pitchFamily="34" charset="-122"/>
                <a:cs typeface="Consolas" pitchFamily="34" charset="-120"/>
              </a:rPr>
              <a:t>C</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56B4E9"/>
                </a:solidFill>
                <a:latin typeface="Consolas" pitchFamily="34" charset="0"/>
                <a:ea typeface="Consolas" pitchFamily="34" charset="-122"/>
                <a:cs typeface="Consolas" pitchFamily="34" charset="-120"/>
              </a:rPr>
              <a:t>C</a:t>
            </a:r>
            <a:pPr indent="0" marL="0">
              <a:buNone/>
            </a:pPr>
            <a:r>
              <a:rPr lang="en-US" sz="2200" b="1" dirty="0">
                <a:solidFill>
                  <a:srgbClr val="E69F00"/>
                </a:solidFill>
                <a:latin typeface="Consolas" pitchFamily="34" charset="0"/>
                <a:ea typeface="Consolas" pitchFamily="34" charset="-122"/>
                <a:cs typeface="Consolas" pitchFamily="34" charset="-120"/>
              </a:rPr>
              <a:t>A</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E69F00"/>
                </a:solidFill>
                <a:latin typeface="Consolas" pitchFamily="34" charset="0"/>
                <a:ea typeface="Consolas" pitchFamily="34" charset="-122"/>
                <a:cs typeface="Consolas" pitchFamily="34" charset="-120"/>
              </a:rPr>
              <a:t>A</a:t>
            </a:r>
            <a:pPr indent="0" marL="0">
              <a:buNone/>
            </a:pPr>
            <a:r>
              <a:rPr lang="en-US" sz="2200" b="1" dirty="0">
                <a:solidFill>
                  <a:srgbClr val="E69F00"/>
                </a:solidFill>
                <a:latin typeface="Consolas" pitchFamily="34" charset="0"/>
                <a:ea typeface="Consolas" pitchFamily="34" charset="-122"/>
                <a:cs typeface="Consolas" pitchFamily="34" charset="-120"/>
              </a:rPr>
              <a:t>A</a:t>
            </a:r>
            <a:pPr indent="0" marL="0">
              <a:buNone/>
            </a:pPr>
            <a:r>
              <a:rPr lang="en-US" sz="2200" b="1" dirty="0">
                <a:solidFill>
                  <a:srgbClr val="E69F00"/>
                </a:solidFill>
                <a:latin typeface="Consolas" pitchFamily="34" charset="0"/>
                <a:ea typeface="Consolas" pitchFamily="34" charset="-122"/>
                <a:cs typeface="Consolas" pitchFamily="34" charset="-120"/>
              </a:rPr>
              <a:t>A</a:t>
            </a:r>
            <a:pPr indent="0" marL="0">
              <a:buNone/>
            </a:pPr>
            <a:r>
              <a:rPr lang="en-US" sz="2200" b="1" dirty="0">
                <a:solidFill>
                  <a:srgbClr val="CC79A7"/>
                </a:solidFill>
                <a:latin typeface="Consolas" pitchFamily="34" charset="0"/>
                <a:ea typeface="Consolas" pitchFamily="34" charset="-122"/>
                <a:cs typeface="Consolas" pitchFamily="34" charset="-120"/>
              </a:rPr>
              <a:t>U</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56B4E9"/>
                </a:solidFill>
                <a:latin typeface="Consolas" pitchFamily="34" charset="0"/>
                <a:ea typeface="Consolas" pitchFamily="34" charset="-122"/>
                <a:cs typeface="Consolas" pitchFamily="34" charset="-120"/>
              </a:rPr>
              <a:t>C</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56B4E9"/>
                </a:solidFill>
                <a:latin typeface="Consolas" pitchFamily="34" charset="0"/>
                <a:ea typeface="Consolas" pitchFamily="34" charset="-122"/>
                <a:cs typeface="Consolas" pitchFamily="34" charset="-120"/>
              </a:rPr>
              <a:t>C</a:t>
            </a:r>
            <a:pPr indent="0" marL="0">
              <a:buNone/>
            </a:pPr>
            <a:r>
              <a:rPr lang="en-US" sz="2200" b="1" dirty="0">
                <a:solidFill>
                  <a:srgbClr val="56B4E9"/>
                </a:solidFill>
                <a:latin typeface="Consolas" pitchFamily="34" charset="0"/>
                <a:ea typeface="Consolas" pitchFamily="34" charset="-122"/>
                <a:cs typeface="Consolas" pitchFamily="34" charset="-120"/>
              </a:rPr>
              <a:t>C</a:t>
            </a:r>
            <a:endParaRPr lang="en-US" sz="2200" dirty="0"/>
          </a:p>
        </p:txBody>
      </p:sp>
      <p:sp>
        <p:nvSpPr>
          <p:cNvPr id="10" name="Shape 7"/>
          <p:cNvSpPr/>
          <p:nvPr/>
        </p:nvSpPr>
        <p:spPr>
          <a:xfrm>
            <a:off x="2834640" y="2697480"/>
            <a:ext cx="9144" cy="365760"/>
          </a:xfrm>
          <a:prstGeom prst="line">
            <a:avLst/>
          </a:prstGeom>
          <a:noFill/>
          <a:ln w="25400">
            <a:solidFill>
              <a:srgbClr val="0F4C5C"/>
            </a:solidFill>
            <a:prstDash val="solid"/>
            <a:tailEnd type="triangle"/>
          </a:ln>
        </p:spPr>
      </p:sp>
      <p:sp>
        <p:nvSpPr>
          <p:cNvPr id="11" name="Text 8"/>
          <p:cNvSpPr txBox="1"/>
          <p:nvPr/>
        </p:nvSpPr>
        <p:spPr>
          <a:xfrm>
            <a:off x="3017520" y="2697480"/>
            <a:ext cx="2286000" cy="365760"/>
          </a:xfrm>
          <a:prstGeom prst="rect">
            <a:avLst/>
          </a:prstGeom>
          <a:noFill/>
          <a:ln/>
        </p:spPr>
        <p:txBody>
          <a:bodyPr wrap="square" lIns="0" tIns="0" rIns="0" bIns="0" rtlCol="0" anchor="ctr"/>
          <a:lstStyle/>
          <a:p>
            <a:pPr indent="0" marL="0">
              <a:buNone/>
            </a:pPr>
            <a:r>
              <a:rPr lang="en-US" sz="1400" dirty="0">
                <a:solidFill>
                  <a:srgbClr val="E36414"/>
                </a:solidFill>
                <a:latin typeface="Consolas" pitchFamily="34" charset="0"/>
                <a:ea typeface="Consolas" pitchFamily="34" charset="-122"/>
                <a:cs typeface="Consolas" pitchFamily="34" charset="-120"/>
              </a:rPr>
              <a:t>RNA.fold</a:t>
            </a:r>
            <a:endParaRPr lang="en-US" sz="1400" dirty="0"/>
          </a:p>
        </p:txBody>
      </p:sp>
      <p:sp>
        <p:nvSpPr>
          <p:cNvPr id="12" name="Text 9"/>
          <p:cNvSpPr txBox="1"/>
          <p:nvPr/>
        </p:nvSpPr>
        <p:spPr>
          <a:xfrm>
            <a:off x="777240" y="3108960"/>
            <a:ext cx="2733040" cy="419100"/>
          </a:xfrm>
          <a:prstGeom prst="rect">
            <a:avLst/>
          </a:prstGeom>
          <a:noFill/>
          <a:ln/>
        </p:spPr>
        <p:txBody>
          <a:bodyPr wrap="square" lIns="0" tIns="0" rIns="0" bIns="0" rtlCol="0" anchor="ctr"/>
          <a:lstStyle/>
          <a:p>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endParaRPr lang="en-US" sz="2200" dirty="0"/>
          </a:p>
        </p:txBody>
      </p:sp>
      <p:sp>
        <p:nvSpPr>
          <p:cNvPr id="13" name="Text 10"/>
          <p:cNvSpPr txBox="1"/>
          <p:nvPr/>
        </p:nvSpPr>
        <p:spPr>
          <a:xfrm>
            <a:off x="3840480" y="3108960"/>
            <a:ext cx="2011680" cy="457200"/>
          </a:xfrm>
          <a:prstGeom prst="rect">
            <a:avLst/>
          </a:prstGeom>
          <a:noFill/>
          <a:ln/>
        </p:spPr>
        <p:txBody>
          <a:bodyPr wrap="square" lIns="0" tIns="0" rIns="0" bIns="0" rtlCol="0" anchor="ctr"/>
          <a:lstStyle/>
          <a:p>
            <a:pPr indent="0" marL="0">
              <a:buNone/>
            </a:pPr>
            <a:r>
              <a:rPr lang="en-US" sz="1600" dirty="0">
                <a:solidFill>
                  <a:srgbClr val="5C6B73"/>
                </a:solidFill>
                <a:latin typeface="Meiryo" pitchFamily="34" charset="0"/>
                <a:ea typeface="Meiryo" pitchFamily="34" charset="-122"/>
                <a:cs typeface="Meiryo" pitchFamily="34" charset="-120"/>
              </a:rPr>
              <a:t>-10.20 kcal/mol</a:t>
            </a:r>
            <a:endParaRPr lang="en-US" sz="1600" dirty="0"/>
          </a:p>
        </p:txBody>
      </p:sp>
      <p:sp>
        <p:nvSpPr>
          <p:cNvPr id="14" name="Shape 11"/>
          <p:cNvSpPr/>
          <p:nvPr/>
        </p:nvSpPr>
        <p:spPr>
          <a:xfrm>
            <a:off x="6309360" y="1234440"/>
            <a:ext cx="5394960" cy="2651760"/>
          </a:xfrm>
          <a:prstGeom prst="roundRect">
            <a:avLst>
              <a:gd name="adj" fmla="val 4138"/>
            </a:avLst>
          </a:prstGeom>
          <a:solidFill>
            <a:srgbClr val="EEF3F4"/>
          </a:solidFill>
          <a:ln w="12700">
            <a:solidFill>
              <a:srgbClr val="EEF3F4"/>
            </a:solidFill>
            <a:prstDash val="solid"/>
          </a:ln>
        </p:spPr>
      </p:sp>
      <p:sp>
        <p:nvSpPr>
          <p:cNvPr id="15" name="Text 12"/>
          <p:cNvSpPr txBox="1"/>
          <p:nvPr/>
        </p:nvSpPr>
        <p:spPr>
          <a:xfrm>
            <a:off x="6492240" y="1344168"/>
            <a:ext cx="50292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設計（inverse folding）</a:t>
            </a:r>
            <a:endParaRPr lang="en-US" sz="2000" dirty="0"/>
          </a:p>
        </p:txBody>
      </p:sp>
      <p:sp>
        <p:nvSpPr>
          <p:cNvPr id="16" name="Text 13"/>
          <p:cNvSpPr txBox="1"/>
          <p:nvPr/>
        </p:nvSpPr>
        <p:spPr>
          <a:xfrm>
            <a:off x="6583680" y="1828800"/>
            <a:ext cx="1371600" cy="365760"/>
          </a:xfrm>
          <a:prstGeom prst="rect">
            <a:avLst/>
          </a:prstGeom>
          <a:noFill/>
          <a:ln/>
        </p:spPr>
        <p:txBody>
          <a:bodyPr wrap="square" lIns="0" tIns="0" rIns="0" bIns="0" rtlCol="0" anchor="t"/>
          <a:lstStyle/>
          <a:p>
            <a:pPr indent="0" marL="0">
              <a:buNone/>
            </a:pPr>
            <a:r>
              <a:rPr lang="en-US" sz="1600" dirty="0">
                <a:solidFill>
                  <a:srgbClr val="5C6B73"/>
                </a:solidFill>
                <a:latin typeface="Meiryo" pitchFamily="34" charset="0"/>
                <a:ea typeface="Meiryo" pitchFamily="34" charset="-122"/>
                <a:cs typeface="Meiryo" pitchFamily="34" charset="-120"/>
              </a:rPr>
              <a:t>目標構造</a:t>
            </a:r>
            <a:endParaRPr lang="en-US" sz="1600" dirty="0"/>
          </a:p>
        </p:txBody>
      </p:sp>
      <p:sp>
        <p:nvSpPr>
          <p:cNvPr id="17" name="Text 14"/>
          <p:cNvSpPr txBox="1"/>
          <p:nvPr/>
        </p:nvSpPr>
        <p:spPr>
          <a:xfrm>
            <a:off x="6583680" y="2103120"/>
            <a:ext cx="2733040" cy="419100"/>
          </a:xfrm>
          <a:prstGeom prst="rect">
            <a:avLst/>
          </a:prstGeom>
          <a:noFill/>
          <a:ln/>
        </p:spPr>
        <p:txBody>
          <a:bodyPr wrap="square" lIns="0" tIns="0" rIns="0" bIns="0" rtlCol="0" anchor="ctr"/>
          <a:lstStyle/>
          <a:p>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endParaRPr lang="en-US" sz="2200" dirty="0"/>
          </a:p>
        </p:txBody>
      </p:sp>
      <p:sp>
        <p:nvSpPr>
          <p:cNvPr id="18" name="Shape 15"/>
          <p:cNvSpPr/>
          <p:nvPr/>
        </p:nvSpPr>
        <p:spPr>
          <a:xfrm>
            <a:off x="8641080" y="2697480"/>
            <a:ext cx="9144" cy="365760"/>
          </a:xfrm>
          <a:prstGeom prst="line">
            <a:avLst/>
          </a:prstGeom>
          <a:noFill/>
          <a:ln w="25400">
            <a:solidFill>
              <a:srgbClr val="0F4C5C"/>
            </a:solidFill>
            <a:prstDash val="solid"/>
            <a:tailEnd type="triangle"/>
          </a:ln>
        </p:spPr>
      </p:sp>
      <p:sp>
        <p:nvSpPr>
          <p:cNvPr id="19" name="Text 16"/>
          <p:cNvSpPr txBox="1"/>
          <p:nvPr/>
        </p:nvSpPr>
        <p:spPr>
          <a:xfrm>
            <a:off x="8823960" y="2697480"/>
            <a:ext cx="2743200" cy="365760"/>
          </a:xfrm>
          <a:prstGeom prst="rect">
            <a:avLst/>
          </a:prstGeom>
          <a:noFill/>
          <a:ln/>
        </p:spPr>
        <p:txBody>
          <a:bodyPr wrap="square" lIns="0" tIns="0" rIns="0" bIns="0" rtlCol="0" anchor="ctr"/>
          <a:lstStyle/>
          <a:p>
            <a:pPr indent="0" marL="0">
              <a:buNone/>
            </a:pPr>
            <a:r>
              <a:rPr lang="en-US" sz="1400" dirty="0">
                <a:solidFill>
                  <a:srgbClr val="E36414"/>
                </a:solidFill>
                <a:latin typeface="Consolas" pitchFamily="34" charset="0"/>
                <a:ea typeface="Consolas" pitchFamily="34" charset="-122"/>
                <a:cs typeface="Consolas" pitchFamily="34" charset="-120"/>
              </a:rPr>
              <a:t>RNA.inverse_fold</a:t>
            </a:r>
            <a:endParaRPr lang="en-US" sz="1400" dirty="0"/>
          </a:p>
        </p:txBody>
      </p:sp>
      <p:sp>
        <p:nvSpPr>
          <p:cNvPr id="20" name="Text 17"/>
          <p:cNvSpPr txBox="1"/>
          <p:nvPr/>
        </p:nvSpPr>
        <p:spPr>
          <a:xfrm>
            <a:off x="6583680" y="3108960"/>
            <a:ext cx="2733040" cy="419100"/>
          </a:xfrm>
          <a:prstGeom prst="rect">
            <a:avLst/>
          </a:prstGeom>
          <a:noFill/>
          <a:ln/>
        </p:spPr>
        <p:txBody>
          <a:bodyPr wrap="square" lIns="0" tIns="0" rIns="0" bIns="0" rtlCol="0" anchor="ctr"/>
          <a:lstStyle/>
          <a:p>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endParaRPr lang="en-US" sz="2200" dirty="0"/>
          </a:p>
        </p:txBody>
      </p:sp>
      <p:sp>
        <p:nvSpPr>
          <p:cNvPr id="21" name="Text 18"/>
          <p:cNvSpPr txBox="1"/>
          <p:nvPr/>
        </p:nvSpPr>
        <p:spPr>
          <a:xfrm>
            <a:off x="9966960" y="3108960"/>
            <a:ext cx="1737360" cy="457200"/>
          </a:xfrm>
          <a:prstGeom prst="rect">
            <a:avLst/>
          </a:prstGeom>
          <a:noFill/>
          <a:ln/>
        </p:spPr>
        <p:txBody>
          <a:bodyPr wrap="square" lIns="0" tIns="0" rIns="0" bIns="0" rtlCol="0" anchor="ctr"/>
          <a:lstStyle/>
          <a:p>
            <a:pPr indent="0" marL="0">
              <a:buNone/>
            </a:pPr>
            <a:r>
              <a:rPr lang="en-US" sz="1300" dirty="0">
                <a:solidFill>
                  <a:srgbClr val="5C6B73"/>
                </a:solidFill>
                <a:latin typeface="Meiryo" pitchFamily="34" charset="0"/>
                <a:ea typeface="Meiryo" pitchFamily="34" charset="-122"/>
                <a:cs typeface="Meiryo" pitchFamily="34" charset="-120"/>
              </a:rPr>
              <a:t>（複数の答え／答えなし）</a:t>
            </a:r>
            <a:endParaRPr lang="en-US" sz="1300" dirty="0"/>
          </a:p>
        </p:txBody>
      </p:sp>
      <p:sp>
        <p:nvSpPr>
          <p:cNvPr id="22" name="Text 19"/>
          <p:cNvSpPr txBox="1"/>
          <p:nvPr/>
        </p:nvSpPr>
        <p:spPr>
          <a:xfrm>
            <a:off x="502920" y="4114800"/>
            <a:ext cx="7315200" cy="20116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800" dirty="0">
                <a:solidFill>
                  <a:srgbClr val="1F2A30"/>
                </a:solidFill>
                <a:latin typeface="Meiryo" pitchFamily="34" charset="0"/>
                <a:ea typeface="Meiryo" pitchFamily="34" charset="-122"/>
                <a:cs typeface="Meiryo" pitchFamily="34" charset="-120"/>
              </a:rPr>
              <a:t>入力：目標二次構造 T（dot-bracket）。出力：予測構造が T に一致する配列 x</a:t>
            </a:r>
            <a:endParaRPr lang="en-US" sz="1800" dirty="0"/>
          </a:p>
          <a:p>
            <a:pPr marL="342900" indent="-342900">
              <a:spcAft>
                <a:spcPts val="800"/>
              </a:spcAft>
              <a:buSzPct val="100000"/>
              <a:buChar char="•"/>
            </a:pPr>
            <a:r>
              <a:rPr lang="en-US" sz="1800" dirty="0">
                <a:solidFill>
                  <a:srgbClr val="1F2A30"/>
                </a:solidFill>
                <a:latin typeface="Meiryo" pitchFamily="34" charset="0"/>
                <a:ea typeface="Meiryo" pitchFamily="34" charset="-122"/>
                <a:cs typeface="Meiryo" pitchFamily="34" charset="-120"/>
              </a:rPr>
              <a:t>評価器は予測プログラムそのもの。「配列を少し変えて再予測」を繰り返す探索</a:t>
            </a:r>
            <a:endParaRPr lang="en-US" sz="1800" dirty="0"/>
          </a:p>
          <a:p>
            <a:pPr marL="342900" indent="-342900">
              <a:spcAft>
                <a:spcPts val="800"/>
              </a:spcAft>
              <a:buSzPct val="100000"/>
              <a:buChar char="•"/>
            </a:pPr>
            <a:r>
              <a:rPr lang="en-US" sz="1800" dirty="0">
                <a:solidFill>
                  <a:srgbClr val="1F2A30"/>
                </a:solidFill>
                <a:latin typeface="Meiryo" pitchFamily="34" charset="0"/>
                <a:ea typeface="Meiryo" pitchFamily="34" charset="-122"/>
                <a:cs typeface="Meiryo" pitchFamily="34" charset="-120"/>
              </a:rPr>
              <a:t>距離 d(予測構造, T) が 0 になれば成功。0 にならないこともある</a:t>
            </a:r>
            <a:endParaRPr lang="en-US" sz="1800" dirty="0"/>
          </a:p>
        </p:txBody>
      </p:sp>
      <p:sp>
        <p:nvSpPr>
          <p:cNvPr id="23" name="Shape 20"/>
          <p:cNvSpPr/>
          <p:nvPr/>
        </p:nvSpPr>
        <p:spPr>
          <a:xfrm>
            <a:off x="8046720" y="4114800"/>
            <a:ext cx="3657600" cy="2011680"/>
          </a:xfrm>
          <a:prstGeom prst="roundRect">
            <a:avLst>
              <a:gd name="adj" fmla="val 5455"/>
            </a:avLst>
          </a:prstGeom>
          <a:solidFill>
            <a:srgbClr val="FBE9DC"/>
          </a:solidFill>
          <a:ln w="12700">
            <a:solidFill>
              <a:srgbClr val="FBE9DC"/>
            </a:solidFill>
            <a:prstDash val="solid"/>
          </a:ln>
        </p:spPr>
      </p:sp>
      <p:sp>
        <p:nvSpPr>
          <p:cNvPr id="24" name="Text 21"/>
          <p:cNvSpPr txBox="1"/>
          <p:nvPr/>
        </p:nvSpPr>
        <p:spPr>
          <a:xfrm>
            <a:off x="8229600" y="4224528"/>
            <a:ext cx="329184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今日は扱わない条件</a:t>
            </a:r>
            <a:endParaRPr lang="en-US" sz="2000" dirty="0"/>
          </a:p>
        </p:txBody>
      </p:sp>
      <p:sp>
        <p:nvSpPr>
          <p:cNvPr id="25" name="Text 22"/>
          <p:cNvSpPr txBox="1"/>
          <p:nvPr/>
        </p:nvSpPr>
        <p:spPr>
          <a:xfrm>
            <a:off x="8229600" y="4681728"/>
            <a:ext cx="3291840" cy="13258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複数の状態（ON/OFF）</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他の分子との相互作用</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三次構造・擬似結び目</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実験での機能確認</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RNAの配列と塩基対：A–U、G–C、G–U</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12</a:t>
            </a:r>
            <a:endParaRPr lang="en-US" sz="1100" dirty="0"/>
          </a:p>
        </p:txBody>
      </p:sp>
      <p:sp>
        <p:nvSpPr>
          <p:cNvPr id="6" name="Text 3"/>
          <p:cNvSpPr/>
          <p:nvPr/>
        </p:nvSpPr>
        <p:spPr>
          <a:xfrm>
            <a:off x="685800" y="1371600"/>
            <a:ext cx="731520" cy="731520"/>
          </a:xfrm>
          <a:prstGeom prst="ellipse">
            <a:avLst/>
          </a:prstGeom>
          <a:solidFill>
            <a:srgbClr val="E69F00"/>
          </a:solidFill>
          <a:ln>
            <a:solidFill>
              <a:srgbClr val="FFFFFF"/>
            </a:solid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A</a:t>
            </a:r>
            <a:endParaRPr lang="en-US" sz="2800" dirty="0"/>
          </a:p>
        </p:txBody>
      </p:sp>
      <p:sp>
        <p:nvSpPr>
          <p:cNvPr id="7" name="Text 4"/>
          <p:cNvSpPr txBox="1"/>
          <p:nvPr/>
        </p:nvSpPr>
        <p:spPr>
          <a:xfrm>
            <a:off x="502920" y="2148840"/>
            <a:ext cx="1097280" cy="320040"/>
          </a:xfrm>
          <a:prstGeom prst="rect">
            <a:avLst/>
          </a:prstGeom>
          <a:noFill/>
          <a:ln/>
        </p:spPr>
        <p:txBody>
          <a:bodyPr wrap="square" lIns="0" tIns="0" rIns="0" bIns="0" rtlCol="0" anchor="t"/>
          <a:lstStyle/>
          <a:p>
            <a:pPr algn="ctr" indent="0" marL="0">
              <a:buNone/>
            </a:pPr>
            <a:r>
              <a:rPr lang="en-US" sz="1200" dirty="0">
                <a:solidFill>
                  <a:srgbClr val="5C6B73"/>
                </a:solidFill>
                <a:latin typeface="Meiryo" pitchFamily="34" charset="0"/>
                <a:ea typeface="Meiryo" pitchFamily="34" charset="-122"/>
                <a:cs typeface="Meiryo" pitchFamily="34" charset="-120"/>
              </a:rPr>
              <a:t>アデニン</a:t>
            </a:r>
            <a:endParaRPr lang="en-US" sz="1200" dirty="0"/>
          </a:p>
        </p:txBody>
      </p:sp>
      <p:sp>
        <p:nvSpPr>
          <p:cNvPr id="8" name="Text 5"/>
          <p:cNvSpPr/>
          <p:nvPr/>
        </p:nvSpPr>
        <p:spPr>
          <a:xfrm>
            <a:off x="1828800" y="1371600"/>
            <a:ext cx="731520" cy="73152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C</a:t>
            </a:r>
            <a:endParaRPr lang="en-US" sz="2800" dirty="0"/>
          </a:p>
        </p:txBody>
      </p:sp>
      <p:sp>
        <p:nvSpPr>
          <p:cNvPr id="9" name="Text 6"/>
          <p:cNvSpPr txBox="1"/>
          <p:nvPr/>
        </p:nvSpPr>
        <p:spPr>
          <a:xfrm>
            <a:off x="1645920" y="2148840"/>
            <a:ext cx="1097280" cy="320040"/>
          </a:xfrm>
          <a:prstGeom prst="rect">
            <a:avLst/>
          </a:prstGeom>
          <a:noFill/>
          <a:ln/>
        </p:spPr>
        <p:txBody>
          <a:bodyPr wrap="square" lIns="0" tIns="0" rIns="0" bIns="0" rtlCol="0" anchor="t"/>
          <a:lstStyle/>
          <a:p>
            <a:pPr algn="ctr" indent="0" marL="0">
              <a:buNone/>
            </a:pPr>
            <a:r>
              <a:rPr lang="en-US" sz="1200" dirty="0">
                <a:solidFill>
                  <a:srgbClr val="5C6B73"/>
                </a:solidFill>
                <a:latin typeface="Meiryo" pitchFamily="34" charset="0"/>
                <a:ea typeface="Meiryo" pitchFamily="34" charset="-122"/>
                <a:cs typeface="Meiryo" pitchFamily="34" charset="-120"/>
              </a:rPr>
              <a:t>シトシン</a:t>
            </a:r>
            <a:endParaRPr lang="en-US" sz="1200" dirty="0"/>
          </a:p>
        </p:txBody>
      </p:sp>
      <p:sp>
        <p:nvSpPr>
          <p:cNvPr id="10" name="Text 7"/>
          <p:cNvSpPr/>
          <p:nvPr/>
        </p:nvSpPr>
        <p:spPr>
          <a:xfrm>
            <a:off x="2971800" y="1371600"/>
            <a:ext cx="731520" cy="73152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G</a:t>
            </a:r>
            <a:endParaRPr lang="en-US" sz="2800" dirty="0"/>
          </a:p>
        </p:txBody>
      </p:sp>
      <p:sp>
        <p:nvSpPr>
          <p:cNvPr id="11" name="Text 8"/>
          <p:cNvSpPr txBox="1"/>
          <p:nvPr/>
        </p:nvSpPr>
        <p:spPr>
          <a:xfrm>
            <a:off x="2788920" y="2148840"/>
            <a:ext cx="1097280" cy="320040"/>
          </a:xfrm>
          <a:prstGeom prst="rect">
            <a:avLst/>
          </a:prstGeom>
          <a:noFill/>
          <a:ln/>
        </p:spPr>
        <p:txBody>
          <a:bodyPr wrap="square" lIns="0" tIns="0" rIns="0" bIns="0" rtlCol="0" anchor="t"/>
          <a:lstStyle/>
          <a:p>
            <a:pPr algn="ctr" indent="0" marL="0">
              <a:buNone/>
            </a:pPr>
            <a:r>
              <a:rPr lang="en-US" sz="1200" dirty="0">
                <a:solidFill>
                  <a:srgbClr val="5C6B73"/>
                </a:solidFill>
                <a:latin typeface="Meiryo" pitchFamily="34" charset="0"/>
                <a:ea typeface="Meiryo" pitchFamily="34" charset="-122"/>
                <a:cs typeface="Meiryo" pitchFamily="34" charset="-120"/>
              </a:rPr>
              <a:t>グアニン</a:t>
            </a:r>
            <a:endParaRPr lang="en-US" sz="1200" dirty="0"/>
          </a:p>
        </p:txBody>
      </p:sp>
      <p:sp>
        <p:nvSpPr>
          <p:cNvPr id="12" name="Text 9"/>
          <p:cNvSpPr/>
          <p:nvPr/>
        </p:nvSpPr>
        <p:spPr>
          <a:xfrm>
            <a:off x="4114800" y="1371600"/>
            <a:ext cx="731520" cy="731520"/>
          </a:xfrm>
          <a:prstGeom prst="ellipse">
            <a:avLst/>
          </a:prstGeom>
          <a:solidFill>
            <a:srgbClr val="CC79A7"/>
          </a:solidFill>
          <a:ln>
            <a:solidFill>
              <a:srgbClr val="FFFFFF"/>
            </a:solid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U</a:t>
            </a:r>
            <a:endParaRPr lang="en-US" sz="2800" dirty="0"/>
          </a:p>
        </p:txBody>
      </p:sp>
      <p:sp>
        <p:nvSpPr>
          <p:cNvPr id="13" name="Text 10"/>
          <p:cNvSpPr txBox="1"/>
          <p:nvPr/>
        </p:nvSpPr>
        <p:spPr>
          <a:xfrm>
            <a:off x="3931920" y="2148840"/>
            <a:ext cx="1097280" cy="320040"/>
          </a:xfrm>
          <a:prstGeom prst="rect">
            <a:avLst/>
          </a:prstGeom>
          <a:noFill/>
          <a:ln/>
        </p:spPr>
        <p:txBody>
          <a:bodyPr wrap="square" lIns="0" tIns="0" rIns="0" bIns="0" rtlCol="0" anchor="t"/>
          <a:lstStyle/>
          <a:p>
            <a:pPr algn="ctr" indent="0" marL="0">
              <a:buNone/>
            </a:pPr>
            <a:r>
              <a:rPr lang="en-US" sz="1200" dirty="0">
                <a:solidFill>
                  <a:srgbClr val="5C6B73"/>
                </a:solidFill>
                <a:latin typeface="Meiryo" pitchFamily="34" charset="0"/>
                <a:ea typeface="Meiryo" pitchFamily="34" charset="-122"/>
                <a:cs typeface="Meiryo" pitchFamily="34" charset="-120"/>
              </a:rPr>
              <a:t>ウラシル</a:t>
            </a:r>
            <a:endParaRPr lang="en-US" sz="1200" dirty="0"/>
          </a:p>
        </p:txBody>
      </p:sp>
      <p:sp>
        <p:nvSpPr>
          <p:cNvPr id="14" name="Text 11"/>
          <p:cNvSpPr/>
          <p:nvPr/>
        </p:nvSpPr>
        <p:spPr>
          <a:xfrm>
            <a:off x="685800" y="2743200"/>
            <a:ext cx="640080" cy="640080"/>
          </a:xfrm>
          <a:prstGeom prst="ellipse">
            <a:avLst/>
          </a:prstGeom>
          <a:solidFill>
            <a:srgbClr val="E69F00"/>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A</a:t>
            </a:r>
            <a:endParaRPr lang="en-US" sz="2400" dirty="0"/>
          </a:p>
        </p:txBody>
      </p:sp>
      <p:sp>
        <p:nvSpPr>
          <p:cNvPr id="15" name="Shape 12"/>
          <p:cNvSpPr/>
          <p:nvPr/>
        </p:nvSpPr>
        <p:spPr>
          <a:xfrm>
            <a:off x="1325880" y="3063240"/>
            <a:ext cx="640080" cy="9144"/>
          </a:xfrm>
          <a:prstGeom prst="line">
            <a:avLst/>
          </a:prstGeom>
          <a:noFill/>
          <a:ln w="38100">
            <a:solidFill>
              <a:srgbClr val="0F4C5C"/>
            </a:solidFill>
            <a:prstDash val="solid"/>
          </a:ln>
        </p:spPr>
      </p:sp>
      <p:sp>
        <p:nvSpPr>
          <p:cNvPr id="16" name="Text 13"/>
          <p:cNvSpPr/>
          <p:nvPr/>
        </p:nvSpPr>
        <p:spPr>
          <a:xfrm>
            <a:off x="1965960" y="2743200"/>
            <a:ext cx="640080" cy="640080"/>
          </a:xfrm>
          <a:prstGeom prst="ellipse">
            <a:avLst/>
          </a:prstGeom>
          <a:solidFill>
            <a:srgbClr val="CC79A7"/>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U</a:t>
            </a:r>
            <a:endParaRPr lang="en-US" sz="2400" dirty="0"/>
          </a:p>
        </p:txBody>
      </p:sp>
      <p:sp>
        <p:nvSpPr>
          <p:cNvPr id="17" name="Text 14"/>
          <p:cNvSpPr txBox="1"/>
          <p:nvPr/>
        </p:nvSpPr>
        <p:spPr>
          <a:xfrm>
            <a:off x="2788920" y="2743200"/>
            <a:ext cx="2377440" cy="640080"/>
          </a:xfrm>
          <a:prstGeom prst="rect">
            <a:avLst/>
          </a:prstGeom>
          <a:noFill/>
          <a:ln/>
        </p:spPr>
        <p:txBody>
          <a:bodyPr wrap="square" lIns="0" tIns="0" rIns="0" bIns="0" rtlCol="0" anchor="ctr"/>
          <a:lstStyle/>
          <a:p>
            <a:pPr indent="0" marL="0">
              <a:buNone/>
            </a:pPr>
            <a:r>
              <a:rPr lang="en-US" sz="1800" dirty="0">
                <a:solidFill>
                  <a:srgbClr val="1F2A30"/>
                </a:solidFill>
                <a:latin typeface="Meiryo" pitchFamily="34" charset="0"/>
                <a:ea typeface="Meiryo" pitchFamily="34" charset="-122"/>
                <a:cs typeface="Meiryo" pitchFamily="34" charset="-120"/>
              </a:rPr>
              <a:t>水素結合 2本</a:t>
            </a:r>
            <a:endParaRPr lang="en-US" sz="1800" dirty="0"/>
          </a:p>
        </p:txBody>
      </p:sp>
      <p:sp>
        <p:nvSpPr>
          <p:cNvPr id="18" name="Text 15"/>
          <p:cNvSpPr txBox="1"/>
          <p:nvPr/>
        </p:nvSpPr>
        <p:spPr>
          <a:xfrm>
            <a:off x="5120640" y="2743200"/>
            <a:ext cx="1920240" cy="64008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標準（Watson–Crick）</a:t>
            </a:r>
            <a:endParaRPr lang="en-US" sz="1400" dirty="0"/>
          </a:p>
        </p:txBody>
      </p:sp>
      <p:sp>
        <p:nvSpPr>
          <p:cNvPr id="19" name="Text 16"/>
          <p:cNvSpPr/>
          <p:nvPr/>
        </p:nvSpPr>
        <p:spPr>
          <a:xfrm>
            <a:off x="685800" y="3840480"/>
            <a:ext cx="640080" cy="64008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G</a:t>
            </a:r>
            <a:endParaRPr lang="en-US" sz="2400" dirty="0"/>
          </a:p>
        </p:txBody>
      </p:sp>
      <p:sp>
        <p:nvSpPr>
          <p:cNvPr id="20" name="Shape 17"/>
          <p:cNvSpPr/>
          <p:nvPr/>
        </p:nvSpPr>
        <p:spPr>
          <a:xfrm>
            <a:off x="1325880" y="4160520"/>
            <a:ext cx="640080" cy="9144"/>
          </a:xfrm>
          <a:prstGeom prst="line">
            <a:avLst/>
          </a:prstGeom>
          <a:noFill/>
          <a:ln w="38100">
            <a:solidFill>
              <a:srgbClr val="0F4C5C"/>
            </a:solidFill>
            <a:prstDash val="solid"/>
          </a:ln>
        </p:spPr>
      </p:sp>
      <p:sp>
        <p:nvSpPr>
          <p:cNvPr id="21" name="Text 18"/>
          <p:cNvSpPr/>
          <p:nvPr/>
        </p:nvSpPr>
        <p:spPr>
          <a:xfrm>
            <a:off x="1965960" y="3840480"/>
            <a:ext cx="640080" cy="64008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C</a:t>
            </a:r>
            <a:endParaRPr lang="en-US" sz="2400" dirty="0"/>
          </a:p>
        </p:txBody>
      </p:sp>
      <p:sp>
        <p:nvSpPr>
          <p:cNvPr id="22" name="Text 19"/>
          <p:cNvSpPr txBox="1"/>
          <p:nvPr/>
        </p:nvSpPr>
        <p:spPr>
          <a:xfrm>
            <a:off x="2788920" y="3840480"/>
            <a:ext cx="2377440" cy="640080"/>
          </a:xfrm>
          <a:prstGeom prst="rect">
            <a:avLst/>
          </a:prstGeom>
          <a:noFill/>
          <a:ln/>
        </p:spPr>
        <p:txBody>
          <a:bodyPr wrap="square" lIns="0" tIns="0" rIns="0" bIns="0" rtlCol="0" anchor="ctr"/>
          <a:lstStyle/>
          <a:p>
            <a:pPr indent="0" marL="0">
              <a:buNone/>
            </a:pPr>
            <a:r>
              <a:rPr lang="en-US" sz="1800" dirty="0">
                <a:solidFill>
                  <a:srgbClr val="1F2A30"/>
                </a:solidFill>
                <a:latin typeface="Meiryo" pitchFamily="34" charset="0"/>
                <a:ea typeface="Meiryo" pitchFamily="34" charset="-122"/>
                <a:cs typeface="Meiryo" pitchFamily="34" charset="-120"/>
              </a:rPr>
              <a:t>水素結合 3本</a:t>
            </a:r>
            <a:endParaRPr lang="en-US" sz="1800" dirty="0"/>
          </a:p>
        </p:txBody>
      </p:sp>
      <p:sp>
        <p:nvSpPr>
          <p:cNvPr id="23" name="Text 20"/>
          <p:cNvSpPr txBox="1"/>
          <p:nvPr/>
        </p:nvSpPr>
        <p:spPr>
          <a:xfrm>
            <a:off x="5120640" y="3840480"/>
            <a:ext cx="1920240" cy="64008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標準・最も安定</a:t>
            </a:r>
            <a:endParaRPr lang="en-US" sz="1400" dirty="0"/>
          </a:p>
        </p:txBody>
      </p:sp>
      <p:sp>
        <p:nvSpPr>
          <p:cNvPr id="24" name="Text 21"/>
          <p:cNvSpPr/>
          <p:nvPr/>
        </p:nvSpPr>
        <p:spPr>
          <a:xfrm>
            <a:off x="685800" y="4937760"/>
            <a:ext cx="640080" cy="64008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G</a:t>
            </a:r>
            <a:endParaRPr lang="en-US" sz="2400" dirty="0"/>
          </a:p>
        </p:txBody>
      </p:sp>
      <p:sp>
        <p:nvSpPr>
          <p:cNvPr id="25" name="Shape 22"/>
          <p:cNvSpPr/>
          <p:nvPr/>
        </p:nvSpPr>
        <p:spPr>
          <a:xfrm>
            <a:off x="1325880" y="5257800"/>
            <a:ext cx="640080" cy="9144"/>
          </a:xfrm>
          <a:prstGeom prst="line">
            <a:avLst/>
          </a:prstGeom>
          <a:noFill/>
          <a:ln w="38100">
            <a:solidFill>
              <a:srgbClr val="0F4C5C"/>
            </a:solidFill>
            <a:prstDash val="solid"/>
          </a:ln>
        </p:spPr>
      </p:sp>
      <p:sp>
        <p:nvSpPr>
          <p:cNvPr id="26" name="Text 23"/>
          <p:cNvSpPr/>
          <p:nvPr/>
        </p:nvSpPr>
        <p:spPr>
          <a:xfrm>
            <a:off x="1965960" y="4937760"/>
            <a:ext cx="640080" cy="640080"/>
          </a:xfrm>
          <a:prstGeom prst="ellipse">
            <a:avLst/>
          </a:prstGeom>
          <a:solidFill>
            <a:srgbClr val="CC79A7"/>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U</a:t>
            </a:r>
            <a:endParaRPr lang="en-US" sz="2400" dirty="0"/>
          </a:p>
        </p:txBody>
      </p:sp>
      <p:sp>
        <p:nvSpPr>
          <p:cNvPr id="27" name="Text 24"/>
          <p:cNvSpPr txBox="1"/>
          <p:nvPr/>
        </p:nvSpPr>
        <p:spPr>
          <a:xfrm>
            <a:off x="2788920" y="4937760"/>
            <a:ext cx="2377440" cy="640080"/>
          </a:xfrm>
          <a:prstGeom prst="rect">
            <a:avLst/>
          </a:prstGeom>
          <a:noFill/>
          <a:ln/>
        </p:spPr>
        <p:txBody>
          <a:bodyPr wrap="square" lIns="0" tIns="0" rIns="0" bIns="0" rtlCol="0" anchor="ctr"/>
          <a:lstStyle/>
          <a:p>
            <a:pPr indent="0" marL="0">
              <a:buNone/>
            </a:pPr>
            <a:r>
              <a:rPr lang="en-US" sz="1800" dirty="0">
                <a:solidFill>
                  <a:srgbClr val="1F2A30"/>
                </a:solidFill>
                <a:latin typeface="Meiryo" pitchFamily="34" charset="0"/>
                <a:ea typeface="Meiryo" pitchFamily="34" charset="-122"/>
                <a:cs typeface="Meiryo" pitchFamily="34" charset="-120"/>
              </a:rPr>
              <a:t>ゆらぎ対（wobble）</a:t>
            </a:r>
            <a:endParaRPr lang="en-US" sz="1800" dirty="0"/>
          </a:p>
        </p:txBody>
      </p:sp>
      <p:sp>
        <p:nvSpPr>
          <p:cNvPr id="28" name="Text 25"/>
          <p:cNvSpPr txBox="1"/>
          <p:nvPr/>
        </p:nvSpPr>
        <p:spPr>
          <a:xfrm>
            <a:off x="5120640" y="4937760"/>
            <a:ext cx="1920240" cy="64008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弱いが許される</a:t>
            </a:r>
            <a:endParaRPr lang="en-US" sz="1400" dirty="0"/>
          </a:p>
        </p:txBody>
      </p:sp>
      <p:sp>
        <p:nvSpPr>
          <p:cNvPr id="29" name="Shape 26"/>
          <p:cNvSpPr/>
          <p:nvPr/>
        </p:nvSpPr>
        <p:spPr>
          <a:xfrm>
            <a:off x="7132320" y="1234440"/>
            <a:ext cx="4572000" cy="4892040"/>
          </a:xfrm>
          <a:prstGeom prst="roundRect">
            <a:avLst>
              <a:gd name="adj" fmla="val 2400"/>
            </a:avLst>
          </a:prstGeom>
          <a:solidFill>
            <a:srgbClr val="EEF3F4"/>
          </a:solidFill>
          <a:ln w="12700">
            <a:solidFill>
              <a:srgbClr val="EEF3F4"/>
            </a:solidFill>
            <a:prstDash val="solid"/>
          </a:ln>
        </p:spPr>
      </p:sp>
      <p:sp>
        <p:nvSpPr>
          <p:cNvPr id="30" name="Text 27"/>
          <p:cNvSpPr txBox="1"/>
          <p:nvPr/>
        </p:nvSpPr>
        <p:spPr>
          <a:xfrm>
            <a:off x="7315200" y="1344168"/>
            <a:ext cx="42062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逆平行に並んで対合する</a:t>
            </a:r>
            <a:endParaRPr lang="en-US" sz="2000" dirty="0"/>
          </a:p>
        </p:txBody>
      </p:sp>
      <p:sp>
        <p:nvSpPr>
          <p:cNvPr id="31" name="Text 28"/>
          <p:cNvSpPr txBox="1"/>
          <p:nvPr/>
        </p:nvSpPr>
        <p:spPr>
          <a:xfrm>
            <a:off x="7223760" y="2194560"/>
            <a:ext cx="365760" cy="45720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p>
        </p:txBody>
      </p:sp>
      <p:sp>
        <p:nvSpPr>
          <p:cNvPr id="32" name="Text 29"/>
          <p:cNvSpPr txBox="1"/>
          <p:nvPr/>
        </p:nvSpPr>
        <p:spPr>
          <a:xfrm>
            <a:off x="11036808" y="2194560"/>
            <a:ext cx="365760" cy="45720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3'</a:t>
            </a:r>
            <a:endParaRPr lang="en-US" sz="1400" dirty="0"/>
          </a:p>
        </p:txBody>
      </p:sp>
      <p:sp>
        <p:nvSpPr>
          <p:cNvPr id="33" name="Text 30"/>
          <p:cNvSpPr txBox="1"/>
          <p:nvPr/>
        </p:nvSpPr>
        <p:spPr>
          <a:xfrm>
            <a:off x="7223760" y="3566160"/>
            <a:ext cx="365760" cy="45720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3'</a:t>
            </a:r>
            <a:endParaRPr lang="en-US" sz="1400" dirty="0"/>
          </a:p>
        </p:txBody>
      </p:sp>
      <p:sp>
        <p:nvSpPr>
          <p:cNvPr id="34" name="Text 31"/>
          <p:cNvSpPr txBox="1"/>
          <p:nvPr/>
        </p:nvSpPr>
        <p:spPr>
          <a:xfrm>
            <a:off x="11036808" y="3566160"/>
            <a:ext cx="365760" cy="45720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p>
        </p:txBody>
      </p:sp>
      <p:sp>
        <p:nvSpPr>
          <p:cNvPr id="35" name="Text 32"/>
          <p:cNvSpPr/>
          <p:nvPr/>
        </p:nvSpPr>
        <p:spPr>
          <a:xfrm>
            <a:off x="7589520" y="21945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36" name="Text 33"/>
          <p:cNvSpPr/>
          <p:nvPr/>
        </p:nvSpPr>
        <p:spPr>
          <a:xfrm>
            <a:off x="7589520" y="35661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37" name="Shape 34"/>
          <p:cNvSpPr/>
          <p:nvPr/>
        </p:nvSpPr>
        <p:spPr>
          <a:xfrm>
            <a:off x="7818120" y="2651760"/>
            <a:ext cx="9144" cy="914400"/>
          </a:xfrm>
          <a:prstGeom prst="line">
            <a:avLst/>
          </a:prstGeom>
          <a:noFill/>
          <a:ln w="31750">
            <a:solidFill>
              <a:srgbClr val="0F4C5C"/>
            </a:solidFill>
            <a:prstDash val="solid"/>
          </a:ln>
        </p:spPr>
      </p:sp>
      <p:sp>
        <p:nvSpPr>
          <p:cNvPr id="38" name="Text 35"/>
          <p:cNvSpPr/>
          <p:nvPr/>
        </p:nvSpPr>
        <p:spPr>
          <a:xfrm>
            <a:off x="8156448" y="21945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39" name="Text 36"/>
          <p:cNvSpPr/>
          <p:nvPr/>
        </p:nvSpPr>
        <p:spPr>
          <a:xfrm>
            <a:off x="8156448" y="35661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40" name="Shape 37"/>
          <p:cNvSpPr/>
          <p:nvPr/>
        </p:nvSpPr>
        <p:spPr>
          <a:xfrm>
            <a:off x="8385048" y="2651760"/>
            <a:ext cx="9144" cy="914400"/>
          </a:xfrm>
          <a:prstGeom prst="line">
            <a:avLst/>
          </a:prstGeom>
          <a:noFill/>
          <a:ln w="31750">
            <a:solidFill>
              <a:srgbClr val="0F4C5C"/>
            </a:solidFill>
            <a:prstDash val="solid"/>
          </a:ln>
        </p:spPr>
      </p:sp>
      <p:sp>
        <p:nvSpPr>
          <p:cNvPr id="41" name="Text 38"/>
          <p:cNvSpPr/>
          <p:nvPr/>
        </p:nvSpPr>
        <p:spPr>
          <a:xfrm>
            <a:off x="8723376" y="21945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42" name="Text 39"/>
          <p:cNvSpPr/>
          <p:nvPr/>
        </p:nvSpPr>
        <p:spPr>
          <a:xfrm>
            <a:off x="8723376" y="35661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43" name="Shape 40"/>
          <p:cNvSpPr/>
          <p:nvPr/>
        </p:nvSpPr>
        <p:spPr>
          <a:xfrm>
            <a:off x="8951976" y="2651760"/>
            <a:ext cx="9144" cy="914400"/>
          </a:xfrm>
          <a:prstGeom prst="line">
            <a:avLst/>
          </a:prstGeom>
          <a:noFill/>
          <a:ln w="31750">
            <a:solidFill>
              <a:srgbClr val="0F4C5C"/>
            </a:solidFill>
            <a:prstDash val="solid"/>
          </a:ln>
        </p:spPr>
      </p:sp>
      <p:sp>
        <p:nvSpPr>
          <p:cNvPr id="44" name="Text 41"/>
          <p:cNvSpPr/>
          <p:nvPr/>
        </p:nvSpPr>
        <p:spPr>
          <a:xfrm>
            <a:off x="9290304" y="21945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45" name="Text 42"/>
          <p:cNvSpPr/>
          <p:nvPr/>
        </p:nvSpPr>
        <p:spPr>
          <a:xfrm>
            <a:off x="9290304" y="35661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46" name="Shape 43"/>
          <p:cNvSpPr/>
          <p:nvPr/>
        </p:nvSpPr>
        <p:spPr>
          <a:xfrm>
            <a:off x="9518904" y="2651760"/>
            <a:ext cx="9144" cy="914400"/>
          </a:xfrm>
          <a:prstGeom prst="line">
            <a:avLst/>
          </a:prstGeom>
          <a:noFill/>
          <a:ln w="31750">
            <a:solidFill>
              <a:srgbClr val="0F4C5C"/>
            </a:solidFill>
            <a:prstDash val="solid"/>
          </a:ln>
        </p:spPr>
      </p:sp>
      <p:sp>
        <p:nvSpPr>
          <p:cNvPr id="47" name="Text 44"/>
          <p:cNvSpPr/>
          <p:nvPr/>
        </p:nvSpPr>
        <p:spPr>
          <a:xfrm>
            <a:off x="9857232" y="21945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48" name="Text 45"/>
          <p:cNvSpPr/>
          <p:nvPr/>
        </p:nvSpPr>
        <p:spPr>
          <a:xfrm>
            <a:off x="9857232" y="35661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49" name="Shape 46"/>
          <p:cNvSpPr/>
          <p:nvPr/>
        </p:nvSpPr>
        <p:spPr>
          <a:xfrm>
            <a:off x="10085832" y="2651760"/>
            <a:ext cx="9144" cy="914400"/>
          </a:xfrm>
          <a:prstGeom prst="line">
            <a:avLst/>
          </a:prstGeom>
          <a:noFill/>
          <a:ln w="31750">
            <a:solidFill>
              <a:srgbClr val="0F4C5C"/>
            </a:solidFill>
            <a:prstDash val="solid"/>
          </a:ln>
        </p:spPr>
      </p:sp>
      <p:sp>
        <p:nvSpPr>
          <p:cNvPr id="50" name="Text 47"/>
          <p:cNvSpPr/>
          <p:nvPr/>
        </p:nvSpPr>
        <p:spPr>
          <a:xfrm>
            <a:off x="10424160" y="2194560"/>
            <a:ext cx="457200" cy="457200"/>
          </a:xfrm>
          <a:prstGeom prst="ellipse">
            <a:avLst/>
          </a:prstGeom>
          <a:solidFill>
            <a:srgbClr val="E69F00"/>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A</a:t>
            </a:r>
            <a:endParaRPr lang="en-US" sz="1600" dirty="0"/>
          </a:p>
        </p:txBody>
      </p:sp>
      <p:sp>
        <p:nvSpPr>
          <p:cNvPr id="51" name="Text 48"/>
          <p:cNvSpPr/>
          <p:nvPr/>
        </p:nvSpPr>
        <p:spPr>
          <a:xfrm>
            <a:off x="10424160" y="3566160"/>
            <a:ext cx="457200" cy="457200"/>
          </a:xfrm>
          <a:prstGeom prst="ellipse">
            <a:avLst/>
          </a:prstGeom>
          <a:solidFill>
            <a:srgbClr val="CC79A7"/>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U</a:t>
            </a:r>
            <a:endParaRPr lang="en-US" sz="1600" dirty="0"/>
          </a:p>
        </p:txBody>
      </p:sp>
      <p:sp>
        <p:nvSpPr>
          <p:cNvPr id="52" name="Shape 49"/>
          <p:cNvSpPr/>
          <p:nvPr/>
        </p:nvSpPr>
        <p:spPr>
          <a:xfrm>
            <a:off x="10652760" y="2651760"/>
            <a:ext cx="9144" cy="914400"/>
          </a:xfrm>
          <a:prstGeom prst="line">
            <a:avLst/>
          </a:prstGeom>
          <a:noFill/>
          <a:ln w="31750">
            <a:solidFill>
              <a:srgbClr val="0F4C5C"/>
            </a:solidFill>
            <a:prstDash val="solid"/>
          </a:ln>
        </p:spPr>
      </p:sp>
      <p:sp>
        <p:nvSpPr>
          <p:cNvPr id="53" name="Text 50"/>
          <p:cNvSpPr txBox="1"/>
          <p:nvPr/>
        </p:nvSpPr>
        <p:spPr>
          <a:xfrm>
            <a:off x="7406640" y="4114800"/>
            <a:ext cx="4114800" cy="109728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例題RNAの1–6番（上）と11–16番（下）。上の鎖は5′→3′、下の鎖は3′→5′に読む。1番のGは16番のCと、6番のAは11番のUと対合する。</a:t>
            </a:r>
            <a:endParaRPr lang="en-US" sz="1400" dirty="0"/>
          </a:p>
        </p:txBody>
      </p:sp>
      <p:sp>
        <p:nvSpPr>
          <p:cNvPr id="54" name="Text 51"/>
          <p:cNvSpPr txBox="1"/>
          <p:nvPr/>
        </p:nvSpPr>
        <p:spPr>
          <a:xfrm>
            <a:off x="7406640" y="5257800"/>
            <a:ext cx="4114800" cy="731520"/>
          </a:xfrm>
          <a:prstGeom prst="rect">
            <a:avLst/>
          </a:prstGeom>
          <a:noFill/>
          <a:ln/>
        </p:spPr>
        <p:txBody>
          <a:bodyPr wrap="square" lIns="0" tIns="0" rIns="0" bIns="0" rtlCol="0" anchor="t"/>
          <a:lstStyle/>
          <a:p>
            <a:pPr indent="0" marL="0">
              <a:buNone/>
            </a:pPr>
            <a:r>
              <a:rPr lang="en-US" sz="1400" dirty="0">
                <a:solidFill>
                  <a:srgbClr val="E36414"/>
                </a:solidFill>
                <a:latin typeface="Meiryo" pitchFamily="34" charset="0"/>
                <a:ea typeface="Meiryo" pitchFamily="34" charset="-122"/>
                <a:cs typeface="Meiryo" pitchFamily="34" charset="-120"/>
              </a:rPr>
              <a:t>塩基対の安定さ：水素結合＋隣の塩基対との重なり（スタッキング）</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dot-bracket 表記：配列と構造を対応させて読む</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13</a:t>
            </a:r>
            <a:endParaRPr lang="en-US" sz="1100" dirty="0"/>
          </a:p>
        </p:txBody>
      </p:sp>
      <p:sp>
        <p:nvSpPr>
          <p:cNvPr id="6" name="Shape 3"/>
          <p:cNvSpPr/>
          <p:nvPr/>
        </p:nvSpPr>
        <p:spPr>
          <a:xfrm>
            <a:off x="502920" y="1234440"/>
            <a:ext cx="11155680" cy="2331720"/>
          </a:xfrm>
          <a:prstGeom prst="roundRect">
            <a:avLst>
              <a:gd name="adj" fmla="val 4706"/>
            </a:avLst>
          </a:prstGeom>
          <a:solidFill>
            <a:srgbClr val="EEF3F4"/>
          </a:solidFill>
          <a:ln w="12700">
            <a:solidFill>
              <a:srgbClr val="EEF3F4"/>
            </a:solidFill>
            <a:prstDash val="solid"/>
          </a:ln>
        </p:spPr>
      </p:sp>
      <p:sp>
        <p:nvSpPr>
          <p:cNvPr id="7" name="Text 4"/>
          <p:cNvSpPr txBox="1"/>
          <p:nvPr/>
        </p:nvSpPr>
        <p:spPr>
          <a:xfrm>
            <a:off x="607695" y="1371600"/>
            <a:ext cx="548640" cy="533400"/>
          </a:xfrm>
          <a:prstGeom prst="rect">
            <a:avLst/>
          </a:prstGeom>
          <a:noFill/>
          <a:ln/>
        </p:spPr>
        <p:txBody>
          <a:bodyPr wrap="square" lIns="0" tIns="0" rIns="0" bIns="0" rtlCol="0" anchor="ctr"/>
          <a:lstStyle/>
          <a:p>
            <a:pPr algn="ctr" indent="0" marL="0">
              <a:buNone/>
            </a:pPr>
            <a:r>
              <a:rPr lang="en-US" sz="1800" dirty="0">
                <a:solidFill>
                  <a:srgbClr val="5C6B73"/>
                </a:solidFill>
                <a:latin typeface="Consolas" pitchFamily="34" charset="0"/>
                <a:ea typeface="Consolas" pitchFamily="34" charset="-122"/>
                <a:cs typeface="Consolas" pitchFamily="34" charset="-120"/>
              </a:rPr>
              <a:t>1</a:t>
            </a:r>
            <a:endParaRPr lang="en-US" sz="1800" dirty="0"/>
          </a:p>
        </p:txBody>
      </p:sp>
      <p:sp>
        <p:nvSpPr>
          <p:cNvPr id="8" name="Text 5"/>
          <p:cNvSpPr txBox="1"/>
          <p:nvPr/>
        </p:nvSpPr>
        <p:spPr>
          <a:xfrm>
            <a:off x="1445895" y="1371600"/>
            <a:ext cx="548640" cy="533400"/>
          </a:xfrm>
          <a:prstGeom prst="rect">
            <a:avLst/>
          </a:prstGeom>
          <a:noFill/>
          <a:ln/>
        </p:spPr>
        <p:txBody>
          <a:bodyPr wrap="square" lIns="0" tIns="0" rIns="0" bIns="0" rtlCol="0" anchor="ctr"/>
          <a:lstStyle/>
          <a:p>
            <a:pPr algn="ctr" indent="0" marL="0">
              <a:buNone/>
            </a:pPr>
            <a:r>
              <a:rPr lang="en-US" sz="1800" dirty="0">
                <a:solidFill>
                  <a:srgbClr val="5C6B73"/>
                </a:solidFill>
                <a:latin typeface="Consolas" pitchFamily="34" charset="0"/>
                <a:ea typeface="Consolas" pitchFamily="34" charset="-122"/>
                <a:cs typeface="Consolas" pitchFamily="34" charset="-120"/>
              </a:rPr>
              <a:t>5</a:t>
            </a:r>
            <a:endParaRPr lang="en-US" sz="1800" dirty="0"/>
          </a:p>
        </p:txBody>
      </p:sp>
      <p:sp>
        <p:nvSpPr>
          <p:cNvPr id="9" name="Text 6"/>
          <p:cNvSpPr txBox="1"/>
          <p:nvPr/>
        </p:nvSpPr>
        <p:spPr>
          <a:xfrm>
            <a:off x="2493645" y="1371600"/>
            <a:ext cx="548640" cy="533400"/>
          </a:xfrm>
          <a:prstGeom prst="rect">
            <a:avLst/>
          </a:prstGeom>
          <a:noFill/>
          <a:ln/>
        </p:spPr>
        <p:txBody>
          <a:bodyPr wrap="square" lIns="0" tIns="0" rIns="0" bIns="0" rtlCol="0" anchor="ctr"/>
          <a:lstStyle/>
          <a:p>
            <a:pPr algn="ctr" indent="0" marL="0">
              <a:buNone/>
            </a:pPr>
            <a:r>
              <a:rPr lang="en-US" sz="1800" dirty="0">
                <a:solidFill>
                  <a:srgbClr val="5C6B73"/>
                </a:solidFill>
                <a:latin typeface="Consolas" pitchFamily="34" charset="0"/>
                <a:ea typeface="Consolas" pitchFamily="34" charset="-122"/>
                <a:cs typeface="Consolas" pitchFamily="34" charset="-120"/>
              </a:rPr>
              <a:t>10</a:t>
            </a:r>
            <a:endParaRPr lang="en-US" sz="1800" dirty="0"/>
          </a:p>
        </p:txBody>
      </p:sp>
      <p:sp>
        <p:nvSpPr>
          <p:cNvPr id="10" name="Text 7"/>
          <p:cNvSpPr txBox="1"/>
          <p:nvPr/>
        </p:nvSpPr>
        <p:spPr>
          <a:xfrm>
            <a:off x="3541395" y="1371600"/>
            <a:ext cx="548640" cy="533400"/>
          </a:xfrm>
          <a:prstGeom prst="rect">
            <a:avLst/>
          </a:prstGeom>
          <a:noFill/>
          <a:ln/>
        </p:spPr>
        <p:txBody>
          <a:bodyPr wrap="square" lIns="0" tIns="0" rIns="0" bIns="0" rtlCol="0" anchor="ctr"/>
          <a:lstStyle/>
          <a:p>
            <a:pPr algn="ctr" indent="0" marL="0">
              <a:buNone/>
            </a:pPr>
            <a:r>
              <a:rPr lang="en-US" sz="1800" dirty="0">
                <a:solidFill>
                  <a:srgbClr val="5C6B73"/>
                </a:solidFill>
                <a:latin typeface="Consolas" pitchFamily="34" charset="0"/>
                <a:ea typeface="Consolas" pitchFamily="34" charset="-122"/>
                <a:cs typeface="Consolas" pitchFamily="34" charset="-120"/>
              </a:rPr>
              <a:t>15</a:t>
            </a:r>
            <a:endParaRPr lang="en-US" sz="1800" dirty="0"/>
          </a:p>
        </p:txBody>
      </p:sp>
      <p:sp>
        <p:nvSpPr>
          <p:cNvPr id="11" name="Text 8"/>
          <p:cNvSpPr txBox="1"/>
          <p:nvPr/>
        </p:nvSpPr>
        <p:spPr>
          <a:xfrm>
            <a:off x="777240" y="1783080"/>
            <a:ext cx="3627120" cy="571500"/>
          </a:xfrm>
          <a:prstGeom prst="rect">
            <a:avLst/>
          </a:prstGeom>
          <a:noFill/>
          <a:ln/>
        </p:spPr>
        <p:txBody>
          <a:bodyPr wrap="square" lIns="0" tIns="0" rIns="0" bIns="0" rtlCol="0" anchor="ctr"/>
          <a:lstStyle/>
          <a:p>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56B4E9"/>
                </a:solidFill>
                <a:latin typeface="Consolas" pitchFamily="34" charset="0"/>
                <a:ea typeface="Consolas" pitchFamily="34" charset="-122"/>
                <a:cs typeface="Consolas" pitchFamily="34" charset="-120"/>
              </a:rPr>
              <a:t>C</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56B4E9"/>
                </a:solidFill>
                <a:latin typeface="Consolas" pitchFamily="34" charset="0"/>
                <a:ea typeface="Consolas" pitchFamily="34" charset="-122"/>
                <a:cs typeface="Consolas" pitchFamily="34" charset="-120"/>
              </a:rPr>
              <a:t>C</a:t>
            </a:r>
            <a:pPr indent="0" marL="0">
              <a:buNone/>
            </a:pPr>
            <a:r>
              <a:rPr lang="en-US" sz="3000" b="1" dirty="0">
                <a:solidFill>
                  <a:srgbClr val="E69F00"/>
                </a:solidFill>
                <a:latin typeface="Consolas" pitchFamily="34" charset="0"/>
                <a:ea typeface="Consolas" pitchFamily="34" charset="-122"/>
                <a:cs typeface="Consolas" pitchFamily="34" charset="-120"/>
              </a:rPr>
              <a:t>A</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E69F00"/>
                </a:solidFill>
                <a:latin typeface="Consolas" pitchFamily="34" charset="0"/>
                <a:ea typeface="Consolas" pitchFamily="34" charset="-122"/>
                <a:cs typeface="Consolas" pitchFamily="34" charset="-120"/>
              </a:rPr>
              <a:t>A</a:t>
            </a:r>
            <a:pPr indent="0" marL="0">
              <a:buNone/>
            </a:pPr>
            <a:r>
              <a:rPr lang="en-US" sz="3000" b="1" dirty="0">
                <a:solidFill>
                  <a:srgbClr val="E69F00"/>
                </a:solidFill>
                <a:latin typeface="Consolas" pitchFamily="34" charset="0"/>
                <a:ea typeface="Consolas" pitchFamily="34" charset="-122"/>
                <a:cs typeface="Consolas" pitchFamily="34" charset="-120"/>
              </a:rPr>
              <a:t>A</a:t>
            </a:r>
            <a:pPr indent="0" marL="0">
              <a:buNone/>
            </a:pPr>
            <a:r>
              <a:rPr lang="en-US" sz="3000" b="1" dirty="0">
                <a:solidFill>
                  <a:srgbClr val="E69F00"/>
                </a:solidFill>
                <a:latin typeface="Consolas" pitchFamily="34" charset="0"/>
                <a:ea typeface="Consolas" pitchFamily="34" charset="-122"/>
                <a:cs typeface="Consolas" pitchFamily="34" charset="-120"/>
              </a:rPr>
              <a:t>A</a:t>
            </a:r>
            <a:pPr indent="0" marL="0">
              <a:buNone/>
            </a:pPr>
            <a:r>
              <a:rPr lang="en-US" sz="3000" b="1" dirty="0">
                <a:solidFill>
                  <a:srgbClr val="CC79A7"/>
                </a:solidFill>
                <a:latin typeface="Consolas" pitchFamily="34" charset="0"/>
                <a:ea typeface="Consolas" pitchFamily="34" charset="-122"/>
                <a:cs typeface="Consolas" pitchFamily="34" charset="-120"/>
              </a:rPr>
              <a:t>U</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56B4E9"/>
                </a:solidFill>
                <a:latin typeface="Consolas" pitchFamily="34" charset="0"/>
                <a:ea typeface="Consolas" pitchFamily="34" charset="-122"/>
                <a:cs typeface="Consolas" pitchFamily="34" charset="-120"/>
              </a:rPr>
              <a:t>C</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56B4E9"/>
                </a:solidFill>
                <a:latin typeface="Consolas" pitchFamily="34" charset="0"/>
                <a:ea typeface="Consolas" pitchFamily="34" charset="-122"/>
                <a:cs typeface="Consolas" pitchFamily="34" charset="-120"/>
              </a:rPr>
              <a:t>C</a:t>
            </a:r>
            <a:pPr indent="0" marL="0">
              <a:buNone/>
            </a:pPr>
            <a:r>
              <a:rPr lang="en-US" sz="3000" b="1" dirty="0">
                <a:solidFill>
                  <a:srgbClr val="56B4E9"/>
                </a:solidFill>
                <a:latin typeface="Consolas" pitchFamily="34" charset="0"/>
                <a:ea typeface="Consolas" pitchFamily="34" charset="-122"/>
                <a:cs typeface="Consolas" pitchFamily="34" charset="-120"/>
              </a:rPr>
              <a:t>C</a:t>
            </a:r>
            <a:endParaRPr lang="en-US" sz="3000" dirty="0"/>
          </a:p>
        </p:txBody>
      </p:sp>
      <p:sp>
        <p:nvSpPr>
          <p:cNvPr id="12" name="Text 9"/>
          <p:cNvSpPr txBox="1"/>
          <p:nvPr/>
        </p:nvSpPr>
        <p:spPr>
          <a:xfrm>
            <a:off x="777240" y="2331720"/>
            <a:ext cx="3627120" cy="571500"/>
          </a:xfrm>
          <a:prstGeom prst="rect">
            <a:avLst/>
          </a:prstGeom>
          <a:noFill/>
          <a:ln/>
        </p:spPr>
        <p:txBody>
          <a:bodyPr wrap="square" lIns="0" tIns="0" rIns="0" bIns="0" rtlCol="0" anchor="ctr"/>
          <a:lstStyle/>
          <a:p>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5C6B73"/>
                </a:solidFill>
                <a:latin typeface="Consolas" pitchFamily="34" charset="0"/>
                <a:ea typeface="Consolas" pitchFamily="34" charset="-122"/>
                <a:cs typeface="Consolas" pitchFamily="34" charset="-120"/>
              </a:rPr>
              <a:t>.</a:t>
            </a:r>
            <a:pPr indent="0" marL="0">
              <a:buNone/>
            </a:pPr>
            <a:r>
              <a:rPr lang="en-US" sz="3000" b="1" dirty="0">
                <a:solidFill>
                  <a:srgbClr val="5C6B73"/>
                </a:solidFill>
                <a:latin typeface="Consolas" pitchFamily="34" charset="0"/>
                <a:ea typeface="Consolas" pitchFamily="34" charset="-122"/>
                <a:cs typeface="Consolas" pitchFamily="34" charset="-120"/>
              </a:rPr>
              <a:t>.</a:t>
            </a:r>
            <a:pPr indent="0" marL="0">
              <a:buNone/>
            </a:pPr>
            <a:r>
              <a:rPr lang="en-US" sz="3000" b="1" dirty="0">
                <a:solidFill>
                  <a:srgbClr val="5C6B73"/>
                </a:solidFill>
                <a:latin typeface="Consolas" pitchFamily="34" charset="0"/>
                <a:ea typeface="Consolas" pitchFamily="34" charset="-122"/>
                <a:cs typeface="Consolas" pitchFamily="34" charset="-120"/>
              </a:rPr>
              <a:t>.</a:t>
            </a:r>
            <a:pPr indent="0" marL="0">
              <a:buNone/>
            </a:pPr>
            <a:r>
              <a:rPr lang="en-US" sz="3000" b="1" dirty="0">
                <a:solidFill>
                  <a:srgbClr val="5C6B73"/>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endParaRPr lang="en-US" sz="3000" dirty="0"/>
          </a:p>
        </p:txBody>
      </p:sp>
      <p:sp>
        <p:nvSpPr>
          <p:cNvPr id="13" name="Text 10"/>
          <p:cNvSpPr txBox="1"/>
          <p:nvPr/>
        </p:nvSpPr>
        <p:spPr>
          <a:xfrm>
            <a:off x="6675120" y="1783080"/>
            <a:ext cx="2743200" cy="502920"/>
          </a:xfrm>
          <a:prstGeom prst="rect">
            <a:avLst/>
          </a:prstGeom>
          <a:noFill/>
          <a:ln/>
        </p:spPr>
        <p:txBody>
          <a:bodyPr wrap="square" lIns="0" tIns="0" rIns="0" bIns="0" rtlCol="0" anchor="ctr"/>
          <a:lstStyle/>
          <a:p>
            <a:pPr indent="0" marL="0">
              <a:buNone/>
            </a:pPr>
            <a:r>
              <a:rPr lang="en-US" sz="1600" dirty="0">
                <a:solidFill>
                  <a:srgbClr val="5C6B73"/>
                </a:solidFill>
                <a:latin typeface="Meiryo" pitchFamily="34" charset="0"/>
                <a:ea typeface="Meiryo" pitchFamily="34" charset="-122"/>
                <a:cs typeface="Meiryo" pitchFamily="34" charset="-120"/>
              </a:rPr>
              <a:t>配列（5′→3′）</a:t>
            </a:r>
            <a:endParaRPr lang="en-US" sz="1600" dirty="0"/>
          </a:p>
        </p:txBody>
      </p:sp>
      <p:sp>
        <p:nvSpPr>
          <p:cNvPr id="14" name="Text 11"/>
          <p:cNvSpPr txBox="1"/>
          <p:nvPr/>
        </p:nvSpPr>
        <p:spPr>
          <a:xfrm>
            <a:off x="6675120" y="2331720"/>
            <a:ext cx="2743200" cy="502920"/>
          </a:xfrm>
          <a:prstGeom prst="rect">
            <a:avLst/>
          </a:prstGeom>
          <a:noFill/>
          <a:ln/>
        </p:spPr>
        <p:txBody>
          <a:bodyPr wrap="square" lIns="0" tIns="0" rIns="0" bIns="0" rtlCol="0" anchor="ctr"/>
          <a:lstStyle/>
          <a:p>
            <a:pPr indent="0" marL="0">
              <a:buNone/>
            </a:pPr>
            <a:r>
              <a:rPr lang="en-US" sz="1600" dirty="0">
                <a:solidFill>
                  <a:srgbClr val="5C6B73"/>
                </a:solidFill>
                <a:latin typeface="Meiryo" pitchFamily="34" charset="0"/>
                <a:ea typeface="Meiryo" pitchFamily="34" charset="-122"/>
                <a:cs typeface="Meiryo" pitchFamily="34" charset="-120"/>
              </a:rPr>
              <a:t>構造（dot-bracket）</a:t>
            </a:r>
            <a:endParaRPr lang="en-US" sz="1600" dirty="0"/>
          </a:p>
        </p:txBody>
      </p:sp>
      <p:sp>
        <p:nvSpPr>
          <p:cNvPr id="15" name="Text 12"/>
          <p:cNvSpPr txBox="1"/>
          <p:nvPr/>
        </p:nvSpPr>
        <p:spPr>
          <a:xfrm>
            <a:off x="9144000" y="1783080"/>
            <a:ext cx="2468880" cy="502920"/>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MFE = -10.20 kcal/mol</a:t>
            </a:r>
            <a:endParaRPr lang="en-US" sz="1600" dirty="0"/>
          </a:p>
        </p:txBody>
      </p:sp>
      <p:sp>
        <p:nvSpPr>
          <p:cNvPr id="16" name="Text 13"/>
          <p:cNvSpPr txBox="1"/>
          <p:nvPr/>
        </p:nvSpPr>
        <p:spPr>
          <a:xfrm>
            <a:off x="777240" y="2971800"/>
            <a:ext cx="10607040" cy="457200"/>
          </a:xfrm>
          <a:prstGeom prst="rect">
            <a:avLst/>
          </a:prstGeom>
          <a:noFill/>
          <a:ln/>
        </p:spPr>
        <p:txBody>
          <a:bodyPr wrap="square" lIns="0" tIns="0" rIns="0" bIns="0" rtlCol="0" anchor="t"/>
          <a:lstStyle/>
          <a:p>
            <a:pPr indent="0" marL="0">
              <a:buNone/>
            </a:pPr>
            <a:r>
              <a:rPr lang="en-US" sz="1500" dirty="0">
                <a:solidFill>
                  <a:srgbClr val="1F2A30"/>
                </a:solidFill>
                <a:latin typeface="Meiryo" pitchFamily="34" charset="0"/>
                <a:ea typeface="Meiryo" pitchFamily="34" charset="-122"/>
                <a:cs typeface="Meiryo" pitchFamily="34" charset="-120"/>
              </a:rPr>
              <a:t>読み方：( と ) は対合する2つの塩基、. は対合しない塩基。括弧は内側から順に対応（入れ子）</a:t>
            </a:r>
            <a:endParaRPr lang="en-US" sz="1500" dirty="0"/>
          </a:p>
        </p:txBody>
      </p:sp>
      <p:sp>
        <p:nvSpPr>
          <p:cNvPr id="17" name="Shape 14"/>
          <p:cNvSpPr/>
          <p:nvPr/>
        </p:nvSpPr>
        <p:spPr>
          <a:xfrm>
            <a:off x="502920" y="3794760"/>
            <a:ext cx="5394960" cy="2377440"/>
          </a:xfrm>
          <a:prstGeom prst="roundRect">
            <a:avLst>
              <a:gd name="adj" fmla="val 4615"/>
            </a:avLst>
          </a:prstGeom>
          <a:solidFill>
            <a:srgbClr val="EEF3F4"/>
          </a:solidFill>
          <a:ln w="12700">
            <a:solidFill>
              <a:srgbClr val="EEF3F4"/>
            </a:solidFill>
            <a:prstDash val="solid"/>
          </a:ln>
        </p:spPr>
      </p:sp>
      <p:sp>
        <p:nvSpPr>
          <p:cNvPr id="18" name="Text 15"/>
          <p:cNvSpPr txBox="1"/>
          <p:nvPr/>
        </p:nvSpPr>
        <p:spPr>
          <a:xfrm>
            <a:off x="685800" y="3904488"/>
            <a:ext cx="50292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小問（30秒）</a:t>
            </a:r>
            <a:endParaRPr lang="en-US" sz="2000" dirty="0"/>
          </a:p>
        </p:txBody>
      </p:sp>
      <p:sp>
        <p:nvSpPr>
          <p:cNvPr id="19" name="Text 16"/>
          <p:cNvSpPr txBox="1"/>
          <p:nvPr/>
        </p:nvSpPr>
        <p:spPr>
          <a:xfrm>
            <a:off x="685800" y="4361688"/>
            <a:ext cx="5029200" cy="16916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3番目の C はどの番号の塩基と対合しているか</a:t>
            </a:r>
            <a:endParaRPr lang="en-US" sz="1800" dirty="0"/>
          </a:p>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ループ（対合しない部分）は何番から何番か</a:t>
            </a:r>
            <a:endParaRPr lang="en-US" sz="1800" dirty="0"/>
          </a:p>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塩基対は何個あるか</a:t>
            </a:r>
            <a:endParaRPr lang="en-US" sz="1800" dirty="0"/>
          </a:p>
        </p:txBody>
      </p:sp>
      <p:sp>
        <p:nvSpPr>
          <p:cNvPr id="20" name="Shape 17"/>
          <p:cNvSpPr/>
          <p:nvPr/>
        </p:nvSpPr>
        <p:spPr>
          <a:xfrm>
            <a:off x="6172200" y="3794760"/>
            <a:ext cx="5486400" cy="2377440"/>
          </a:xfrm>
          <a:prstGeom prst="roundRect">
            <a:avLst>
              <a:gd name="adj" fmla="val 4615"/>
            </a:avLst>
          </a:prstGeom>
          <a:solidFill>
            <a:srgbClr val="EEF3F4"/>
          </a:solidFill>
          <a:ln w="12700">
            <a:solidFill>
              <a:srgbClr val="EEF3F4"/>
            </a:solidFill>
            <a:prstDash val="solid"/>
          </a:ln>
        </p:spPr>
      </p:sp>
      <p:sp>
        <p:nvSpPr>
          <p:cNvPr id="21" name="Text 18"/>
          <p:cNvSpPr txBox="1"/>
          <p:nvPr/>
        </p:nvSpPr>
        <p:spPr>
          <a:xfrm>
            <a:off x="6355080" y="390448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ヒント</a:t>
            </a:r>
            <a:endParaRPr lang="en-US" sz="2000" dirty="0"/>
          </a:p>
        </p:txBody>
      </p:sp>
      <p:sp>
        <p:nvSpPr>
          <p:cNvPr id="22" name="Text 19"/>
          <p:cNvSpPr txBox="1"/>
          <p:nvPr/>
        </p:nvSpPr>
        <p:spPr>
          <a:xfrm>
            <a:off x="6355080" y="4361688"/>
            <a:ext cx="5120640" cy="16916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括弧を内側から対応させる：6番の ( と 11番の )</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その外側：5番と12番、4番と13番、…</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対応する2文字は同じ色の位置で対合できる文字か確かめる（G–C, A–U, G–U）</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二次構造の要素：ステム、ヘアピン、バルジ、内部ループ、分岐</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14</a:t>
            </a:r>
            <a:endParaRPr lang="en-US" sz="1100" dirty="0"/>
          </a:p>
        </p:txBody>
      </p:sp>
      <p:sp>
        <p:nvSpPr>
          <p:cNvPr id="6" name="Shape 3"/>
          <p:cNvSpPr/>
          <p:nvPr/>
        </p:nvSpPr>
        <p:spPr>
          <a:xfrm>
            <a:off x="2171069" y="3889868"/>
            <a:ext cx="291329" cy="9144"/>
          </a:xfrm>
          <a:prstGeom prst="line">
            <a:avLst/>
          </a:prstGeom>
          <a:noFill/>
          <a:ln w="19050">
            <a:solidFill>
              <a:srgbClr val="A7B4BA"/>
            </a:solidFill>
            <a:prstDash val="solid"/>
          </a:ln>
        </p:spPr>
      </p:sp>
      <p:sp>
        <p:nvSpPr>
          <p:cNvPr id="7" name="Shape 4"/>
          <p:cNvSpPr/>
          <p:nvPr/>
        </p:nvSpPr>
        <p:spPr>
          <a:xfrm flipH="1">
            <a:off x="2462398" y="3702640"/>
            <a:ext cx="223158" cy="187227"/>
          </a:xfrm>
          <a:prstGeom prst="line">
            <a:avLst/>
          </a:prstGeom>
          <a:noFill/>
          <a:ln w="19050">
            <a:solidFill>
              <a:srgbClr val="A7B4BA"/>
            </a:solidFill>
            <a:prstDash val="solid"/>
          </a:ln>
        </p:spPr>
      </p:sp>
      <p:sp>
        <p:nvSpPr>
          <p:cNvPr id="8" name="Shape 5"/>
          <p:cNvSpPr/>
          <p:nvPr/>
        </p:nvSpPr>
        <p:spPr>
          <a:xfrm>
            <a:off x="2685556" y="3702640"/>
            <a:ext cx="286862" cy="50497"/>
          </a:xfrm>
          <a:prstGeom prst="line">
            <a:avLst/>
          </a:prstGeom>
          <a:noFill/>
          <a:ln w="19050">
            <a:solidFill>
              <a:srgbClr val="A7B4BA"/>
            </a:solidFill>
            <a:prstDash val="solid"/>
          </a:ln>
        </p:spPr>
      </p:sp>
      <p:sp>
        <p:nvSpPr>
          <p:cNvPr id="9" name="Shape 6"/>
          <p:cNvSpPr/>
          <p:nvPr/>
        </p:nvSpPr>
        <p:spPr>
          <a:xfrm>
            <a:off x="2972417" y="3753137"/>
            <a:ext cx="286862" cy="50691"/>
          </a:xfrm>
          <a:prstGeom prst="line">
            <a:avLst/>
          </a:prstGeom>
          <a:noFill/>
          <a:ln w="19050">
            <a:solidFill>
              <a:srgbClr val="A7B4BA"/>
            </a:solidFill>
            <a:prstDash val="solid"/>
          </a:ln>
        </p:spPr>
      </p:sp>
      <p:sp>
        <p:nvSpPr>
          <p:cNvPr id="10" name="Shape 7"/>
          <p:cNvSpPr/>
          <p:nvPr/>
        </p:nvSpPr>
        <p:spPr>
          <a:xfrm>
            <a:off x="3259279" y="3803828"/>
            <a:ext cx="287056" cy="50497"/>
          </a:xfrm>
          <a:prstGeom prst="line">
            <a:avLst/>
          </a:prstGeom>
          <a:noFill/>
          <a:ln w="19050">
            <a:solidFill>
              <a:srgbClr val="A7B4BA"/>
            </a:solidFill>
            <a:prstDash val="solid"/>
          </a:ln>
        </p:spPr>
      </p:sp>
      <p:sp>
        <p:nvSpPr>
          <p:cNvPr id="11" name="Shape 8"/>
          <p:cNvSpPr/>
          <p:nvPr/>
        </p:nvSpPr>
        <p:spPr>
          <a:xfrm>
            <a:off x="3546335" y="3854325"/>
            <a:ext cx="99634" cy="273849"/>
          </a:xfrm>
          <a:prstGeom prst="line">
            <a:avLst/>
          </a:prstGeom>
          <a:noFill/>
          <a:ln w="19050">
            <a:solidFill>
              <a:srgbClr val="A7B4BA"/>
            </a:solidFill>
            <a:prstDash val="solid"/>
          </a:ln>
        </p:spPr>
      </p:sp>
      <p:sp>
        <p:nvSpPr>
          <p:cNvPr id="12" name="Shape 9"/>
          <p:cNvSpPr/>
          <p:nvPr/>
        </p:nvSpPr>
        <p:spPr>
          <a:xfrm>
            <a:off x="3645969" y="4128174"/>
            <a:ext cx="223158" cy="187227"/>
          </a:xfrm>
          <a:prstGeom prst="line">
            <a:avLst/>
          </a:prstGeom>
          <a:noFill/>
          <a:ln w="19050">
            <a:solidFill>
              <a:srgbClr val="A7B4BA"/>
            </a:solidFill>
            <a:prstDash val="solid"/>
          </a:ln>
        </p:spPr>
      </p:sp>
      <p:sp>
        <p:nvSpPr>
          <p:cNvPr id="13" name="Shape 10"/>
          <p:cNvSpPr/>
          <p:nvPr/>
        </p:nvSpPr>
        <p:spPr>
          <a:xfrm>
            <a:off x="3869127" y="4315402"/>
            <a:ext cx="286862" cy="50497"/>
          </a:xfrm>
          <a:prstGeom prst="line">
            <a:avLst/>
          </a:prstGeom>
          <a:noFill/>
          <a:ln w="19050">
            <a:solidFill>
              <a:srgbClr val="A7B4BA"/>
            </a:solidFill>
            <a:prstDash val="solid"/>
          </a:ln>
        </p:spPr>
      </p:sp>
      <p:sp>
        <p:nvSpPr>
          <p:cNvPr id="14" name="Shape 11"/>
          <p:cNvSpPr/>
          <p:nvPr/>
        </p:nvSpPr>
        <p:spPr>
          <a:xfrm>
            <a:off x="4155989" y="4365899"/>
            <a:ext cx="99634" cy="273849"/>
          </a:xfrm>
          <a:prstGeom prst="line">
            <a:avLst/>
          </a:prstGeom>
          <a:noFill/>
          <a:ln w="19050">
            <a:solidFill>
              <a:srgbClr val="A7B4BA"/>
            </a:solidFill>
            <a:prstDash val="solid"/>
          </a:ln>
        </p:spPr>
      </p:sp>
      <p:sp>
        <p:nvSpPr>
          <p:cNvPr id="15" name="Shape 12"/>
          <p:cNvSpPr/>
          <p:nvPr/>
        </p:nvSpPr>
        <p:spPr>
          <a:xfrm>
            <a:off x="4255624" y="4639748"/>
            <a:ext cx="99634" cy="273849"/>
          </a:xfrm>
          <a:prstGeom prst="line">
            <a:avLst/>
          </a:prstGeom>
          <a:noFill/>
          <a:ln w="19050">
            <a:solidFill>
              <a:srgbClr val="A7B4BA"/>
            </a:solidFill>
            <a:prstDash val="solid"/>
          </a:ln>
        </p:spPr>
      </p:sp>
      <p:sp>
        <p:nvSpPr>
          <p:cNvPr id="16" name="Shape 13"/>
          <p:cNvSpPr/>
          <p:nvPr/>
        </p:nvSpPr>
        <p:spPr>
          <a:xfrm flipH="1">
            <a:off x="4304761" y="4913597"/>
            <a:ext cx="50497" cy="286862"/>
          </a:xfrm>
          <a:prstGeom prst="line">
            <a:avLst/>
          </a:prstGeom>
          <a:noFill/>
          <a:ln w="19050">
            <a:solidFill>
              <a:srgbClr val="A7B4BA"/>
            </a:solidFill>
            <a:prstDash val="solid"/>
          </a:ln>
        </p:spPr>
      </p:sp>
      <p:sp>
        <p:nvSpPr>
          <p:cNvPr id="17" name="Shape 14"/>
          <p:cNvSpPr/>
          <p:nvPr/>
        </p:nvSpPr>
        <p:spPr>
          <a:xfrm>
            <a:off x="4304761" y="5200459"/>
            <a:ext cx="223158" cy="187227"/>
          </a:xfrm>
          <a:prstGeom prst="line">
            <a:avLst/>
          </a:prstGeom>
          <a:noFill/>
          <a:ln w="19050">
            <a:solidFill>
              <a:srgbClr val="A7B4BA"/>
            </a:solidFill>
            <a:prstDash val="solid"/>
          </a:ln>
        </p:spPr>
      </p:sp>
      <p:sp>
        <p:nvSpPr>
          <p:cNvPr id="18" name="Shape 15"/>
          <p:cNvSpPr/>
          <p:nvPr/>
        </p:nvSpPr>
        <p:spPr>
          <a:xfrm>
            <a:off x="4527919" y="5387686"/>
            <a:ext cx="99634" cy="273655"/>
          </a:xfrm>
          <a:prstGeom prst="line">
            <a:avLst/>
          </a:prstGeom>
          <a:noFill/>
          <a:ln w="19050">
            <a:solidFill>
              <a:srgbClr val="A7B4BA"/>
            </a:solidFill>
            <a:prstDash val="solid"/>
          </a:ln>
        </p:spPr>
      </p:sp>
      <p:sp>
        <p:nvSpPr>
          <p:cNvPr id="19" name="Shape 16"/>
          <p:cNvSpPr/>
          <p:nvPr/>
        </p:nvSpPr>
        <p:spPr>
          <a:xfrm flipH="1">
            <a:off x="4576862" y="5661341"/>
            <a:ext cx="50691" cy="287056"/>
          </a:xfrm>
          <a:prstGeom prst="line">
            <a:avLst/>
          </a:prstGeom>
          <a:noFill/>
          <a:ln w="19050">
            <a:solidFill>
              <a:srgbClr val="A7B4BA"/>
            </a:solidFill>
            <a:prstDash val="solid"/>
          </a:ln>
        </p:spPr>
      </p:sp>
      <p:sp>
        <p:nvSpPr>
          <p:cNvPr id="20" name="Shape 17"/>
          <p:cNvSpPr/>
          <p:nvPr/>
        </p:nvSpPr>
        <p:spPr>
          <a:xfrm>
            <a:off x="4576862" y="5948397"/>
            <a:ext cx="223158" cy="187227"/>
          </a:xfrm>
          <a:prstGeom prst="line">
            <a:avLst/>
          </a:prstGeom>
          <a:noFill/>
          <a:ln w="19050">
            <a:solidFill>
              <a:srgbClr val="A7B4BA"/>
            </a:solidFill>
            <a:prstDash val="solid"/>
          </a:ln>
        </p:spPr>
      </p:sp>
      <p:sp>
        <p:nvSpPr>
          <p:cNvPr id="21" name="Shape 18"/>
          <p:cNvSpPr/>
          <p:nvPr/>
        </p:nvSpPr>
        <p:spPr>
          <a:xfrm flipH="1">
            <a:off x="4800020" y="6035990"/>
            <a:ext cx="273849" cy="99634"/>
          </a:xfrm>
          <a:prstGeom prst="line">
            <a:avLst/>
          </a:prstGeom>
          <a:noFill/>
          <a:ln w="19050">
            <a:solidFill>
              <a:srgbClr val="A7B4BA"/>
            </a:solidFill>
            <a:prstDash val="solid"/>
          </a:ln>
        </p:spPr>
      </p:sp>
      <p:sp>
        <p:nvSpPr>
          <p:cNvPr id="22" name="Shape 19"/>
          <p:cNvSpPr/>
          <p:nvPr/>
        </p:nvSpPr>
        <p:spPr>
          <a:xfrm flipH="1">
            <a:off x="5073869" y="5749128"/>
            <a:ext cx="50497" cy="286862"/>
          </a:xfrm>
          <a:prstGeom prst="line">
            <a:avLst/>
          </a:prstGeom>
          <a:noFill/>
          <a:ln w="19050">
            <a:solidFill>
              <a:srgbClr val="A7B4BA"/>
            </a:solidFill>
            <a:prstDash val="solid"/>
          </a:ln>
        </p:spPr>
      </p:sp>
      <p:sp>
        <p:nvSpPr>
          <p:cNvPr id="23" name="Shape 20"/>
          <p:cNvSpPr/>
          <p:nvPr/>
        </p:nvSpPr>
        <p:spPr>
          <a:xfrm>
            <a:off x="4901208" y="5561706"/>
            <a:ext cx="223158" cy="187422"/>
          </a:xfrm>
          <a:prstGeom prst="line">
            <a:avLst/>
          </a:prstGeom>
          <a:noFill/>
          <a:ln w="19050">
            <a:solidFill>
              <a:srgbClr val="A7B4BA"/>
            </a:solidFill>
            <a:prstDash val="solid"/>
          </a:ln>
        </p:spPr>
      </p:sp>
      <p:sp>
        <p:nvSpPr>
          <p:cNvPr id="24" name="Shape 21"/>
          <p:cNvSpPr/>
          <p:nvPr/>
        </p:nvSpPr>
        <p:spPr>
          <a:xfrm>
            <a:off x="4801574" y="5288051"/>
            <a:ext cx="99634" cy="273655"/>
          </a:xfrm>
          <a:prstGeom prst="line">
            <a:avLst/>
          </a:prstGeom>
          <a:noFill/>
          <a:ln w="19050">
            <a:solidFill>
              <a:srgbClr val="A7B4BA"/>
            </a:solidFill>
            <a:prstDash val="solid"/>
          </a:ln>
        </p:spPr>
      </p:sp>
      <p:sp>
        <p:nvSpPr>
          <p:cNvPr id="25" name="Shape 22"/>
          <p:cNvSpPr/>
          <p:nvPr/>
        </p:nvSpPr>
        <p:spPr>
          <a:xfrm flipH="1">
            <a:off x="4801574" y="5001190"/>
            <a:ext cx="50691" cy="286862"/>
          </a:xfrm>
          <a:prstGeom prst="line">
            <a:avLst/>
          </a:prstGeom>
          <a:noFill/>
          <a:ln w="19050">
            <a:solidFill>
              <a:srgbClr val="A7B4BA"/>
            </a:solidFill>
            <a:prstDash val="solid"/>
          </a:ln>
        </p:spPr>
      </p:sp>
      <p:sp>
        <p:nvSpPr>
          <p:cNvPr id="26" name="Shape 23"/>
          <p:cNvSpPr/>
          <p:nvPr/>
        </p:nvSpPr>
        <p:spPr>
          <a:xfrm>
            <a:off x="4629107" y="4813768"/>
            <a:ext cx="223158" cy="187422"/>
          </a:xfrm>
          <a:prstGeom prst="line">
            <a:avLst/>
          </a:prstGeom>
          <a:noFill/>
          <a:ln w="19050">
            <a:solidFill>
              <a:srgbClr val="A7B4BA"/>
            </a:solidFill>
            <a:prstDash val="solid"/>
          </a:ln>
        </p:spPr>
      </p:sp>
      <p:sp>
        <p:nvSpPr>
          <p:cNvPr id="27" name="Shape 24"/>
          <p:cNvSpPr/>
          <p:nvPr/>
        </p:nvSpPr>
        <p:spPr>
          <a:xfrm>
            <a:off x="4529473" y="4540113"/>
            <a:ext cx="99634" cy="273655"/>
          </a:xfrm>
          <a:prstGeom prst="line">
            <a:avLst/>
          </a:prstGeom>
          <a:noFill/>
          <a:ln w="19050">
            <a:solidFill>
              <a:srgbClr val="A7B4BA"/>
            </a:solidFill>
            <a:prstDash val="solid"/>
          </a:ln>
        </p:spPr>
      </p:sp>
      <p:sp>
        <p:nvSpPr>
          <p:cNvPr id="28" name="Shape 25"/>
          <p:cNvSpPr/>
          <p:nvPr/>
        </p:nvSpPr>
        <p:spPr>
          <a:xfrm>
            <a:off x="4429838" y="4266264"/>
            <a:ext cx="99634" cy="273849"/>
          </a:xfrm>
          <a:prstGeom prst="line">
            <a:avLst/>
          </a:prstGeom>
          <a:noFill/>
          <a:ln w="19050">
            <a:solidFill>
              <a:srgbClr val="A7B4BA"/>
            </a:solidFill>
            <a:prstDash val="solid"/>
          </a:ln>
        </p:spPr>
      </p:sp>
      <p:sp>
        <p:nvSpPr>
          <p:cNvPr id="29" name="Shape 26"/>
          <p:cNvSpPr/>
          <p:nvPr/>
        </p:nvSpPr>
        <p:spPr>
          <a:xfrm flipH="1">
            <a:off x="4429838" y="4043106"/>
            <a:ext cx="187227" cy="223158"/>
          </a:xfrm>
          <a:prstGeom prst="line">
            <a:avLst/>
          </a:prstGeom>
          <a:noFill/>
          <a:ln w="19050">
            <a:solidFill>
              <a:srgbClr val="A7B4BA"/>
            </a:solidFill>
            <a:prstDash val="solid"/>
          </a:ln>
        </p:spPr>
      </p:sp>
      <p:sp>
        <p:nvSpPr>
          <p:cNvPr id="30" name="Shape 27"/>
          <p:cNvSpPr/>
          <p:nvPr/>
        </p:nvSpPr>
        <p:spPr>
          <a:xfrm flipH="1">
            <a:off x="4617065" y="3756245"/>
            <a:ext cx="50497" cy="286862"/>
          </a:xfrm>
          <a:prstGeom prst="line">
            <a:avLst/>
          </a:prstGeom>
          <a:noFill/>
          <a:ln w="19050">
            <a:solidFill>
              <a:srgbClr val="A7B4BA"/>
            </a:solidFill>
            <a:prstDash val="solid"/>
          </a:ln>
        </p:spPr>
      </p:sp>
      <p:sp>
        <p:nvSpPr>
          <p:cNvPr id="31" name="Shape 28"/>
          <p:cNvSpPr/>
          <p:nvPr/>
        </p:nvSpPr>
        <p:spPr>
          <a:xfrm>
            <a:off x="4567928" y="3482590"/>
            <a:ext cx="99634" cy="273655"/>
          </a:xfrm>
          <a:prstGeom prst="line">
            <a:avLst/>
          </a:prstGeom>
          <a:noFill/>
          <a:ln w="19050">
            <a:solidFill>
              <a:srgbClr val="A7B4BA"/>
            </a:solidFill>
            <a:prstDash val="solid"/>
          </a:ln>
        </p:spPr>
      </p:sp>
      <p:sp>
        <p:nvSpPr>
          <p:cNvPr id="32" name="Shape 29"/>
          <p:cNvSpPr/>
          <p:nvPr/>
        </p:nvSpPr>
        <p:spPr>
          <a:xfrm flipH="1">
            <a:off x="4567928" y="3259432"/>
            <a:ext cx="187227" cy="223158"/>
          </a:xfrm>
          <a:prstGeom prst="line">
            <a:avLst/>
          </a:prstGeom>
          <a:noFill/>
          <a:ln w="19050">
            <a:solidFill>
              <a:srgbClr val="A7B4BA"/>
            </a:solidFill>
            <a:prstDash val="solid"/>
          </a:ln>
        </p:spPr>
      </p:sp>
      <p:sp>
        <p:nvSpPr>
          <p:cNvPr id="33" name="Shape 30"/>
          <p:cNvSpPr/>
          <p:nvPr/>
        </p:nvSpPr>
        <p:spPr>
          <a:xfrm flipH="1">
            <a:off x="4755155" y="3036080"/>
            <a:ext cx="187422" cy="223352"/>
          </a:xfrm>
          <a:prstGeom prst="line">
            <a:avLst/>
          </a:prstGeom>
          <a:noFill/>
          <a:ln w="19050">
            <a:solidFill>
              <a:srgbClr val="A7B4BA"/>
            </a:solidFill>
            <a:prstDash val="solid"/>
          </a:ln>
        </p:spPr>
      </p:sp>
      <p:sp>
        <p:nvSpPr>
          <p:cNvPr id="34" name="Shape 31"/>
          <p:cNvSpPr/>
          <p:nvPr/>
        </p:nvSpPr>
        <p:spPr>
          <a:xfrm flipH="1">
            <a:off x="4942577" y="2812922"/>
            <a:ext cx="187227" cy="223158"/>
          </a:xfrm>
          <a:prstGeom prst="line">
            <a:avLst/>
          </a:prstGeom>
          <a:noFill/>
          <a:ln w="19050">
            <a:solidFill>
              <a:srgbClr val="A7B4BA"/>
            </a:solidFill>
            <a:prstDash val="solid"/>
          </a:ln>
        </p:spPr>
      </p:sp>
      <p:sp>
        <p:nvSpPr>
          <p:cNvPr id="35" name="Shape 32"/>
          <p:cNvSpPr/>
          <p:nvPr/>
        </p:nvSpPr>
        <p:spPr>
          <a:xfrm flipH="1">
            <a:off x="5129804" y="2658712"/>
            <a:ext cx="247047" cy="154210"/>
          </a:xfrm>
          <a:prstGeom prst="line">
            <a:avLst/>
          </a:prstGeom>
          <a:noFill/>
          <a:ln w="19050">
            <a:solidFill>
              <a:srgbClr val="A7B4BA"/>
            </a:solidFill>
            <a:prstDash val="solid"/>
          </a:ln>
        </p:spPr>
      </p:sp>
      <p:sp>
        <p:nvSpPr>
          <p:cNvPr id="36" name="Shape 33"/>
          <p:cNvSpPr/>
          <p:nvPr/>
        </p:nvSpPr>
        <p:spPr>
          <a:xfrm>
            <a:off x="5306349" y="2375929"/>
            <a:ext cx="70502" cy="282783"/>
          </a:xfrm>
          <a:prstGeom prst="line">
            <a:avLst/>
          </a:prstGeom>
          <a:noFill/>
          <a:ln w="19050">
            <a:solidFill>
              <a:srgbClr val="A7B4BA"/>
            </a:solidFill>
            <a:prstDash val="solid"/>
          </a:ln>
        </p:spPr>
      </p:sp>
      <p:sp>
        <p:nvSpPr>
          <p:cNvPr id="37" name="Shape 34"/>
          <p:cNvSpPr/>
          <p:nvPr/>
        </p:nvSpPr>
        <p:spPr>
          <a:xfrm flipH="1">
            <a:off x="5306349" y="2085377"/>
            <a:ext cx="20393" cy="290552"/>
          </a:xfrm>
          <a:prstGeom prst="line">
            <a:avLst/>
          </a:prstGeom>
          <a:noFill/>
          <a:ln w="19050">
            <a:solidFill>
              <a:srgbClr val="A7B4BA"/>
            </a:solidFill>
            <a:prstDash val="solid"/>
          </a:ln>
        </p:spPr>
      </p:sp>
      <p:sp>
        <p:nvSpPr>
          <p:cNvPr id="38" name="Shape 35"/>
          <p:cNvSpPr/>
          <p:nvPr/>
        </p:nvSpPr>
        <p:spPr>
          <a:xfrm flipH="1">
            <a:off x="5326742" y="1794631"/>
            <a:ext cx="20199" cy="290746"/>
          </a:xfrm>
          <a:prstGeom prst="line">
            <a:avLst/>
          </a:prstGeom>
          <a:noFill/>
          <a:ln w="19050">
            <a:solidFill>
              <a:srgbClr val="A7B4BA"/>
            </a:solidFill>
            <a:prstDash val="solid"/>
          </a:ln>
        </p:spPr>
      </p:sp>
      <p:sp>
        <p:nvSpPr>
          <p:cNvPr id="39" name="Shape 36"/>
          <p:cNvSpPr/>
          <p:nvPr/>
        </p:nvSpPr>
        <p:spPr>
          <a:xfrm flipH="1">
            <a:off x="5346941" y="1553216"/>
            <a:ext cx="162950" cy="241414"/>
          </a:xfrm>
          <a:prstGeom prst="line">
            <a:avLst/>
          </a:prstGeom>
          <a:noFill/>
          <a:ln w="19050">
            <a:solidFill>
              <a:srgbClr val="A7B4BA"/>
            </a:solidFill>
            <a:prstDash val="solid"/>
          </a:ln>
        </p:spPr>
      </p:sp>
      <p:sp>
        <p:nvSpPr>
          <p:cNvPr id="40" name="Shape 37"/>
          <p:cNvSpPr/>
          <p:nvPr/>
        </p:nvSpPr>
        <p:spPr>
          <a:xfrm>
            <a:off x="5382095" y="1291409"/>
            <a:ext cx="127796" cy="261807"/>
          </a:xfrm>
          <a:prstGeom prst="line">
            <a:avLst/>
          </a:prstGeom>
          <a:noFill/>
          <a:ln w="19050">
            <a:solidFill>
              <a:srgbClr val="A7B4BA"/>
            </a:solidFill>
            <a:prstDash val="solid"/>
          </a:ln>
        </p:spPr>
      </p:sp>
      <p:sp>
        <p:nvSpPr>
          <p:cNvPr id="41" name="Shape 38"/>
          <p:cNvSpPr/>
          <p:nvPr/>
        </p:nvSpPr>
        <p:spPr>
          <a:xfrm>
            <a:off x="5091543" y="1271016"/>
            <a:ext cx="290552" cy="20393"/>
          </a:xfrm>
          <a:prstGeom prst="line">
            <a:avLst/>
          </a:prstGeom>
          <a:noFill/>
          <a:ln w="19050">
            <a:solidFill>
              <a:srgbClr val="A7B4BA"/>
            </a:solidFill>
            <a:prstDash val="solid"/>
          </a:ln>
        </p:spPr>
      </p:sp>
      <p:sp>
        <p:nvSpPr>
          <p:cNvPr id="42" name="Shape 39"/>
          <p:cNvSpPr/>
          <p:nvPr/>
        </p:nvSpPr>
        <p:spPr>
          <a:xfrm flipH="1">
            <a:off x="4928593" y="1271016"/>
            <a:ext cx="162950" cy="241609"/>
          </a:xfrm>
          <a:prstGeom prst="line">
            <a:avLst/>
          </a:prstGeom>
          <a:noFill/>
          <a:ln w="19050">
            <a:solidFill>
              <a:srgbClr val="A7B4BA"/>
            </a:solidFill>
            <a:prstDash val="solid"/>
          </a:ln>
        </p:spPr>
      </p:sp>
      <p:sp>
        <p:nvSpPr>
          <p:cNvPr id="43" name="Shape 40"/>
          <p:cNvSpPr/>
          <p:nvPr/>
        </p:nvSpPr>
        <p:spPr>
          <a:xfrm>
            <a:off x="4928593" y="1512625"/>
            <a:ext cx="127796" cy="261807"/>
          </a:xfrm>
          <a:prstGeom prst="line">
            <a:avLst/>
          </a:prstGeom>
          <a:noFill/>
          <a:ln w="19050">
            <a:solidFill>
              <a:srgbClr val="A7B4BA"/>
            </a:solidFill>
            <a:prstDash val="solid"/>
          </a:ln>
        </p:spPr>
      </p:sp>
      <p:sp>
        <p:nvSpPr>
          <p:cNvPr id="44" name="Shape 41"/>
          <p:cNvSpPr/>
          <p:nvPr/>
        </p:nvSpPr>
        <p:spPr>
          <a:xfrm flipH="1">
            <a:off x="5035996" y="1774432"/>
            <a:ext cx="20393" cy="290552"/>
          </a:xfrm>
          <a:prstGeom prst="line">
            <a:avLst/>
          </a:prstGeom>
          <a:noFill/>
          <a:ln w="19050">
            <a:solidFill>
              <a:srgbClr val="A7B4BA"/>
            </a:solidFill>
            <a:prstDash val="solid"/>
          </a:ln>
        </p:spPr>
      </p:sp>
      <p:sp>
        <p:nvSpPr>
          <p:cNvPr id="45" name="Shape 42"/>
          <p:cNvSpPr/>
          <p:nvPr/>
        </p:nvSpPr>
        <p:spPr>
          <a:xfrm flipH="1">
            <a:off x="5015797" y="2064984"/>
            <a:ext cx="20199" cy="290552"/>
          </a:xfrm>
          <a:prstGeom prst="line">
            <a:avLst/>
          </a:prstGeom>
          <a:noFill/>
          <a:ln w="19050">
            <a:solidFill>
              <a:srgbClr val="A7B4BA"/>
            </a:solidFill>
            <a:prstDash val="solid"/>
          </a:ln>
        </p:spPr>
      </p:sp>
      <p:sp>
        <p:nvSpPr>
          <p:cNvPr id="46" name="Shape 43"/>
          <p:cNvSpPr/>
          <p:nvPr/>
        </p:nvSpPr>
        <p:spPr>
          <a:xfrm flipH="1">
            <a:off x="4906646" y="2355536"/>
            <a:ext cx="109151" cy="270159"/>
          </a:xfrm>
          <a:prstGeom prst="line">
            <a:avLst/>
          </a:prstGeom>
          <a:noFill/>
          <a:ln w="19050">
            <a:solidFill>
              <a:srgbClr val="A7B4BA"/>
            </a:solidFill>
            <a:prstDash val="solid"/>
          </a:ln>
        </p:spPr>
      </p:sp>
      <p:sp>
        <p:nvSpPr>
          <p:cNvPr id="47" name="Shape 44"/>
          <p:cNvSpPr/>
          <p:nvPr/>
        </p:nvSpPr>
        <p:spPr>
          <a:xfrm flipH="1">
            <a:off x="4719225" y="2625695"/>
            <a:ext cx="187422" cy="223158"/>
          </a:xfrm>
          <a:prstGeom prst="line">
            <a:avLst/>
          </a:prstGeom>
          <a:noFill/>
          <a:ln w="19050">
            <a:solidFill>
              <a:srgbClr val="A7B4BA"/>
            </a:solidFill>
            <a:prstDash val="solid"/>
          </a:ln>
        </p:spPr>
      </p:sp>
      <p:sp>
        <p:nvSpPr>
          <p:cNvPr id="48" name="Shape 45"/>
          <p:cNvSpPr/>
          <p:nvPr/>
        </p:nvSpPr>
        <p:spPr>
          <a:xfrm flipH="1">
            <a:off x="4531997" y="2848853"/>
            <a:ext cx="187227" cy="223158"/>
          </a:xfrm>
          <a:prstGeom prst="line">
            <a:avLst/>
          </a:prstGeom>
          <a:noFill/>
          <a:ln w="19050">
            <a:solidFill>
              <a:srgbClr val="A7B4BA"/>
            </a:solidFill>
            <a:prstDash val="solid"/>
          </a:ln>
        </p:spPr>
      </p:sp>
      <p:sp>
        <p:nvSpPr>
          <p:cNvPr id="49" name="Shape 46"/>
          <p:cNvSpPr/>
          <p:nvPr/>
        </p:nvSpPr>
        <p:spPr>
          <a:xfrm flipH="1">
            <a:off x="4344770" y="3072011"/>
            <a:ext cx="187227" cy="223158"/>
          </a:xfrm>
          <a:prstGeom prst="line">
            <a:avLst/>
          </a:prstGeom>
          <a:noFill/>
          <a:ln w="19050">
            <a:solidFill>
              <a:srgbClr val="A7B4BA"/>
            </a:solidFill>
            <a:prstDash val="solid"/>
          </a:ln>
        </p:spPr>
      </p:sp>
      <p:sp>
        <p:nvSpPr>
          <p:cNvPr id="50" name="Shape 47"/>
          <p:cNvSpPr/>
          <p:nvPr/>
        </p:nvSpPr>
        <p:spPr>
          <a:xfrm>
            <a:off x="4057908" y="3244671"/>
            <a:ext cx="286862" cy="50497"/>
          </a:xfrm>
          <a:prstGeom prst="line">
            <a:avLst/>
          </a:prstGeom>
          <a:noFill/>
          <a:ln w="19050">
            <a:solidFill>
              <a:srgbClr val="A7B4BA"/>
            </a:solidFill>
            <a:prstDash val="solid"/>
          </a:ln>
        </p:spPr>
      </p:sp>
      <p:sp>
        <p:nvSpPr>
          <p:cNvPr id="51" name="Shape 48"/>
          <p:cNvSpPr/>
          <p:nvPr/>
        </p:nvSpPr>
        <p:spPr>
          <a:xfrm flipH="1">
            <a:off x="3784059" y="3244671"/>
            <a:ext cx="273849" cy="99634"/>
          </a:xfrm>
          <a:prstGeom prst="line">
            <a:avLst/>
          </a:prstGeom>
          <a:noFill/>
          <a:ln w="19050">
            <a:solidFill>
              <a:srgbClr val="A7B4BA"/>
            </a:solidFill>
            <a:prstDash val="solid"/>
          </a:ln>
        </p:spPr>
      </p:sp>
      <p:sp>
        <p:nvSpPr>
          <p:cNvPr id="52" name="Shape 49"/>
          <p:cNvSpPr/>
          <p:nvPr/>
        </p:nvSpPr>
        <p:spPr>
          <a:xfrm flipH="1">
            <a:off x="3596832" y="3344306"/>
            <a:ext cx="187227" cy="223158"/>
          </a:xfrm>
          <a:prstGeom prst="line">
            <a:avLst/>
          </a:prstGeom>
          <a:noFill/>
          <a:ln w="19050">
            <a:solidFill>
              <a:srgbClr val="A7B4BA"/>
            </a:solidFill>
            <a:prstDash val="solid"/>
          </a:ln>
        </p:spPr>
      </p:sp>
      <p:sp>
        <p:nvSpPr>
          <p:cNvPr id="53" name="Shape 50"/>
          <p:cNvSpPr/>
          <p:nvPr/>
        </p:nvSpPr>
        <p:spPr>
          <a:xfrm>
            <a:off x="3309970" y="3516967"/>
            <a:ext cx="286862" cy="50497"/>
          </a:xfrm>
          <a:prstGeom prst="line">
            <a:avLst/>
          </a:prstGeom>
          <a:noFill/>
          <a:ln w="19050">
            <a:solidFill>
              <a:srgbClr val="A7B4BA"/>
            </a:solidFill>
            <a:prstDash val="solid"/>
          </a:ln>
        </p:spPr>
      </p:sp>
      <p:sp>
        <p:nvSpPr>
          <p:cNvPr id="54" name="Shape 51"/>
          <p:cNvSpPr/>
          <p:nvPr/>
        </p:nvSpPr>
        <p:spPr>
          <a:xfrm>
            <a:off x="3023109" y="3466275"/>
            <a:ext cx="286862" cy="50691"/>
          </a:xfrm>
          <a:prstGeom prst="line">
            <a:avLst/>
          </a:prstGeom>
          <a:noFill/>
          <a:ln w="19050">
            <a:solidFill>
              <a:srgbClr val="A7B4BA"/>
            </a:solidFill>
            <a:prstDash val="solid"/>
          </a:ln>
        </p:spPr>
      </p:sp>
      <p:sp>
        <p:nvSpPr>
          <p:cNvPr id="55" name="Shape 52"/>
          <p:cNvSpPr/>
          <p:nvPr/>
        </p:nvSpPr>
        <p:spPr>
          <a:xfrm>
            <a:off x="2736247" y="3415778"/>
            <a:ext cx="286862" cy="50497"/>
          </a:xfrm>
          <a:prstGeom prst="line">
            <a:avLst/>
          </a:prstGeom>
          <a:noFill/>
          <a:ln w="19050">
            <a:solidFill>
              <a:srgbClr val="A7B4BA"/>
            </a:solidFill>
            <a:prstDash val="solid"/>
          </a:ln>
        </p:spPr>
      </p:sp>
      <p:sp>
        <p:nvSpPr>
          <p:cNvPr id="56" name="Shape 53"/>
          <p:cNvSpPr/>
          <p:nvPr/>
        </p:nvSpPr>
        <p:spPr>
          <a:xfrm>
            <a:off x="2590582" y="3163488"/>
            <a:ext cx="145664" cy="252291"/>
          </a:xfrm>
          <a:prstGeom prst="line">
            <a:avLst/>
          </a:prstGeom>
          <a:noFill/>
          <a:ln w="19050">
            <a:solidFill>
              <a:srgbClr val="A7B4BA"/>
            </a:solidFill>
            <a:prstDash val="solid"/>
          </a:ln>
        </p:spPr>
      </p:sp>
      <p:sp>
        <p:nvSpPr>
          <p:cNvPr id="57" name="Shape 54"/>
          <p:cNvSpPr/>
          <p:nvPr/>
        </p:nvSpPr>
        <p:spPr>
          <a:xfrm>
            <a:off x="2316733" y="3063659"/>
            <a:ext cx="273849" cy="99829"/>
          </a:xfrm>
          <a:prstGeom prst="line">
            <a:avLst/>
          </a:prstGeom>
          <a:noFill/>
          <a:ln w="19050">
            <a:solidFill>
              <a:srgbClr val="A7B4BA"/>
            </a:solidFill>
            <a:prstDash val="solid"/>
          </a:ln>
        </p:spPr>
      </p:sp>
      <p:sp>
        <p:nvSpPr>
          <p:cNvPr id="58" name="Shape 55"/>
          <p:cNvSpPr/>
          <p:nvPr/>
        </p:nvSpPr>
        <p:spPr>
          <a:xfrm flipH="1">
            <a:off x="2685556" y="3415778"/>
            <a:ext cx="50691" cy="286862"/>
          </a:xfrm>
          <a:prstGeom prst="line">
            <a:avLst/>
          </a:prstGeom>
          <a:noFill/>
          <a:ln w="25400">
            <a:solidFill>
              <a:srgbClr val="0F4C5C"/>
            </a:solidFill>
            <a:prstDash val="solid"/>
          </a:ln>
        </p:spPr>
      </p:sp>
      <p:sp>
        <p:nvSpPr>
          <p:cNvPr id="59" name="Shape 56"/>
          <p:cNvSpPr/>
          <p:nvPr/>
        </p:nvSpPr>
        <p:spPr>
          <a:xfrm flipH="1">
            <a:off x="2972417" y="3466275"/>
            <a:ext cx="50691" cy="286862"/>
          </a:xfrm>
          <a:prstGeom prst="line">
            <a:avLst/>
          </a:prstGeom>
          <a:noFill/>
          <a:ln w="25400">
            <a:solidFill>
              <a:srgbClr val="0F4C5C"/>
            </a:solidFill>
            <a:prstDash val="solid"/>
          </a:ln>
        </p:spPr>
      </p:sp>
      <p:sp>
        <p:nvSpPr>
          <p:cNvPr id="60" name="Shape 57"/>
          <p:cNvSpPr/>
          <p:nvPr/>
        </p:nvSpPr>
        <p:spPr>
          <a:xfrm flipH="1">
            <a:off x="3259279" y="3516967"/>
            <a:ext cx="50691" cy="286862"/>
          </a:xfrm>
          <a:prstGeom prst="line">
            <a:avLst/>
          </a:prstGeom>
          <a:noFill/>
          <a:ln w="25400">
            <a:solidFill>
              <a:srgbClr val="0F4C5C"/>
            </a:solidFill>
            <a:prstDash val="solid"/>
          </a:ln>
        </p:spPr>
      </p:sp>
      <p:sp>
        <p:nvSpPr>
          <p:cNvPr id="61" name="Shape 58"/>
          <p:cNvSpPr/>
          <p:nvPr/>
        </p:nvSpPr>
        <p:spPr>
          <a:xfrm flipH="1">
            <a:off x="3546335" y="3567464"/>
            <a:ext cx="50497" cy="286862"/>
          </a:xfrm>
          <a:prstGeom prst="line">
            <a:avLst/>
          </a:prstGeom>
          <a:noFill/>
          <a:ln w="25400">
            <a:solidFill>
              <a:srgbClr val="0F4C5C"/>
            </a:solidFill>
            <a:prstDash val="solid"/>
          </a:ln>
        </p:spPr>
      </p:sp>
      <p:sp>
        <p:nvSpPr>
          <p:cNvPr id="62" name="Shape 59"/>
          <p:cNvSpPr/>
          <p:nvPr/>
        </p:nvSpPr>
        <p:spPr>
          <a:xfrm flipH="1">
            <a:off x="4155989" y="4266264"/>
            <a:ext cx="273849" cy="99634"/>
          </a:xfrm>
          <a:prstGeom prst="line">
            <a:avLst/>
          </a:prstGeom>
          <a:noFill/>
          <a:ln w="25400">
            <a:solidFill>
              <a:srgbClr val="0F4C5C"/>
            </a:solidFill>
            <a:prstDash val="solid"/>
          </a:ln>
        </p:spPr>
      </p:sp>
      <p:sp>
        <p:nvSpPr>
          <p:cNvPr id="63" name="Shape 60"/>
          <p:cNvSpPr/>
          <p:nvPr/>
        </p:nvSpPr>
        <p:spPr>
          <a:xfrm flipH="1">
            <a:off x="4255624" y="4540113"/>
            <a:ext cx="273849" cy="99634"/>
          </a:xfrm>
          <a:prstGeom prst="line">
            <a:avLst/>
          </a:prstGeom>
          <a:noFill/>
          <a:ln w="25400">
            <a:solidFill>
              <a:srgbClr val="0F4C5C"/>
            </a:solidFill>
            <a:prstDash val="solid"/>
          </a:ln>
        </p:spPr>
      </p:sp>
      <p:sp>
        <p:nvSpPr>
          <p:cNvPr id="64" name="Shape 61"/>
          <p:cNvSpPr/>
          <p:nvPr/>
        </p:nvSpPr>
        <p:spPr>
          <a:xfrm flipH="1">
            <a:off x="4355258" y="4813768"/>
            <a:ext cx="273849" cy="99829"/>
          </a:xfrm>
          <a:prstGeom prst="line">
            <a:avLst/>
          </a:prstGeom>
          <a:noFill/>
          <a:ln w="25400">
            <a:solidFill>
              <a:srgbClr val="0F4C5C"/>
            </a:solidFill>
            <a:prstDash val="solid"/>
          </a:ln>
        </p:spPr>
      </p:sp>
      <p:sp>
        <p:nvSpPr>
          <p:cNvPr id="65" name="Shape 62"/>
          <p:cNvSpPr/>
          <p:nvPr/>
        </p:nvSpPr>
        <p:spPr>
          <a:xfrm flipH="1">
            <a:off x="4527919" y="5288051"/>
            <a:ext cx="273655" cy="99634"/>
          </a:xfrm>
          <a:prstGeom prst="line">
            <a:avLst/>
          </a:prstGeom>
          <a:noFill/>
          <a:ln w="25400">
            <a:solidFill>
              <a:srgbClr val="0F4C5C"/>
            </a:solidFill>
            <a:prstDash val="solid"/>
          </a:ln>
        </p:spPr>
      </p:sp>
      <p:sp>
        <p:nvSpPr>
          <p:cNvPr id="66" name="Shape 63"/>
          <p:cNvSpPr/>
          <p:nvPr/>
        </p:nvSpPr>
        <p:spPr>
          <a:xfrm flipH="1">
            <a:off x="4627553" y="5561706"/>
            <a:ext cx="273655" cy="99634"/>
          </a:xfrm>
          <a:prstGeom prst="line">
            <a:avLst/>
          </a:prstGeom>
          <a:noFill/>
          <a:ln w="25400">
            <a:solidFill>
              <a:srgbClr val="0F4C5C"/>
            </a:solidFill>
            <a:prstDash val="solid"/>
          </a:ln>
        </p:spPr>
      </p:sp>
      <p:sp>
        <p:nvSpPr>
          <p:cNvPr id="67" name="Shape 64"/>
          <p:cNvSpPr/>
          <p:nvPr/>
        </p:nvSpPr>
        <p:spPr>
          <a:xfrm>
            <a:off x="4344770" y="3295168"/>
            <a:ext cx="223158" cy="187422"/>
          </a:xfrm>
          <a:prstGeom prst="line">
            <a:avLst/>
          </a:prstGeom>
          <a:noFill/>
          <a:ln w="25400">
            <a:solidFill>
              <a:srgbClr val="0F4C5C"/>
            </a:solidFill>
            <a:prstDash val="solid"/>
          </a:ln>
        </p:spPr>
      </p:sp>
      <p:sp>
        <p:nvSpPr>
          <p:cNvPr id="68" name="Shape 65"/>
          <p:cNvSpPr/>
          <p:nvPr/>
        </p:nvSpPr>
        <p:spPr>
          <a:xfrm>
            <a:off x="4531997" y="3072011"/>
            <a:ext cx="223158" cy="187422"/>
          </a:xfrm>
          <a:prstGeom prst="line">
            <a:avLst/>
          </a:prstGeom>
          <a:noFill/>
          <a:ln w="25400">
            <a:solidFill>
              <a:srgbClr val="0F4C5C"/>
            </a:solidFill>
            <a:prstDash val="solid"/>
          </a:ln>
        </p:spPr>
      </p:sp>
      <p:sp>
        <p:nvSpPr>
          <p:cNvPr id="69" name="Shape 66"/>
          <p:cNvSpPr/>
          <p:nvPr/>
        </p:nvSpPr>
        <p:spPr>
          <a:xfrm>
            <a:off x="4719225" y="2848853"/>
            <a:ext cx="223352" cy="187227"/>
          </a:xfrm>
          <a:prstGeom prst="line">
            <a:avLst/>
          </a:prstGeom>
          <a:noFill/>
          <a:ln w="25400">
            <a:solidFill>
              <a:srgbClr val="0F4C5C"/>
            </a:solidFill>
            <a:prstDash val="solid"/>
          </a:ln>
        </p:spPr>
      </p:sp>
      <p:sp>
        <p:nvSpPr>
          <p:cNvPr id="70" name="Shape 67"/>
          <p:cNvSpPr/>
          <p:nvPr/>
        </p:nvSpPr>
        <p:spPr>
          <a:xfrm>
            <a:off x="4906646" y="2625695"/>
            <a:ext cx="223158" cy="187227"/>
          </a:xfrm>
          <a:prstGeom prst="line">
            <a:avLst/>
          </a:prstGeom>
          <a:noFill/>
          <a:ln w="25400">
            <a:solidFill>
              <a:srgbClr val="0F4C5C"/>
            </a:solidFill>
            <a:prstDash val="solid"/>
          </a:ln>
        </p:spPr>
      </p:sp>
      <p:sp>
        <p:nvSpPr>
          <p:cNvPr id="71" name="Shape 68"/>
          <p:cNvSpPr/>
          <p:nvPr/>
        </p:nvSpPr>
        <p:spPr>
          <a:xfrm>
            <a:off x="5015797" y="2355536"/>
            <a:ext cx="290552" cy="20393"/>
          </a:xfrm>
          <a:prstGeom prst="line">
            <a:avLst/>
          </a:prstGeom>
          <a:noFill/>
          <a:ln w="25400">
            <a:solidFill>
              <a:srgbClr val="0F4C5C"/>
            </a:solidFill>
            <a:prstDash val="solid"/>
          </a:ln>
        </p:spPr>
      </p:sp>
      <p:sp>
        <p:nvSpPr>
          <p:cNvPr id="72" name="Shape 69"/>
          <p:cNvSpPr/>
          <p:nvPr/>
        </p:nvSpPr>
        <p:spPr>
          <a:xfrm>
            <a:off x="5035996" y="2064984"/>
            <a:ext cx="290746" cy="20393"/>
          </a:xfrm>
          <a:prstGeom prst="line">
            <a:avLst/>
          </a:prstGeom>
          <a:noFill/>
          <a:ln w="25400">
            <a:solidFill>
              <a:srgbClr val="0F4C5C"/>
            </a:solidFill>
            <a:prstDash val="solid"/>
          </a:ln>
        </p:spPr>
      </p:sp>
      <p:sp>
        <p:nvSpPr>
          <p:cNvPr id="73" name="Shape 70"/>
          <p:cNvSpPr/>
          <p:nvPr/>
        </p:nvSpPr>
        <p:spPr>
          <a:xfrm>
            <a:off x="5056389" y="1774432"/>
            <a:ext cx="290552" cy="20199"/>
          </a:xfrm>
          <a:prstGeom prst="line">
            <a:avLst/>
          </a:prstGeom>
          <a:noFill/>
          <a:ln w="25400">
            <a:solidFill>
              <a:srgbClr val="0F4C5C"/>
            </a:solidFill>
            <a:prstDash val="solid"/>
          </a:ln>
        </p:spPr>
      </p:sp>
      <p:sp>
        <p:nvSpPr>
          <p:cNvPr id="74" name="Text 71"/>
          <p:cNvSpPr/>
          <p:nvPr/>
        </p:nvSpPr>
        <p:spPr>
          <a:xfrm>
            <a:off x="2043053" y="3761852"/>
            <a:ext cx="256032" cy="256032"/>
          </a:xfrm>
          <a:prstGeom prst="ellipse">
            <a:avLst/>
          </a:prstGeom>
          <a:solidFill>
            <a:srgbClr val="5C6B73"/>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75" name="Text 72"/>
          <p:cNvSpPr/>
          <p:nvPr/>
        </p:nvSpPr>
        <p:spPr>
          <a:xfrm>
            <a:off x="2334382" y="3761852"/>
            <a:ext cx="256032" cy="256032"/>
          </a:xfrm>
          <a:prstGeom prst="ellipse">
            <a:avLst/>
          </a:prstGeom>
          <a:solidFill>
            <a:srgbClr val="5C6B73"/>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76" name="Text 73"/>
          <p:cNvSpPr/>
          <p:nvPr/>
        </p:nvSpPr>
        <p:spPr>
          <a:xfrm>
            <a:off x="2557540" y="3574624"/>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77" name="Text 74"/>
          <p:cNvSpPr/>
          <p:nvPr/>
        </p:nvSpPr>
        <p:spPr>
          <a:xfrm>
            <a:off x="2844401" y="3625121"/>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78" name="Text 75"/>
          <p:cNvSpPr/>
          <p:nvPr/>
        </p:nvSpPr>
        <p:spPr>
          <a:xfrm>
            <a:off x="3131263" y="3675812"/>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79" name="Text 76"/>
          <p:cNvSpPr/>
          <p:nvPr/>
        </p:nvSpPr>
        <p:spPr>
          <a:xfrm>
            <a:off x="3418319" y="3726309"/>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0" name="Text 77"/>
          <p:cNvSpPr/>
          <p:nvPr/>
        </p:nvSpPr>
        <p:spPr>
          <a:xfrm>
            <a:off x="3517953" y="4000158"/>
            <a:ext cx="256032" cy="256032"/>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81" name="Text 78"/>
          <p:cNvSpPr/>
          <p:nvPr/>
        </p:nvSpPr>
        <p:spPr>
          <a:xfrm>
            <a:off x="3741111" y="4187386"/>
            <a:ext cx="256032" cy="256032"/>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2" name="Text 79"/>
          <p:cNvSpPr/>
          <p:nvPr/>
        </p:nvSpPr>
        <p:spPr>
          <a:xfrm>
            <a:off x="4027973" y="4237883"/>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83" name="Text 80"/>
          <p:cNvSpPr/>
          <p:nvPr/>
        </p:nvSpPr>
        <p:spPr>
          <a:xfrm>
            <a:off x="4127608" y="4511732"/>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4" name="Text 81"/>
          <p:cNvSpPr/>
          <p:nvPr/>
        </p:nvSpPr>
        <p:spPr>
          <a:xfrm>
            <a:off x="4227242" y="4785581"/>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5" name="Text 82"/>
          <p:cNvSpPr/>
          <p:nvPr/>
        </p:nvSpPr>
        <p:spPr>
          <a:xfrm>
            <a:off x="4176745" y="5072443"/>
            <a:ext cx="256032" cy="256032"/>
          </a:xfrm>
          <a:prstGeom prst="ellipse">
            <a:avLst/>
          </a:prstGeom>
          <a:solidFill>
            <a:srgbClr val="C2185B"/>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86" name="Text 83"/>
          <p:cNvSpPr/>
          <p:nvPr/>
        </p:nvSpPr>
        <p:spPr>
          <a:xfrm>
            <a:off x="4399903" y="5259670"/>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7" name="Text 84"/>
          <p:cNvSpPr/>
          <p:nvPr/>
        </p:nvSpPr>
        <p:spPr>
          <a:xfrm>
            <a:off x="4499537" y="5533325"/>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88" name="Text 85"/>
          <p:cNvSpPr/>
          <p:nvPr/>
        </p:nvSpPr>
        <p:spPr>
          <a:xfrm>
            <a:off x="4448846" y="5820381"/>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89" name="Text 86"/>
          <p:cNvSpPr/>
          <p:nvPr/>
        </p:nvSpPr>
        <p:spPr>
          <a:xfrm>
            <a:off x="4672004" y="6007608"/>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90" name="Text 87"/>
          <p:cNvSpPr/>
          <p:nvPr/>
        </p:nvSpPr>
        <p:spPr>
          <a:xfrm>
            <a:off x="4945853" y="5907974"/>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91" name="Text 88"/>
          <p:cNvSpPr/>
          <p:nvPr/>
        </p:nvSpPr>
        <p:spPr>
          <a:xfrm>
            <a:off x="4996350" y="5621112"/>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92" name="Text 89"/>
          <p:cNvSpPr/>
          <p:nvPr/>
        </p:nvSpPr>
        <p:spPr>
          <a:xfrm>
            <a:off x="4773192" y="5433690"/>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93" name="Text 90"/>
          <p:cNvSpPr/>
          <p:nvPr/>
        </p:nvSpPr>
        <p:spPr>
          <a:xfrm>
            <a:off x="4673558" y="5160035"/>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94" name="Text 91"/>
          <p:cNvSpPr/>
          <p:nvPr/>
        </p:nvSpPr>
        <p:spPr>
          <a:xfrm>
            <a:off x="4724249" y="4873174"/>
            <a:ext cx="256032" cy="256032"/>
          </a:xfrm>
          <a:prstGeom prst="ellipse">
            <a:avLst/>
          </a:prstGeom>
          <a:solidFill>
            <a:srgbClr val="C2185B"/>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95" name="Text 92"/>
          <p:cNvSpPr/>
          <p:nvPr/>
        </p:nvSpPr>
        <p:spPr>
          <a:xfrm>
            <a:off x="4501091" y="4685752"/>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96" name="Text 93"/>
          <p:cNvSpPr/>
          <p:nvPr/>
        </p:nvSpPr>
        <p:spPr>
          <a:xfrm>
            <a:off x="4401457" y="4412097"/>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97" name="Text 94"/>
          <p:cNvSpPr/>
          <p:nvPr/>
        </p:nvSpPr>
        <p:spPr>
          <a:xfrm>
            <a:off x="4301822" y="4138248"/>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98" name="Text 95"/>
          <p:cNvSpPr/>
          <p:nvPr/>
        </p:nvSpPr>
        <p:spPr>
          <a:xfrm>
            <a:off x="4489049" y="3915090"/>
            <a:ext cx="256032" cy="256032"/>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99" name="Text 96"/>
          <p:cNvSpPr/>
          <p:nvPr/>
        </p:nvSpPr>
        <p:spPr>
          <a:xfrm>
            <a:off x="4539546" y="3628229"/>
            <a:ext cx="256032" cy="256032"/>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00" name="Text 97"/>
          <p:cNvSpPr/>
          <p:nvPr/>
        </p:nvSpPr>
        <p:spPr>
          <a:xfrm>
            <a:off x="4439912" y="3354574"/>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01" name="Text 98"/>
          <p:cNvSpPr/>
          <p:nvPr/>
        </p:nvSpPr>
        <p:spPr>
          <a:xfrm>
            <a:off x="4627139" y="3131416"/>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02" name="Text 99"/>
          <p:cNvSpPr/>
          <p:nvPr/>
        </p:nvSpPr>
        <p:spPr>
          <a:xfrm>
            <a:off x="4814561" y="2908064"/>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03" name="Text 100"/>
          <p:cNvSpPr/>
          <p:nvPr/>
        </p:nvSpPr>
        <p:spPr>
          <a:xfrm>
            <a:off x="5001788" y="2684906"/>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04" name="Text 101"/>
          <p:cNvSpPr/>
          <p:nvPr/>
        </p:nvSpPr>
        <p:spPr>
          <a:xfrm>
            <a:off x="5248835" y="2530696"/>
            <a:ext cx="256032" cy="256032"/>
          </a:xfrm>
          <a:prstGeom prst="ellipse">
            <a:avLst/>
          </a:prstGeom>
          <a:solidFill>
            <a:srgbClr val="8E44AD"/>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05" name="Text 102"/>
          <p:cNvSpPr/>
          <p:nvPr/>
        </p:nvSpPr>
        <p:spPr>
          <a:xfrm>
            <a:off x="5178333" y="2247913"/>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06" name="Text 103"/>
          <p:cNvSpPr/>
          <p:nvPr/>
        </p:nvSpPr>
        <p:spPr>
          <a:xfrm>
            <a:off x="5198726" y="1957361"/>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07" name="Text 104"/>
          <p:cNvSpPr/>
          <p:nvPr/>
        </p:nvSpPr>
        <p:spPr>
          <a:xfrm>
            <a:off x="5218925" y="1666615"/>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08" name="Text 105"/>
          <p:cNvSpPr/>
          <p:nvPr/>
        </p:nvSpPr>
        <p:spPr>
          <a:xfrm>
            <a:off x="5381875" y="1425200"/>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09" name="Text 106"/>
          <p:cNvSpPr/>
          <p:nvPr/>
        </p:nvSpPr>
        <p:spPr>
          <a:xfrm>
            <a:off x="5254079" y="1163393"/>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10" name="Text 107"/>
          <p:cNvSpPr/>
          <p:nvPr/>
        </p:nvSpPr>
        <p:spPr>
          <a:xfrm>
            <a:off x="4963527" y="1143000"/>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11" name="Text 108"/>
          <p:cNvSpPr/>
          <p:nvPr/>
        </p:nvSpPr>
        <p:spPr>
          <a:xfrm>
            <a:off x="4800577" y="1384609"/>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12" name="Text 109"/>
          <p:cNvSpPr/>
          <p:nvPr/>
        </p:nvSpPr>
        <p:spPr>
          <a:xfrm>
            <a:off x="4928373" y="1646416"/>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13" name="Text 110"/>
          <p:cNvSpPr/>
          <p:nvPr/>
        </p:nvSpPr>
        <p:spPr>
          <a:xfrm>
            <a:off x="4907980" y="1936968"/>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14" name="Text 111"/>
          <p:cNvSpPr/>
          <p:nvPr/>
        </p:nvSpPr>
        <p:spPr>
          <a:xfrm>
            <a:off x="4887781" y="2227520"/>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15" name="Text 112"/>
          <p:cNvSpPr/>
          <p:nvPr/>
        </p:nvSpPr>
        <p:spPr>
          <a:xfrm>
            <a:off x="4778630" y="2497679"/>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16" name="Text 113"/>
          <p:cNvSpPr/>
          <p:nvPr/>
        </p:nvSpPr>
        <p:spPr>
          <a:xfrm>
            <a:off x="4591209" y="2720837"/>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17" name="Text 114"/>
          <p:cNvSpPr/>
          <p:nvPr/>
        </p:nvSpPr>
        <p:spPr>
          <a:xfrm>
            <a:off x="4403981" y="2943995"/>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18" name="Text 115"/>
          <p:cNvSpPr/>
          <p:nvPr/>
        </p:nvSpPr>
        <p:spPr>
          <a:xfrm>
            <a:off x="4216754" y="3167152"/>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19" name="Text 116"/>
          <p:cNvSpPr/>
          <p:nvPr/>
        </p:nvSpPr>
        <p:spPr>
          <a:xfrm>
            <a:off x="3929892" y="3116655"/>
            <a:ext cx="256032" cy="256032"/>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20" name="Text 117"/>
          <p:cNvSpPr/>
          <p:nvPr/>
        </p:nvSpPr>
        <p:spPr>
          <a:xfrm>
            <a:off x="3656043" y="3216290"/>
            <a:ext cx="256032" cy="256032"/>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21" name="Text 118"/>
          <p:cNvSpPr/>
          <p:nvPr/>
        </p:nvSpPr>
        <p:spPr>
          <a:xfrm>
            <a:off x="3468816" y="3439448"/>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22" name="Text 119"/>
          <p:cNvSpPr/>
          <p:nvPr/>
        </p:nvSpPr>
        <p:spPr>
          <a:xfrm>
            <a:off x="3181954" y="3388951"/>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23" name="Text 120"/>
          <p:cNvSpPr/>
          <p:nvPr/>
        </p:nvSpPr>
        <p:spPr>
          <a:xfrm>
            <a:off x="2895093" y="3338259"/>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24" name="Text 121"/>
          <p:cNvSpPr/>
          <p:nvPr/>
        </p:nvSpPr>
        <p:spPr>
          <a:xfrm>
            <a:off x="2608231" y="3287762"/>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25" name="Text 122"/>
          <p:cNvSpPr/>
          <p:nvPr/>
        </p:nvSpPr>
        <p:spPr>
          <a:xfrm>
            <a:off x="2462566" y="3035472"/>
            <a:ext cx="256032" cy="256032"/>
          </a:xfrm>
          <a:prstGeom prst="ellipse">
            <a:avLst/>
          </a:prstGeom>
          <a:solidFill>
            <a:srgbClr val="5C6B73"/>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26" name="Text 123"/>
          <p:cNvSpPr/>
          <p:nvPr/>
        </p:nvSpPr>
        <p:spPr>
          <a:xfrm>
            <a:off x="2188717" y="2935643"/>
            <a:ext cx="256032" cy="256032"/>
          </a:xfrm>
          <a:prstGeom prst="ellipse">
            <a:avLst/>
          </a:prstGeom>
          <a:solidFill>
            <a:srgbClr val="5C6B73"/>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27" name="Text 124"/>
          <p:cNvSpPr txBox="1"/>
          <p:nvPr/>
        </p:nvSpPr>
        <p:spPr>
          <a:xfrm>
            <a:off x="1613285" y="3752708"/>
            <a:ext cx="457200" cy="274320"/>
          </a:xfrm>
          <a:prstGeom prst="rect">
            <a:avLst/>
          </a:prstGeom>
          <a:noFill/>
          <a:ln/>
        </p:spPr>
        <p:txBody>
          <a:bodyPr wrap="square" lIns="0" tIns="0" rIns="0" bIns="0" rtlCol="0" anchor="ctr"/>
          <a:lstStyle/>
          <a:p>
            <a:pPr algn="ctr" indent="0" marL="0">
              <a:buNone/>
            </a:pPr>
            <a:r>
              <a:rPr lang="en-US" sz="1200" b="1" dirty="0">
                <a:solidFill>
                  <a:srgbClr val="1F2A30"/>
                </a:solidFill>
                <a:latin typeface="Meiryo" pitchFamily="34" charset="0"/>
                <a:ea typeface="Meiryo" pitchFamily="34" charset="-122"/>
                <a:cs typeface="Meiryo" pitchFamily="34" charset="-120"/>
              </a:rPr>
              <a:t>5'</a:t>
            </a:r>
            <a:endParaRPr lang="en-US" sz="1200" dirty="0"/>
          </a:p>
        </p:txBody>
      </p:sp>
      <p:sp>
        <p:nvSpPr>
          <p:cNvPr id="128" name="Text 125"/>
          <p:cNvSpPr txBox="1"/>
          <p:nvPr/>
        </p:nvSpPr>
        <p:spPr>
          <a:xfrm>
            <a:off x="1778858" y="2813756"/>
            <a:ext cx="457200" cy="274320"/>
          </a:xfrm>
          <a:prstGeom prst="rect">
            <a:avLst/>
          </a:prstGeom>
          <a:noFill/>
          <a:ln/>
        </p:spPr>
        <p:txBody>
          <a:bodyPr wrap="square" lIns="0" tIns="0" rIns="0" bIns="0" rtlCol="0" anchor="ctr"/>
          <a:lstStyle/>
          <a:p>
            <a:pPr algn="ctr" indent="0" marL="0">
              <a:buNone/>
            </a:pPr>
            <a:r>
              <a:rPr lang="en-US" sz="1200" b="1" dirty="0">
                <a:solidFill>
                  <a:srgbClr val="1F2A30"/>
                </a:solidFill>
                <a:latin typeface="Meiryo" pitchFamily="34" charset="0"/>
                <a:ea typeface="Meiryo" pitchFamily="34" charset="-122"/>
                <a:cs typeface="Meiryo" pitchFamily="34" charset="-120"/>
              </a:rPr>
              <a:t>3'</a:t>
            </a:r>
            <a:endParaRPr lang="en-US" sz="1200" dirty="0"/>
          </a:p>
        </p:txBody>
      </p:sp>
      <p:sp>
        <p:nvSpPr>
          <p:cNvPr id="129" name="Shape 126"/>
          <p:cNvSpPr/>
          <p:nvPr/>
        </p:nvSpPr>
        <p:spPr>
          <a:xfrm>
            <a:off x="7680960" y="1444752"/>
            <a:ext cx="292608" cy="292608"/>
          </a:xfrm>
          <a:prstGeom prst="ellipse">
            <a:avLst/>
          </a:prstGeom>
          <a:solidFill>
            <a:srgbClr val="9AA8AE"/>
          </a:solidFill>
          <a:ln w="12700">
            <a:solidFill>
              <a:srgbClr val="FFFFFF"/>
            </a:solidFill>
            <a:prstDash val="solid"/>
          </a:ln>
        </p:spPr>
      </p:sp>
      <p:sp>
        <p:nvSpPr>
          <p:cNvPr id="130" name="Text 127"/>
          <p:cNvSpPr txBox="1"/>
          <p:nvPr/>
        </p:nvSpPr>
        <p:spPr>
          <a:xfrm>
            <a:off x="8092440" y="137160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ステム（連続した塩基対）</a:t>
            </a:r>
            <a:endParaRPr lang="en-US" sz="1600" dirty="0"/>
          </a:p>
        </p:txBody>
      </p:sp>
      <p:sp>
        <p:nvSpPr>
          <p:cNvPr id="131" name="Shape 128"/>
          <p:cNvSpPr/>
          <p:nvPr/>
        </p:nvSpPr>
        <p:spPr>
          <a:xfrm>
            <a:off x="7680960" y="1947672"/>
            <a:ext cx="292608" cy="292608"/>
          </a:xfrm>
          <a:prstGeom prst="ellipse">
            <a:avLst/>
          </a:prstGeom>
          <a:solidFill>
            <a:srgbClr val="E36414"/>
          </a:solidFill>
          <a:ln w="12700">
            <a:solidFill>
              <a:srgbClr val="FFFFFF"/>
            </a:solidFill>
            <a:prstDash val="solid"/>
          </a:ln>
        </p:spPr>
      </p:sp>
      <p:sp>
        <p:nvSpPr>
          <p:cNvPr id="132" name="Text 129"/>
          <p:cNvSpPr txBox="1"/>
          <p:nvPr/>
        </p:nvSpPr>
        <p:spPr>
          <a:xfrm>
            <a:off x="8092440" y="187452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ヘアピンループ</a:t>
            </a:r>
            <a:endParaRPr lang="en-US" sz="1600" dirty="0"/>
          </a:p>
        </p:txBody>
      </p:sp>
      <p:sp>
        <p:nvSpPr>
          <p:cNvPr id="133" name="Shape 130"/>
          <p:cNvSpPr/>
          <p:nvPr/>
        </p:nvSpPr>
        <p:spPr>
          <a:xfrm>
            <a:off x="7680960" y="2450592"/>
            <a:ext cx="292608" cy="292608"/>
          </a:xfrm>
          <a:prstGeom prst="ellipse">
            <a:avLst/>
          </a:prstGeom>
          <a:solidFill>
            <a:srgbClr val="8E44AD"/>
          </a:solidFill>
          <a:ln w="12700">
            <a:solidFill>
              <a:srgbClr val="FFFFFF"/>
            </a:solidFill>
            <a:prstDash val="solid"/>
          </a:ln>
        </p:spPr>
      </p:sp>
      <p:sp>
        <p:nvSpPr>
          <p:cNvPr id="134" name="Text 131"/>
          <p:cNvSpPr txBox="1"/>
          <p:nvPr/>
        </p:nvSpPr>
        <p:spPr>
          <a:xfrm>
            <a:off x="8092440" y="237744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バルジ（片側のみ非対合）</a:t>
            </a:r>
            <a:endParaRPr lang="en-US" sz="1600" dirty="0"/>
          </a:p>
        </p:txBody>
      </p:sp>
      <p:sp>
        <p:nvSpPr>
          <p:cNvPr id="135" name="Shape 132"/>
          <p:cNvSpPr/>
          <p:nvPr/>
        </p:nvSpPr>
        <p:spPr>
          <a:xfrm>
            <a:off x="7680960" y="2953512"/>
            <a:ext cx="292608" cy="292608"/>
          </a:xfrm>
          <a:prstGeom prst="ellipse">
            <a:avLst/>
          </a:prstGeom>
          <a:solidFill>
            <a:srgbClr val="C2185B"/>
          </a:solidFill>
          <a:ln w="12700">
            <a:solidFill>
              <a:srgbClr val="FFFFFF"/>
            </a:solidFill>
            <a:prstDash val="solid"/>
          </a:ln>
        </p:spPr>
      </p:sp>
      <p:sp>
        <p:nvSpPr>
          <p:cNvPr id="136" name="Text 133"/>
          <p:cNvSpPr txBox="1"/>
          <p:nvPr/>
        </p:nvSpPr>
        <p:spPr>
          <a:xfrm>
            <a:off x="8092440" y="288036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内部ループ（両側に非対合）</a:t>
            </a:r>
            <a:endParaRPr lang="en-US" sz="1600" dirty="0"/>
          </a:p>
        </p:txBody>
      </p:sp>
      <p:sp>
        <p:nvSpPr>
          <p:cNvPr id="137" name="Shape 134"/>
          <p:cNvSpPr/>
          <p:nvPr/>
        </p:nvSpPr>
        <p:spPr>
          <a:xfrm>
            <a:off x="7680960" y="3456432"/>
            <a:ext cx="292608" cy="292608"/>
          </a:xfrm>
          <a:prstGeom prst="ellipse">
            <a:avLst/>
          </a:prstGeom>
          <a:solidFill>
            <a:srgbClr val="E69F00"/>
          </a:solidFill>
          <a:ln w="12700">
            <a:solidFill>
              <a:srgbClr val="FFFFFF"/>
            </a:solidFill>
            <a:prstDash val="solid"/>
          </a:ln>
        </p:spPr>
      </p:sp>
      <p:sp>
        <p:nvSpPr>
          <p:cNvPr id="138" name="Text 135"/>
          <p:cNvSpPr txBox="1"/>
          <p:nvPr/>
        </p:nvSpPr>
        <p:spPr>
          <a:xfrm>
            <a:off x="8092440" y="338328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多分岐ループ（3本のステムが集合）</a:t>
            </a:r>
            <a:endParaRPr lang="en-US" sz="1600" dirty="0"/>
          </a:p>
        </p:txBody>
      </p:sp>
      <p:sp>
        <p:nvSpPr>
          <p:cNvPr id="139" name="Shape 136"/>
          <p:cNvSpPr/>
          <p:nvPr/>
        </p:nvSpPr>
        <p:spPr>
          <a:xfrm>
            <a:off x="7680960" y="3959352"/>
            <a:ext cx="292608" cy="292608"/>
          </a:xfrm>
          <a:prstGeom prst="ellipse">
            <a:avLst/>
          </a:prstGeom>
          <a:solidFill>
            <a:srgbClr val="5C6B73"/>
          </a:solidFill>
          <a:ln w="12700">
            <a:solidFill>
              <a:srgbClr val="FFFFFF"/>
            </a:solidFill>
            <a:prstDash val="solid"/>
          </a:ln>
        </p:spPr>
      </p:sp>
      <p:sp>
        <p:nvSpPr>
          <p:cNvPr id="140" name="Text 137"/>
          <p:cNvSpPr txBox="1"/>
          <p:nvPr/>
        </p:nvSpPr>
        <p:spPr>
          <a:xfrm>
            <a:off x="8092440" y="388620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外部ループ（5′/3′末端側）</a:t>
            </a:r>
            <a:endParaRPr lang="en-US" sz="1600" dirty="0"/>
          </a:p>
        </p:txBody>
      </p:sp>
      <p:sp>
        <p:nvSpPr>
          <p:cNvPr id="141" name="Text 138"/>
          <p:cNvSpPr txBox="1"/>
          <p:nvPr/>
        </p:nvSpPr>
        <p:spPr>
          <a:xfrm>
            <a:off x="7680960" y="4572000"/>
            <a:ext cx="3657600" cy="3200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配列（53塩基）と構造</a:t>
            </a:r>
            <a:endParaRPr lang="en-US" sz="1200" dirty="0"/>
          </a:p>
        </p:txBody>
      </p:sp>
      <p:sp>
        <p:nvSpPr>
          <p:cNvPr id="142" name="Text 139"/>
          <p:cNvSpPr txBox="1"/>
          <p:nvPr/>
        </p:nvSpPr>
        <p:spPr>
          <a:xfrm>
            <a:off x="7680960" y="4892040"/>
            <a:ext cx="4023360" cy="1280160"/>
          </a:xfrm>
          <a:prstGeom prst="rect">
            <a:avLst/>
          </a:prstGeom>
          <a:noFill/>
          <a:ln/>
        </p:spPr>
        <p:txBody>
          <a:bodyPr wrap="square" lIns="0" tIns="0" rIns="0" bIns="0" rtlCol="0" anchor="t"/>
          <a:lstStyle/>
          <a:p>
            <a:pPr indent="0" marL="0">
              <a:buNone/>
            </a:pPr>
            <a:r>
              <a:rPr lang="en-US" sz="1200" dirty="0">
                <a:solidFill>
                  <a:srgbClr val="1F2A30"/>
                </a:solidFill>
                <a:latin typeface="Consolas" pitchFamily="34" charset="0"/>
                <a:ea typeface="Consolas" pitchFamily="34" charset="-122"/>
                <a:cs typeface="Consolas" pitchFamily="34" charset="-120"/>
              </a:rPr>
              <a:t>AUCCACUCGCCGCUACUUAGAGGCUCA</a:t>
            </a:r>
            <a:endParaRPr lang="en-US" sz="1200" dirty="0"/>
          </a:p>
          <a:p>
            <a:pPr indent="0" marL="0">
              <a:buNone/>
            </a:pPr>
            <a:r>
              <a:rPr lang="en-US" sz="1200" dirty="0">
                <a:solidFill>
                  <a:srgbClr val="1F2A30"/>
                </a:solidFill>
                <a:latin typeface="Consolas" pitchFamily="34" charset="0"/>
                <a:ea typeface="Consolas" pitchFamily="34" charset="-122"/>
                <a:cs typeface="Consolas" pitchFamily="34" charset="-120"/>
              </a:rPr>
              <a:t>UGGCGUUAAAGGACCUAUACGUGGUA</a:t>
            </a:r>
            <a:endParaRPr lang="en-US" sz="1200" dirty="0"/>
          </a:p>
          <a:p>
            <a:pPr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自由エネルギーと安定性：同じ条件で構造を比較する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15</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6949440" cy="914400"/>
        </p:xfrm>
        <a:graphic>
          <a:graphicData uri="http://schemas.openxmlformats.org/drawingml/2006/table">
            <a:tbl>
              <a:tblPr/>
              <a:tblGrid>
                <a:gridCol w="4206240"/>
                <a:gridCol w="1463040"/>
                <a:gridCol w="1280160"/>
              </a:tblGrid>
              <a:tr h="0">
                <a:tc>
                  <a:txBody>
                    <a:bodyPr/>
                    <a:lstStyle/>
                    <a:p>
                      <a:pPr algn="l" indent="0" marL="0">
                        <a:buNone/>
                      </a:pPr>
                      <a:r>
                        <a:rPr lang="en-US" sz="1600" b="1" dirty="0">
                          <a:solidFill>
                            <a:srgbClr val="0A3540"/>
                          </a:solidFill>
                          <a:latin typeface="Meiryo" pitchFamily="34" charset="0"/>
                          <a:ea typeface="Meiryo" pitchFamily="34" charset="-122"/>
                          <a:cs typeface="Meiryo" pitchFamily="34" charset="-120"/>
                        </a:rPr>
                        <a:t>構造（同じ配列 GGCGCAGAAAUGCGCC）</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600" b="1" dirty="0">
                          <a:solidFill>
                            <a:srgbClr val="0A3540"/>
                          </a:solidFill>
                          <a:latin typeface="Meiryo" pitchFamily="34" charset="0"/>
                          <a:ea typeface="Meiryo" pitchFamily="34" charset="-122"/>
                          <a:cs typeface="Meiryo" pitchFamily="34" charset="-120"/>
                        </a:rPr>
                        <a:t>ΔG (kcal/mol)</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600" b="1" dirty="0">
                          <a:solidFill>
                            <a:srgbClr val="0A3540"/>
                          </a:solidFill>
                          <a:latin typeface="Meiryo" pitchFamily="34" charset="0"/>
                          <a:ea typeface="Meiryo" pitchFamily="34" charset="-122"/>
                          <a:cs typeface="Meiryo" pitchFamily="34" charset="-120"/>
                        </a:rPr>
                        <a:t>確率 P</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-10.2</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0.908</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-8.6</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0.068</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-7.9</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0.022</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-4.7</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&lt; 0.001</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-6.3</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0.002</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0.0</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&lt; 0.001</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7" name="Shape 3"/>
          <p:cNvSpPr/>
          <p:nvPr/>
        </p:nvSpPr>
        <p:spPr>
          <a:xfrm>
            <a:off x="8778240" y="1371600"/>
            <a:ext cx="9144" cy="4480560"/>
          </a:xfrm>
          <a:prstGeom prst="line">
            <a:avLst/>
          </a:prstGeom>
          <a:noFill/>
          <a:ln w="19050">
            <a:solidFill>
              <a:srgbClr val="1F2A30"/>
            </a:solidFill>
            <a:prstDash val="solid"/>
          </a:ln>
        </p:spPr>
      </p:sp>
      <p:sp>
        <p:nvSpPr>
          <p:cNvPr id="8" name="Shape 4"/>
          <p:cNvSpPr/>
          <p:nvPr/>
        </p:nvSpPr>
        <p:spPr>
          <a:xfrm>
            <a:off x="8705088" y="1371600"/>
            <a:ext cx="73152" cy="9144"/>
          </a:xfrm>
          <a:prstGeom prst="line">
            <a:avLst/>
          </a:prstGeom>
          <a:noFill/>
          <a:ln w="12700">
            <a:solidFill>
              <a:srgbClr val="1F2A30"/>
            </a:solidFill>
            <a:prstDash val="solid"/>
          </a:ln>
        </p:spPr>
      </p:sp>
      <p:sp>
        <p:nvSpPr>
          <p:cNvPr id="9" name="Text 5"/>
          <p:cNvSpPr txBox="1"/>
          <p:nvPr/>
        </p:nvSpPr>
        <p:spPr>
          <a:xfrm>
            <a:off x="8229600" y="1234440"/>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0</a:t>
            </a:r>
            <a:endParaRPr lang="en-US" sz="1100" dirty="0"/>
          </a:p>
        </p:txBody>
      </p:sp>
      <p:sp>
        <p:nvSpPr>
          <p:cNvPr id="10" name="Shape 6"/>
          <p:cNvSpPr/>
          <p:nvPr/>
        </p:nvSpPr>
        <p:spPr>
          <a:xfrm>
            <a:off x="8705088" y="2150828"/>
            <a:ext cx="73152" cy="9144"/>
          </a:xfrm>
          <a:prstGeom prst="line">
            <a:avLst/>
          </a:prstGeom>
          <a:noFill/>
          <a:ln w="12700">
            <a:solidFill>
              <a:srgbClr val="1F2A30"/>
            </a:solidFill>
            <a:prstDash val="solid"/>
          </a:ln>
        </p:spPr>
      </p:sp>
      <p:sp>
        <p:nvSpPr>
          <p:cNvPr id="11" name="Text 7"/>
          <p:cNvSpPr txBox="1"/>
          <p:nvPr/>
        </p:nvSpPr>
        <p:spPr>
          <a:xfrm>
            <a:off x="8229600" y="2013668"/>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-2</a:t>
            </a:r>
            <a:endParaRPr lang="en-US" sz="1100" dirty="0"/>
          </a:p>
        </p:txBody>
      </p:sp>
      <p:sp>
        <p:nvSpPr>
          <p:cNvPr id="12" name="Shape 8"/>
          <p:cNvSpPr/>
          <p:nvPr/>
        </p:nvSpPr>
        <p:spPr>
          <a:xfrm>
            <a:off x="8705088" y="2930056"/>
            <a:ext cx="73152" cy="9144"/>
          </a:xfrm>
          <a:prstGeom prst="line">
            <a:avLst/>
          </a:prstGeom>
          <a:noFill/>
          <a:ln w="12700">
            <a:solidFill>
              <a:srgbClr val="1F2A30"/>
            </a:solidFill>
            <a:prstDash val="solid"/>
          </a:ln>
        </p:spPr>
      </p:sp>
      <p:sp>
        <p:nvSpPr>
          <p:cNvPr id="13" name="Text 9"/>
          <p:cNvSpPr txBox="1"/>
          <p:nvPr/>
        </p:nvSpPr>
        <p:spPr>
          <a:xfrm>
            <a:off x="8229600" y="2792896"/>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-4</a:t>
            </a:r>
            <a:endParaRPr lang="en-US" sz="1100" dirty="0"/>
          </a:p>
        </p:txBody>
      </p:sp>
      <p:sp>
        <p:nvSpPr>
          <p:cNvPr id="14" name="Shape 10"/>
          <p:cNvSpPr/>
          <p:nvPr/>
        </p:nvSpPr>
        <p:spPr>
          <a:xfrm>
            <a:off x="8705088" y="3709283"/>
            <a:ext cx="73152" cy="9144"/>
          </a:xfrm>
          <a:prstGeom prst="line">
            <a:avLst/>
          </a:prstGeom>
          <a:noFill/>
          <a:ln w="12700">
            <a:solidFill>
              <a:srgbClr val="1F2A30"/>
            </a:solidFill>
            <a:prstDash val="solid"/>
          </a:ln>
        </p:spPr>
      </p:sp>
      <p:sp>
        <p:nvSpPr>
          <p:cNvPr id="15" name="Text 11"/>
          <p:cNvSpPr txBox="1"/>
          <p:nvPr/>
        </p:nvSpPr>
        <p:spPr>
          <a:xfrm>
            <a:off x="8229600" y="3572123"/>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-6</a:t>
            </a:r>
            <a:endParaRPr lang="en-US" sz="1100" dirty="0"/>
          </a:p>
        </p:txBody>
      </p:sp>
      <p:sp>
        <p:nvSpPr>
          <p:cNvPr id="16" name="Shape 12"/>
          <p:cNvSpPr/>
          <p:nvPr/>
        </p:nvSpPr>
        <p:spPr>
          <a:xfrm>
            <a:off x="8705088" y="4488511"/>
            <a:ext cx="73152" cy="9144"/>
          </a:xfrm>
          <a:prstGeom prst="line">
            <a:avLst/>
          </a:prstGeom>
          <a:noFill/>
          <a:ln w="12700">
            <a:solidFill>
              <a:srgbClr val="1F2A30"/>
            </a:solidFill>
            <a:prstDash val="solid"/>
          </a:ln>
        </p:spPr>
      </p:sp>
      <p:sp>
        <p:nvSpPr>
          <p:cNvPr id="17" name="Text 13"/>
          <p:cNvSpPr txBox="1"/>
          <p:nvPr/>
        </p:nvSpPr>
        <p:spPr>
          <a:xfrm>
            <a:off x="8229600" y="4351351"/>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-8</a:t>
            </a:r>
            <a:endParaRPr lang="en-US" sz="1100" dirty="0"/>
          </a:p>
        </p:txBody>
      </p:sp>
      <p:sp>
        <p:nvSpPr>
          <p:cNvPr id="18" name="Shape 14"/>
          <p:cNvSpPr/>
          <p:nvPr/>
        </p:nvSpPr>
        <p:spPr>
          <a:xfrm>
            <a:off x="8705088" y="5267739"/>
            <a:ext cx="73152" cy="9144"/>
          </a:xfrm>
          <a:prstGeom prst="line">
            <a:avLst/>
          </a:prstGeom>
          <a:noFill/>
          <a:ln w="12700">
            <a:solidFill>
              <a:srgbClr val="1F2A30"/>
            </a:solidFill>
            <a:prstDash val="solid"/>
          </a:ln>
        </p:spPr>
      </p:sp>
      <p:sp>
        <p:nvSpPr>
          <p:cNvPr id="19" name="Text 15"/>
          <p:cNvSpPr txBox="1"/>
          <p:nvPr/>
        </p:nvSpPr>
        <p:spPr>
          <a:xfrm>
            <a:off x="8229600" y="5130579"/>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-10</a:t>
            </a:r>
            <a:endParaRPr lang="en-US" sz="1100" dirty="0"/>
          </a:p>
        </p:txBody>
      </p:sp>
      <p:sp>
        <p:nvSpPr>
          <p:cNvPr id="20" name="Text 16"/>
          <p:cNvSpPr txBox="1"/>
          <p:nvPr/>
        </p:nvSpPr>
        <p:spPr>
          <a:xfrm>
            <a:off x="8138160" y="960120"/>
            <a:ext cx="1463040" cy="32004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ΔG (kcal/mol)</a:t>
            </a:r>
            <a:endParaRPr lang="en-US" sz="1100" dirty="0"/>
          </a:p>
        </p:txBody>
      </p:sp>
      <p:sp>
        <p:nvSpPr>
          <p:cNvPr id="21" name="Shape 17"/>
          <p:cNvSpPr/>
          <p:nvPr/>
        </p:nvSpPr>
        <p:spPr>
          <a:xfrm>
            <a:off x="8778240" y="5345662"/>
            <a:ext cx="320040" cy="9144"/>
          </a:xfrm>
          <a:prstGeom prst="line">
            <a:avLst/>
          </a:prstGeom>
          <a:noFill/>
          <a:ln w="25400">
            <a:solidFill>
              <a:srgbClr val="E36414"/>
            </a:solidFill>
            <a:prstDash val="solid"/>
          </a:ln>
        </p:spPr>
      </p:sp>
      <p:sp>
        <p:nvSpPr>
          <p:cNvPr id="22" name="Text 18"/>
          <p:cNvSpPr txBox="1"/>
          <p:nvPr/>
        </p:nvSpPr>
        <p:spPr>
          <a:xfrm>
            <a:off x="9189720" y="5226790"/>
            <a:ext cx="2743200" cy="256032"/>
          </a:xfrm>
          <a:prstGeom prst="rect">
            <a:avLst/>
          </a:prstGeom>
          <a:noFill/>
          <a:ln/>
        </p:spPr>
        <p:txBody>
          <a:bodyPr wrap="square" lIns="0" tIns="0" rIns="0" bIns="0" rtlCol="0" anchor="t"/>
          <a:lstStyle/>
          <a:p>
            <a:pPr indent="0" marL="0">
              <a:buNone/>
            </a:pPr>
            <a:r>
              <a:rPr lang="en-US" sz="1100" dirty="0">
                <a:solidFill>
                  <a:srgbClr val="E36414"/>
                </a:solidFill>
                <a:latin typeface="Consolas" pitchFamily="34" charset="0"/>
                <a:ea typeface="Consolas" pitchFamily="34" charset="-122"/>
                <a:cs typeface="Consolas" pitchFamily="34" charset="-120"/>
              </a:rPr>
              <a:t>((((((....))))))</a:t>
            </a:r>
            <a:endParaRPr lang="en-US" sz="1100" dirty="0"/>
          </a:p>
        </p:txBody>
      </p:sp>
      <p:sp>
        <p:nvSpPr>
          <p:cNvPr id="23" name="Shape 19"/>
          <p:cNvSpPr/>
          <p:nvPr/>
        </p:nvSpPr>
        <p:spPr>
          <a:xfrm>
            <a:off x="8778240" y="4722280"/>
            <a:ext cx="320040" cy="9144"/>
          </a:xfrm>
          <a:prstGeom prst="line">
            <a:avLst/>
          </a:prstGeom>
          <a:noFill/>
          <a:ln w="25400">
            <a:solidFill>
              <a:srgbClr val="0F4C5C"/>
            </a:solidFill>
            <a:prstDash val="solid"/>
          </a:ln>
        </p:spPr>
      </p:sp>
      <p:sp>
        <p:nvSpPr>
          <p:cNvPr id="24" name="Text 20"/>
          <p:cNvSpPr txBox="1"/>
          <p:nvPr/>
        </p:nvSpPr>
        <p:spPr>
          <a:xfrm>
            <a:off x="9189720" y="4603408"/>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25" name="Shape 21"/>
          <p:cNvSpPr/>
          <p:nvPr/>
        </p:nvSpPr>
        <p:spPr>
          <a:xfrm>
            <a:off x="8778240" y="4449550"/>
            <a:ext cx="320040" cy="9144"/>
          </a:xfrm>
          <a:prstGeom prst="line">
            <a:avLst/>
          </a:prstGeom>
          <a:noFill/>
          <a:ln w="25400">
            <a:solidFill>
              <a:srgbClr val="0F4C5C"/>
            </a:solidFill>
            <a:prstDash val="solid"/>
          </a:ln>
        </p:spPr>
      </p:sp>
      <p:sp>
        <p:nvSpPr>
          <p:cNvPr id="26" name="Text 22"/>
          <p:cNvSpPr txBox="1"/>
          <p:nvPr/>
        </p:nvSpPr>
        <p:spPr>
          <a:xfrm>
            <a:off x="9189720" y="4330678"/>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27" name="Shape 23"/>
          <p:cNvSpPr/>
          <p:nvPr/>
        </p:nvSpPr>
        <p:spPr>
          <a:xfrm>
            <a:off x="8778240" y="3202785"/>
            <a:ext cx="320040" cy="9144"/>
          </a:xfrm>
          <a:prstGeom prst="line">
            <a:avLst/>
          </a:prstGeom>
          <a:noFill/>
          <a:ln w="25400">
            <a:solidFill>
              <a:srgbClr val="0F4C5C"/>
            </a:solidFill>
            <a:prstDash val="solid"/>
          </a:ln>
        </p:spPr>
      </p:sp>
      <p:sp>
        <p:nvSpPr>
          <p:cNvPr id="28" name="Text 24"/>
          <p:cNvSpPr txBox="1"/>
          <p:nvPr/>
        </p:nvSpPr>
        <p:spPr>
          <a:xfrm>
            <a:off x="9189720" y="3083913"/>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29" name="Shape 25"/>
          <p:cNvSpPr/>
          <p:nvPr/>
        </p:nvSpPr>
        <p:spPr>
          <a:xfrm>
            <a:off x="8778240" y="3826168"/>
            <a:ext cx="320040" cy="9144"/>
          </a:xfrm>
          <a:prstGeom prst="line">
            <a:avLst/>
          </a:prstGeom>
          <a:noFill/>
          <a:ln w="25400">
            <a:solidFill>
              <a:srgbClr val="0F4C5C"/>
            </a:solidFill>
            <a:prstDash val="solid"/>
          </a:ln>
        </p:spPr>
      </p:sp>
      <p:sp>
        <p:nvSpPr>
          <p:cNvPr id="30" name="Text 26"/>
          <p:cNvSpPr txBox="1"/>
          <p:nvPr/>
        </p:nvSpPr>
        <p:spPr>
          <a:xfrm>
            <a:off x="9189720" y="3707296"/>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31" name="Shape 27"/>
          <p:cNvSpPr/>
          <p:nvPr/>
        </p:nvSpPr>
        <p:spPr>
          <a:xfrm>
            <a:off x="8778240" y="1371600"/>
            <a:ext cx="320040" cy="9144"/>
          </a:xfrm>
          <a:prstGeom prst="line">
            <a:avLst/>
          </a:prstGeom>
          <a:noFill/>
          <a:ln w="25400">
            <a:solidFill>
              <a:srgbClr val="0F4C5C"/>
            </a:solidFill>
            <a:prstDash val="solid"/>
          </a:ln>
        </p:spPr>
      </p:sp>
      <p:sp>
        <p:nvSpPr>
          <p:cNvPr id="32" name="Text 28"/>
          <p:cNvSpPr txBox="1"/>
          <p:nvPr/>
        </p:nvSpPr>
        <p:spPr>
          <a:xfrm>
            <a:off x="9189720" y="1252728"/>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33" name="Text 29"/>
          <p:cNvSpPr txBox="1"/>
          <p:nvPr/>
        </p:nvSpPr>
        <p:spPr>
          <a:xfrm>
            <a:off x="9189720" y="5482822"/>
            <a:ext cx="1828800" cy="274320"/>
          </a:xfrm>
          <a:prstGeom prst="rect">
            <a:avLst/>
          </a:prstGeom>
          <a:noFill/>
          <a:ln/>
        </p:spPr>
        <p:txBody>
          <a:bodyPr wrap="square" lIns="0" tIns="0" rIns="0" bIns="0" rtlCol="0" anchor="t"/>
          <a:lstStyle/>
          <a:p>
            <a:pPr indent="0" marL="0">
              <a:buNone/>
            </a:pPr>
            <a:r>
              <a:rPr lang="en-US" sz="1100" dirty="0">
                <a:solidFill>
                  <a:srgbClr val="E36414"/>
                </a:solidFill>
                <a:latin typeface="Meiryo" pitchFamily="34" charset="0"/>
                <a:ea typeface="Meiryo" pitchFamily="34" charset="-122"/>
                <a:cs typeface="Meiryo" pitchFamily="34" charset="-120"/>
              </a:rPr>
              <a:t>最安定（MFE）</a:t>
            </a:r>
            <a:endParaRPr lang="en-US" sz="1100" dirty="0"/>
          </a:p>
        </p:txBody>
      </p:sp>
      <p:sp>
        <p:nvSpPr>
          <p:cNvPr id="34" name="Text 30"/>
          <p:cNvSpPr txBox="1"/>
          <p:nvPr/>
        </p:nvSpPr>
        <p:spPr>
          <a:xfrm>
            <a:off x="502920" y="5989320"/>
            <a:ext cx="7315200" cy="320040"/>
          </a:xfrm>
          <a:prstGeom prst="rect">
            <a:avLst/>
          </a:prstGeom>
          <a:noFill/>
          <a:ln/>
        </p:spPr>
        <p:txBody>
          <a:bodyPr wrap="square" lIns="0" tIns="0" rIns="0" bIns="0" rtlCol="0" anchor="t"/>
          <a:lstStyle/>
          <a:p>
            <a:pPr indent="0" marL="0">
              <a:buNone/>
            </a:pPr>
            <a:r>
              <a:rPr lang="en-US" sz="1300" dirty="0">
                <a:solidFill>
                  <a:srgbClr val="5C6B73"/>
                </a:solidFill>
                <a:latin typeface="Meiryo" pitchFamily="34" charset="0"/>
                <a:ea typeface="Meiryo" pitchFamily="34" charset="-122"/>
                <a:cs typeface="Meiryo" pitchFamily="34" charset="-120"/>
              </a:rPr>
              <a:t>条件：37 ℃、Turner 2004 パラメータ、ViennaRNA 2.7.2</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エネルギーモデル：スタッキングとループの寄与</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16</a:t>
            </a:r>
            <a:endParaRPr lang="en-US" sz="1100" dirty="0"/>
          </a:p>
        </p:txBody>
      </p:sp>
      <p:sp>
        <p:nvSpPr>
          <p:cNvPr id="6" name="Shape 3"/>
          <p:cNvSpPr/>
          <p:nvPr/>
        </p:nvSpPr>
        <p:spPr>
          <a:xfrm>
            <a:off x="1784329" y="1371600"/>
            <a:ext cx="9144" cy="637583"/>
          </a:xfrm>
          <a:prstGeom prst="line">
            <a:avLst/>
          </a:prstGeom>
          <a:noFill/>
          <a:ln w="19050">
            <a:solidFill>
              <a:srgbClr val="A7B4BA"/>
            </a:solidFill>
            <a:prstDash val="solid"/>
          </a:ln>
        </p:spPr>
      </p:sp>
      <p:sp>
        <p:nvSpPr>
          <p:cNvPr id="7" name="Shape 4"/>
          <p:cNvSpPr/>
          <p:nvPr/>
        </p:nvSpPr>
        <p:spPr>
          <a:xfrm>
            <a:off x="1784329" y="2009183"/>
            <a:ext cx="9144" cy="637583"/>
          </a:xfrm>
          <a:prstGeom prst="line">
            <a:avLst/>
          </a:prstGeom>
          <a:noFill/>
          <a:ln w="19050">
            <a:solidFill>
              <a:srgbClr val="A7B4BA"/>
            </a:solidFill>
            <a:prstDash val="solid"/>
          </a:ln>
        </p:spPr>
      </p:sp>
      <p:sp>
        <p:nvSpPr>
          <p:cNvPr id="8" name="Shape 5"/>
          <p:cNvSpPr/>
          <p:nvPr/>
        </p:nvSpPr>
        <p:spPr>
          <a:xfrm>
            <a:off x="1784329" y="2646766"/>
            <a:ext cx="9144" cy="637583"/>
          </a:xfrm>
          <a:prstGeom prst="line">
            <a:avLst/>
          </a:prstGeom>
          <a:noFill/>
          <a:ln w="19050">
            <a:solidFill>
              <a:srgbClr val="A7B4BA"/>
            </a:solidFill>
            <a:prstDash val="solid"/>
          </a:ln>
        </p:spPr>
      </p:sp>
      <p:sp>
        <p:nvSpPr>
          <p:cNvPr id="9" name="Shape 6"/>
          <p:cNvSpPr/>
          <p:nvPr/>
        </p:nvSpPr>
        <p:spPr>
          <a:xfrm>
            <a:off x="1784329" y="3284348"/>
            <a:ext cx="9144" cy="637583"/>
          </a:xfrm>
          <a:prstGeom prst="line">
            <a:avLst/>
          </a:prstGeom>
          <a:noFill/>
          <a:ln w="19050">
            <a:solidFill>
              <a:srgbClr val="A7B4BA"/>
            </a:solidFill>
            <a:prstDash val="solid"/>
          </a:ln>
        </p:spPr>
      </p:sp>
      <p:sp>
        <p:nvSpPr>
          <p:cNvPr id="10" name="Shape 7"/>
          <p:cNvSpPr/>
          <p:nvPr/>
        </p:nvSpPr>
        <p:spPr>
          <a:xfrm>
            <a:off x="1784329" y="3921931"/>
            <a:ext cx="9144" cy="637583"/>
          </a:xfrm>
          <a:prstGeom prst="line">
            <a:avLst/>
          </a:prstGeom>
          <a:noFill/>
          <a:ln w="19050">
            <a:solidFill>
              <a:srgbClr val="A7B4BA"/>
            </a:solidFill>
            <a:prstDash val="solid"/>
          </a:ln>
        </p:spPr>
      </p:sp>
      <p:sp>
        <p:nvSpPr>
          <p:cNvPr id="11" name="Shape 8"/>
          <p:cNvSpPr/>
          <p:nvPr/>
        </p:nvSpPr>
        <p:spPr>
          <a:xfrm flipH="1">
            <a:off x="1416231" y="4559514"/>
            <a:ext cx="368098" cy="591677"/>
          </a:xfrm>
          <a:prstGeom prst="line">
            <a:avLst/>
          </a:prstGeom>
          <a:noFill/>
          <a:ln w="19050">
            <a:solidFill>
              <a:srgbClr val="A7B4BA"/>
            </a:solidFill>
            <a:prstDash val="solid"/>
          </a:ln>
        </p:spPr>
      </p:sp>
      <p:sp>
        <p:nvSpPr>
          <p:cNvPr id="12" name="Shape 9"/>
          <p:cNvSpPr/>
          <p:nvPr/>
        </p:nvSpPr>
        <p:spPr>
          <a:xfrm>
            <a:off x="1416231" y="5151191"/>
            <a:ext cx="338344" cy="609529"/>
          </a:xfrm>
          <a:prstGeom prst="line">
            <a:avLst/>
          </a:prstGeom>
          <a:noFill/>
          <a:ln w="19050">
            <a:solidFill>
              <a:srgbClr val="A7B4BA"/>
            </a:solidFill>
            <a:prstDash val="solid"/>
          </a:ln>
        </p:spPr>
      </p:sp>
      <p:sp>
        <p:nvSpPr>
          <p:cNvPr id="13" name="Shape 10"/>
          <p:cNvSpPr/>
          <p:nvPr/>
        </p:nvSpPr>
        <p:spPr>
          <a:xfrm>
            <a:off x="1754575" y="5760720"/>
            <a:ext cx="697091" cy="9144"/>
          </a:xfrm>
          <a:prstGeom prst="line">
            <a:avLst/>
          </a:prstGeom>
          <a:noFill/>
          <a:ln w="19050">
            <a:solidFill>
              <a:srgbClr val="A7B4BA"/>
            </a:solidFill>
            <a:prstDash val="solid"/>
          </a:ln>
        </p:spPr>
      </p:sp>
      <p:sp>
        <p:nvSpPr>
          <p:cNvPr id="14" name="Shape 11"/>
          <p:cNvSpPr/>
          <p:nvPr/>
        </p:nvSpPr>
        <p:spPr>
          <a:xfrm flipH="1">
            <a:off x="2451665" y="5151191"/>
            <a:ext cx="338344" cy="609529"/>
          </a:xfrm>
          <a:prstGeom prst="line">
            <a:avLst/>
          </a:prstGeom>
          <a:noFill/>
          <a:ln w="19050">
            <a:solidFill>
              <a:srgbClr val="A7B4BA"/>
            </a:solidFill>
            <a:prstDash val="solid"/>
          </a:ln>
        </p:spPr>
      </p:sp>
      <p:sp>
        <p:nvSpPr>
          <p:cNvPr id="15" name="Shape 12"/>
          <p:cNvSpPr/>
          <p:nvPr/>
        </p:nvSpPr>
        <p:spPr>
          <a:xfrm>
            <a:off x="2421911" y="4559514"/>
            <a:ext cx="368098" cy="591677"/>
          </a:xfrm>
          <a:prstGeom prst="line">
            <a:avLst/>
          </a:prstGeom>
          <a:noFill/>
          <a:ln w="19050">
            <a:solidFill>
              <a:srgbClr val="A7B4BA"/>
            </a:solidFill>
            <a:prstDash val="solid"/>
          </a:ln>
        </p:spPr>
      </p:sp>
      <p:sp>
        <p:nvSpPr>
          <p:cNvPr id="16" name="Shape 13"/>
          <p:cNvSpPr/>
          <p:nvPr/>
        </p:nvSpPr>
        <p:spPr>
          <a:xfrm flipV="1">
            <a:off x="2421911" y="3921931"/>
            <a:ext cx="9144" cy="637583"/>
          </a:xfrm>
          <a:prstGeom prst="line">
            <a:avLst/>
          </a:prstGeom>
          <a:noFill/>
          <a:ln w="19050">
            <a:solidFill>
              <a:srgbClr val="A7B4BA"/>
            </a:solidFill>
            <a:prstDash val="solid"/>
          </a:ln>
        </p:spPr>
      </p:sp>
      <p:sp>
        <p:nvSpPr>
          <p:cNvPr id="17" name="Shape 14"/>
          <p:cNvSpPr/>
          <p:nvPr/>
        </p:nvSpPr>
        <p:spPr>
          <a:xfrm flipV="1">
            <a:off x="2421911" y="3284348"/>
            <a:ext cx="9144" cy="637583"/>
          </a:xfrm>
          <a:prstGeom prst="line">
            <a:avLst/>
          </a:prstGeom>
          <a:noFill/>
          <a:ln w="19050">
            <a:solidFill>
              <a:srgbClr val="A7B4BA"/>
            </a:solidFill>
            <a:prstDash val="solid"/>
          </a:ln>
        </p:spPr>
      </p:sp>
      <p:sp>
        <p:nvSpPr>
          <p:cNvPr id="18" name="Shape 15"/>
          <p:cNvSpPr/>
          <p:nvPr/>
        </p:nvSpPr>
        <p:spPr>
          <a:xfrm flipV="1">
            <a:off x="2421911" y="2646766"/>
            <a:ext cx="9144" cy="637583"/>
          </a:xfrm>
          <a:prstGeom prst="line">
            <a:avLst/>
          </a:prstGeom>
          <a:noFill/>
          <a:ln w="19050">
            <a:solidFill>
              <a:srgbClr val="A7B4BA"/>
            </a:solidFill>
            <a:prstDash val="solid"/>
          </a:ln>
        </p:spPr>
      </p:sp>
      <p:sp>
        <p:nvSpPr>
          <p:cNvPr id="19" name="Shape 16"/>
          <p:cNvSpPr/>
          <p:nvPr/>
        </p:nvSpPr>
        <p:spPr>
          <a:xfrm flipV="1">
            <a:off x="2421911" y="2009183"/>
            <a:ext cx="9144" cy="637583"/>
          </a:xfrm>
          <a:prstGeom prst="line">
            <a:avLst/>
          </a:prstGeom>
          <a:noFill/>
          <a:ln w="19050">
            <a:solidFill>
              <a:srgbClr val="A7B4BA"/>
            </a:solidFill>
            <a:prstDash val="solid"/>
          </a:ln>
        </p:spPr>
      </p:sp>
      <p:sp>
        <p:nvSpPr>
          <p:cNvPr id="20" name="Shape 17"/>
          <p:cNvSpPr/>
          <p:nvPr/>
        </p:nvSpPr>
        <p:spPr>
          <a:xfrm flipV="1">
            <a:off x="2421911" y="1371600"/>
            <a:ext cx="9144" cy="637583"/>
          </a:xfrm>
          <a:prstGeom prst="line">
            <a:avLst/>
          </a:prstGeom>
          <a:noFill/>
          <a:ln w="19050">
            <a:solidFill>
              <a:srgbClr val="A7B4BA"/>
            </a:solidFill>
            <a:prstDash val="solid"/>
          </a:ln>
        </p:spPr>
      </p:sp>
      <p:sp>
        <p:nvSpPr>
          <p:cNvPr id="21" name="Shape 18"/>
          <p:cNvSpPr/>
          <p:nvPr/>
        </p:nvSpPr>
        <p:spPr>
          <a:xfrm>
            <a:off x="1784329" y="1371600"/>
            <a:ext cx="637583" cy="9144"/>
          </a:xfrm>
          <a:prstGeom prst="line">
            <a:avLst/>
          </a:prstGeom>
          <a:noFill/>
          <a:ln w="31750">
            <a:solidFill>
              <a:srgbClr val="0F4C5C"/>
            </a:solidFill>
            <a:prstDash val="solid"/>
          </a:ln>
        </p:spPr>
      </p:sp>
      <p:sp>
        <p:nvSpPr>
          <p:cNvPr id="22" name="Shape 19"/>
          <p:cNvSpPr/>
          <p:nvPr/>
        </p:nvSpPr>
        <p:spPr>
          <a:xfrm>
            <a:off x="1784329" y="2009183"/>
            <a:ext cx="637583" cy="9144"/>
          </a:xfrm>
          <a:prstGeom prst="line">
            <a:avLst/>
          </a:prstGeom>
          <a:noFill/>
          <a:ln w="31750">
            <a:solidFill>
              <a:srgbClr val="0F4C5C"/>
            </a:solidFill>
            <a:prstDash val="solid"/>
          </a:ln>
        </p:spPr>
      </p:sp>
      <p:sp>
        <p:nvSpPr>
          <p:cNvPr id="23" name="Shape 20"/>
          <p:cNvSpPr/>
          <p:nvPr/>
        </p:nvSpPr>
        <p:spPr>
          <a:xfrm>
            <a:off x="1784329" y="2646766"/>
            <a:ext cx="637583" cy="9144"/>
          </a:xfrm>
          <a:prstGeom prst="line">
            <a:avLst/>
          </a:prstGeom>
          <a:noFill/>
          <a:ln w="31750">
            <a:solidFill>
              <a:srgbClr val="0F4C5C"/>
            </a:solidFill>
            <a:prstDash val="solid"/>
          </a:ln>
        </p:spPr>
      </p:sp>
      <p:sp>
        <p:nvSpPr>
          <p:cNvPr id="24" name="Shape 21"/>
          <p:cNvSpPr/>
          <p:nvPr/>
        </p:nvSpPr>
        <p:spPr>
          <a:xfrm>
            <a:off x="1784329" y="3284348"/>
            <a:ext cx="637583" cy="9144"/>
          </a:xfrm>
          <a:prstGeom prst="line">
            <a:avLst/>
          </a:prstGeom>
          <a:noFill/>
          <a:ln w="31750">
            <a:solidFill>
              <a:srgbClr val="0F4C5C"/>
            </a:solidFill>
            <a:prstDash val="solid"/>
          </a:ln>
        </p:spPr>
      </p:sp>
      <p:sp>
        <p:nvSpPr>
          <p:cNvPr id="25" name="Shape 22"/>
          <p:cNvSpPr/>
          <p:nvPr/>
        </p:nvSpPr>
        <p:spPr>
          <a:xfrm>
            <a:off x="1784329" y="3921931"/>
            <a:ext cx="637583" cy="9144"/>
          </a:xfrm>
          <a:prstGeom prst="line">
            <a:avLst/>
          </a:prstGeom>
          <a:noFill/>
          <a:ln w="31750">
            <a:solidFill>
              <a:srgbClr val="0F4C5C"/>
            </a:solidFill>
            <a:prstDash val="solid"/>
          </a:ln>
        </p:spPr>
      </p:sp>
      <p:sp>
        <p:nvSpPr>
          <p:cNvPr id="26" name="Shape 23"/>
          <p:cNvSpPr/>
          <p:nvPr/>
        </p:nvSpPr>
        <p:spPr>
          <a:xfrm>
            <a:off x="1784329" y="4559514"/>
            <a:ext cx="637583" cy="9144"/>
          </a:xfrm>
          <a:prstGeom prst="line">
            <a:avLst/>
          </a:prstGeom>
          <a:noFill/>
          <a:ln w="31750">
            <a:solidFill>
              <a:srgbClr val="0F4C5C"/>
            </a:solidFill>
            <a:prstDash val="solid"/>
          </a:ln>
        </p:spPr>
      </p:sp>
      <p:sp>
        <p:nvSpPr>
          <p:cNvPr id="27" name="Text 24"/>
          <p:cNvSpPr/>
          <p:nvPr/>
        </p:nvSpPr>
        <p:spPr>
          <a:xfrm>
            <a:off x="1601449" y="1188720"/>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28" name="Text 25"/>
          <p:cNvSpPr/>
          <p:nvPr/>
        </p:nvSpPr>
        <p:spPr>
          <a:xfrm>
            <a:off x="1601449" y="1826303"/>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29" name="Text 26"/>
          <p:cNvSpPr/>
          <p:nvPr/>
        </p:nvSpPr>
        <p:spPr>
          <a:xfrm>
            <a:off x="1601449" y="2463886"/>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30" name="Text 27"/>
          <p:cNvSpPr/>
          <p:nvPr/>
        </p:nvSpPr>
        <p:spPr>
          <a:xfrm>
            <a:off x="1601449" y="3101468"/>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31" name="Text 28"/>
          <p:cNvSpPr/>
          <p:nvPr/>
        </p:nvSpPr>
        <p:spPr>
          <a:xfrm>
            <a:off x="1601449" y="3739051"/>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32" name="Text 29"/>
          <p:cNvSpPr/>
          <p:nvPr/>
        </p:nvSpPr>
        <p:spPr>
          <a:xfrm>
            <a:off x="1601449" y="4376634"/>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3" name="Text 30"/>
          <p:cNvSpPr/>
          <p:nvPr/>
        </p:nvSpPr>
        <p:spPr>
          <a:xfrm>
            <a:off x="1233351" y="4968311"/>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34" name="Text 31"/>
          <p:cNvSpPr/>
          <p:nvPr/>
        </p:nvSpPr>
        <p:spPr>
          <a:xfrm>
            <a:off x="1571695" y="557784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5" name="Text 32"/>
          <p:cNvSpPr/>
          <p:nvPr/>
        </p:nvSpPr>
        <p:spPr>
          <a:xfrm>
            <a:off x="2268785" y="557784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6" name="Text 33"/>
          <p:cNvSpPr/>
          <p:nvPr/>
        </p:nvSpPr>
        <p:spPr>
          <a:xfrm>
            <a:off x="2607129" y="4968311"/>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7" name="Text 34"/>
          <p:cNvSpPr/>
          <p:nvPr/>
        </p:nvSpPr>
        <p:spPr>
          <a:xfrm>
            <a:off x="2239031" y="4376634"/>
            <a:ext cx="365760" cy="365760"/>
          </a:xfrm>
          <a:prstGeom prst="ellipse">
            <a:avLst/>
          </a:prstGeom>
          <a:solidFill>
            <a:srgbClr val="CC79A7"/>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U</a:t>
            </a:r>
            <a:endParaRPr lang="en-US" sz="1300" dirty="0"/>
          </a:p>
        </p:txBody>
      </p:sp>
      <p:sp>
        <p:nvSpPr>
          <p:cNvPr id="38" name="Text 35"/>
          <p:cNvSpPr/>
          <p:nvPr/>
        </p:nvSpPr>
        <p:spPr>
          <a:xfrm>
            <a:off x="2239031" y="3739051"/>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39" name="Text 36"/>
          <p:cNvSpPr/>
          <p:nvPr/>
        </p:nvSpPr>
        <p:spPr>
          <a:xfrm>
            <a:off x="2239031" y="3101468"/>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40" name="Text 37"/>
          <p:cNvSpPr/>
          <p:nvPr/>
        </p:nvSpPr>
        <p:spPr>
          <a:xfrm>
            <a:off x="2239031" y="2463886"/>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41" name="Text 38"/>
          <p:cNvSpPr/>
          <p:nvPr/>
        </p:nvSpPr>
        <p:spPr>
          <a:xfrm>
            <a:off x="2239031" y="1826303"/>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42" name="Text 39"/>
          <p:cNvSpPr/>
          <p:nvPr/>
        </p:nvSpPr>
        <p:spPr>
          <a:xfrm>
            <a:off x="2239031" y="1188720"/>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43" name="Text 40"/>
          <p:cNvSpPr txBox="1"/>
          <p:nvPr/>
        </p:nvSpPr>
        <p:spPr>
          <a:xfrm>
            <a:off x="1171681" y="1234440"/>
            <a:ext cx="457200" cy="274320"/>
          </a:xfrm>
          <a:prstGeom prst="rect">
            <a:avLst/>
          </a:prstGeom>
          <a:noFill/>
          <a:ln/>
        </p:spPr>
        <p:txBody>
          <a:bodyPr wrap="square" lIns="0" tIns="0" rIns="0" bIns="0" rtlCol="0" anchor="ctr"/>
          <a:lstStyle/>
          <a:p>
            <a:pPr algn="ctr" indent="0" marL="0">
              <a:buNone/>
            </a:pPr>
            <a:r>
              <a:rPr lang="en-US" sz="1200" b="1" dirty="0">
                <a:solidFill>
                  <a:srgbClr val="1F2A30"/>
                </a:solidFill>
                <a:latin typeface="Meiryo" pitchFamily="34" charset="0"/>
                <a:ea typeface="Meiryo" pitchFamily="34" charset="-122"/>
                <a:cs typeface="Meiryo" pitchFamily="34" charset="-120"/>
              </a:rPr>
              <a:t>5'</a:t>
            </a:r>
            <a:endParaRPr lang="en-US" sz="1200" dirty="0"/>
          </a:p>
        </p:txBody>
      </p:sp>
      <p:sp>
        <p:nvSpPr>
          <p:cNvPr id="44" name="Text 41"/>
          <p:cNvSpPr txBox="1"/>
          <p:nvPr/>
        </p:nvSpPr>
        <p:spPr>
          <a:xfrm>
            <a:off x="2577359" y="1234440"/>
            <a:ext cx="457200" cy="274320"/>
          </a:xfrm>
          <a:prstGeom prst="rect">
            <a:avLst/>
          </a:prstGeom>
          <a:noFill/>
          <a:ln/>
        </p:spPr>
        <p:txBody>
          <a:bodyPr wrap="square" lIns="0" tIns="0" rIns="0" bIns="0" rtlCol="0" anchor="ctr"/>
          <a:lstStyle/>
          <a:p>
            <a:pPr algn="ctr" indent="0" marL="0">
              <a:buNone/>
            </a:pPr>
            <a:r>
              <a:rPr lang="en-US" sz="1200" b="1" dirty="0">
                <a:solidFill>
                  <a:srgbClr val="1F2A30"/>
                </a:solidFill>
                <a:latin typeface="Meiryo" pitchFamily="34" charset="0"/>
                <a:ea typeface="Meiryo" pitchFamily="34" charset="-122"/>
                <a:cs typeface="Meiryo" pitchFamily="34" charset="-120"/>
              </a:rPr>
              <a:t>3'</a:t>
            </a:r>
            <a:endParaRPr lang="en-US" sz="1200" dirty="0"/>
          </a:p>
        </p:txBody>
      </p:sp>
      <p:sp>
        <p:nvSpPr>
          <p:cNvPr id="45" name="Text 42"/>
          <p:cNvSpPr txBox="1"/>
          <p:nvPr/>
        </p:nvSpPr>
        <p:spPr>
          <a:xfrm>
            <a:off x="1783080" y="1580663"/>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-3.3</a:t>
            </a:r>
            <a:endParaRPr lang="en-US" sz="1100" dirty="0"/>
          </a:p>
        </p:txBody>
      </p:sp>
      <p:sp>
        <p:nvSpPr>
          <p:cNvPr id="46" name="Text 43"/>
          <p:cNvSpPr txBox="1"/>
          <p:nvPr/>
        </p:nvSpPr>
        <p:spPr>
          <a:xfrm>
            <a:off x="1783080" y="2218246"/>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-3.4</a:t>
            </a:r>
            <a:endParaRPr lang="en-US" sz="1100" dirty="0"/>
          </a:p>
        </p:txBody>
      </p:sp>
      <p:sp>
        <p:nvSpPr>
          <p:cNvPr id="47" name="Text 44"/>
          <p:cNvSpPr txBox="1"/>
          <p:nvPr/>
        </p:nvSpPr>
        <p:spPr>
          <a:xfrm>
            <a:off x="1783080" y="2855829"/>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-2.4</a:t>
            </a:r>
            <a:endParaRPr lang="en-US" sz="1100" dirty="0"/>
          </a:p>
        </p:txBody>
      </p:sp>
      <p:sp>
        <p:nvSpPr>
          <p:cNvPr id="48" name="Text 45"/>
          <p:cNvSpPr txBox="1"/>
          <p:nvPr/>
        </p:nvSpPr>
        <p:spPr>
          <a:xfrm>
            <a:off x="1783080" y="3493412"/>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-3.4</a:t>
            </a:r>
            <a:endParaRPr lang="en-US" sz="1100" dirty="0"/>
          </a:p>
        </p:txBody>
      </p:sp>
      <p:sp>
        <p:nvSpPr>
          <p:cNvPr id="49" name="Text 46"/>
          <p:cNvSpPr txBox="1"/>
          <p:nvPr/>
        </p:nvSpPr>
        <p:spPr>
          <a:xfrm>
            <a:off x="1783080" y="4130995"/>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-2.1</a:t>
            </a:r>
            <a:endParaRPr lang="en-US" sz="1100" dirty="0"/>
          </a:p>
        </p:txBody>
      </p:sp>
      <p:sp>
        <p:nvSpPr>
          <p:cNvPr id="50" name="Text 47"/>
          <p:cNvSpPr txBox="1"/>
          <p:nvPr/>
        </p:nvSpPr>
        <p:spPr>
          <a:xfrm>
            <a:off x="1737360" y="5047414"/>
            <a:ext cx="731520" cy="219456"/>
          </a:xfrm>
          <a:prstGeom prst="rect">
            <a:avLst/>
          </a:prstGeom>
          <a:noFill/>
          <a:ln/>
        </p:spPr>
        <p:txBody>
          <a:bodyPr wrap="square" lIns="0" tIns="0" rIns="0" bIns="0" rtlCol="0" anchor="ctr"/>
          <a:lstStyle/>
          <a:p>
            <a:pPr algn="ctr" indent="0" marL="0">
              <a:buNone/>
            </a:pPr>
            <a:r>
              <a:rPr lang="en-US" sz="1100" b="1" dirty="0">
                <a:solidFill>
                  <a:srgbClr val="E36414"/>
                </a:solidFill>
                <a:latin typeface="Meiryo" pitchFamily="34" charset="0"/>
                <a:ea typeface="Meiryo" pitchFamily="34" charset="-122"/>
                <a:cs typeface="Meiryo" pitchFamily="34" charset="-120"/>
              </a:rPr>
              <a:t>+4.4</a:t>
            </a:r>
            <a:endParaRPr lang="en-US" sz="1100" dirty="0"/>
          </a:p>
        </p:txBody>
      </p:sp>
      <p:sp>
        <p:nvSpPr>
          <p:cNvPr id="51" name="Text 48"/>
          <p:cNvSpPr txBox="1"/>
          <p:nvPr/>
        </p:nvSpPr>
        <p:spPr>
          <a:xfrm>
            <a:off x="548640" y="5989320"/>
            <a:ext cx="3108960" cy="274320"/>
          </a:xfrm>
          <a:prstGeom prst="rect">
            <a:avLst/>
          </a:prstGeom>
          <a:noFill/>
          <a:ln/>
        </p:spPr>
        <p:txBody>
          <a:bodyPr wrap="square" lIns="0" tIns="0" rIns="0" bIns="0" rtlCol="0" anchor="t"/>
          <a:lstStyle/>
          <a:p>
            <a:pPr indent="0" marL="0">
              <a:buNone/>
            </a:pPr>
            <a:r>
              <a:rPr lang="en-US" sz="1100" dirty="0">
                <a:solidFill>
                  <a:srgbClr val="0F4C5C"/>
                </a:solidFill>
                <a:latin typeface="Meiryo" pitchFamily="34" charset="0"/>
                <a:ea typeface="Meiryo" pitchFamily="34" charset="-122"/>
                <a:cs typeface="Meiryo" pitchFamily="34" charset="-120"/>
              </a:rPr>
              <a:t>スタッキング（各 −2.1〜−3.4）</a:t>
            </a:r>
            <a:endParaRPr lang="en-US" sz="1100" dirty="0"/>
          </a:p>
        </p:txBody>
      </p:sp>
      <p:pic>
        <p:nvPicPr>
          <p:cNvPr id="52" name="Image 0" descr="/Users/sumishunsuke/Desktop/RNA/Course_RNAinverse/build/fig/eq_energy.png">    </p:cNvPr>
          <p:cNvPicPr>
            <a:picLocks noChangeAspect="1"/>
          </p:cNvPicPr>
          <p:nvPr/>
        </p:nvPicPr>
        <p:blipFill>
          <a:blip r:embed="rId1"/>
          <a:stretch>
            <a:fillRect/>
          </a:stretch>
        </p:blipFill>
        <p:spPr>
          <a:xfrm>
            <a:off x="4023360" y="1234440"/>
            <a:ext cx="3061252" cy="685800"/>
          </a:xfrm>
          <a:prstGeom prst="rect">
            <a:avLst/>
          </a:prstGeom>
        </p:spPr>
      </p:pic>
      <p:sp>
        <p:nvSpPr>
          <p:cNvPr id="53" name="Text 49"/>
          <p:cNvSpPr txBox="1"/>
          <p:nvPr/>
        </p:nvSpPr>
        <p:spPr>
          <a:xfrm>
            <a:off x="4023360" y="2011680"/>
            <a:ext cx="4572000" cy="54864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構造 S の自由エネルギーは、S をループに分解した各ループの寄与 ΔG(L) の和</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023360" y="2606040"/>
          <a:ext cx="4206240" cy="914400"/>
        </p:xfrm>
        <a:graphic>
          <a:graphicData uri="http://schemas.openxmlformats.org/drawingml/2006/table">
            <a:tbl>
              <a:tblPr/>
              <a:tblGrid>
                <a:gridCol w="1371600"/>
                <a:gridCol w="2103120"/>
                <a:gridCol w="73152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ループ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内容</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ΔG</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(1,16) と (2,15)</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(2,15) と (3,14)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(3,14) と (4,13)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-2.4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(4,13) と (5,12)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(5,12) と (6,11)</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-2.1</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ヘアピン</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(6,11) が閉じる 4 塩基ループ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+4.4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b="1" dirty="0">
                          <a:solidFill>
                            <a:srgbClr val="1F2A30"/>
                          </a:solidFill>
                          <a:latin typeface="Meiryo" pitchFamily="34" charset="0"/>
                          <a:ea typeface="Meiryo" pitchFamily="34" charset="-122"/>
                          <a:cs typeface="Meiryo" pitchFamily="34" charset="-120"/>
                        </a:rPr>
                        <a:t>合計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b="1" dirty="0">
                          <a:solidFill>
                            <a:srgbClr val="1F2A30"/>
                          </a:solidFill>
                          <a:latin typeface="Meiryo" pitchFamily="34" charset="0"/>
                          <a:ea typeface="Meiryo" pitchFamily="34" charset="-122"/>
                          <a:cs typeface="Meiryo" pitchFamily="34" charset="-120"/>
                        </a:rPr>
                        <a:t>MFE</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b="1" dirty="0">
                          <a:solidFill>
                            <a:srgbClr val="1F2A30"/>
                          </a:solidFill>
                          <a:latin typeface="Meiryo" pitchFamily="34" charset="0"/>
                          <a:ea typeface="Meiryo" pitchFamily="34" charset="-122"/>
                          <a:cs typeface="Meiryo" pitchFamily="34" charset="-120"/>
                        </a:rPr>
                        <a:t>-10.2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55" name="Shape 50"/>
          <p:cNvSpPr/>
          <p:nvPr/>
        </p:nvSpPr>
        <p:spPr>
          <a:xfrm>
            <a:off x="8503920" y="1234440"/>
            <a:ext cx="3200400" cy="4846320"/>
          </a:xfrm>
          <a:prstGeom prst="roundRect">
            <a:avLst>
              <a:gd name="adj" fmla="val 3429"/>
            </a:avLst>
          </a:prstGeom>
          <a:solidFill>
            <a:srgbClr val="EEF3F4"/>
          </a:solidFill>
          <a:ln w="12700">
            <a:solidFill>
              <a:srgbClr val="EEF3F4"/>
            </a:solidFill>
            <a:prstDash val="solid"/>
          </a:ln>
        </p:spPr>
      </p:sp>
      <p:sp>
        <p:nvSpPr>
          <p:cNvPr id="56" name="Text 51"/>
          <p:cNvSpPr txBox="1"/>
          <p:nvPr/>
        </p:nvSpPr>
        <p:spPr>
          <a:xfrm>
            <a:off x="8686800" y="1344168"/>
            <a:ext cx="2834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本数が同じでも違う</a:t>
            </a:r>
            <a:endParaRPr lang="en-US" sz="2000" dirty="0"/>
          </a:p>
        </p:txBody>
      </p:sp>
      <p:sp>
        <p:nvSpPr>
          <p:cNvPr id="57" name="Text 52"/>
          <p:cNvSpPr txBox="1"/>
          <p:nvPr/>
        </p:nvSpPr>
        <p:spPr>
          <a:xfrm>
            <a:off x="8686800" y="1920240"/>
            <a:ext cx="2926080" cy="365760"/>
          </a:xfrm>
          <a:prstGeom prst="rect">
            <a:avLst/>
          </a:prstGeom>
          <a:noFill/>
          <a:ln/>
        </p:spPr>
        <p:txBody>
          <a:bodyPr wrap="square" lIns="0" tIns="0" rIns="0" bIns="0" rtlCol="0" anchor="t"/>
          <a:lstStyle/>
          <a:p>
            <a:pPr indent="0" marL="0">
              <a:buNone/>
            </a:pPr>
            <a:r>
              <a:rPr lang="en-US" sz="1500" b="1" dirty="0">
                <a:solidFill>
                  <a:srgbClr val="1F2A30"/>
                </a:solidFill>
                <a:latin typeface="Consolas" pitchFamily="34" charset="0"/>
                <a:ea typeface="Consolas" pitchFamily="34" charset="-122"/>
                <a:cs typeface="Consolas" pitchFamily="34" charset="-120"/>
              </a:rPr>
              <a:t>GGCGCAGAAAUGCGCC</a:t>
            </a:r>
            <a:endParaRPr lang="en-US" sz="1500" dirty="0"/>
          </a:p>
        </p:txBody>
      </p:sp>
      <p:sp>
        <p:nvSpPr>
          <p:cNvPr id="58" name="Text 53"/>
          <p:cNvSpPr txBox="1"/>
          <p:nvPr/>
        </p:nvSpPr>
        <p:spPr>
          <a:xfrm>
            <a:off x="8686800" y="2267712"/>
            <a:ext cx="2926080" cy="320040"/>
          </a:xfrm>
          <a:prstGeom prst="rect">
            <a:avLst/>
          </a:prstGeom>
          <a:noFill/>
          <a:ln/>
        </p:spPr>
        <p:txBody>
          <a:bodyPr wrap="square" lIns="0" tIns="0" rIns="0" bIns="0" rtlCol="0" anchor="t"/>
          <a:lstStyle/>
          <a:p>
            <a:pPr indent="0" marL="0">
              <a:buNone/>
            </a:pPr>
            <a:r>
              <a:rPr lang="en-US" sz="1500" dirty="0">
                <a:solidFill>
                  <a:srgbClr val="0F4C5C"/>
                </a:solidFill>
                <a:latin typeface="Consolas" pitchFamily="34" charset="0"/>
                <a:ea typeface="Consolas" pitchFamily="34" charset="-122"/>
                <a:cs typeface="Consolas" pitchFamily="34" charset="-120"/>
              </a:rPr>
              <a:t>((((((....))))))</a:t>
            </a:r>
            <a:endParaRPr lang="en-US" sz="1500" dirty="0"/>
          </a:p>
        </p:txBody>
      </p:sp>
      <p:sp>
        <p:nvSpPr>
          <p:cNvPr id="59" name="Text 54"/>
          <p:cNvSpPr txBox="1"/>
          <p:nvPr/>
        </p:nvSpPr>
        <p:spPr>
          <a:xfrm>
            <a:off x="8686800" y="2606040"/>
            <a:ext cx="2926080" cy="36576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6 対　ΔG = -10.2 kcal/mol</a:t>
            </a:r>
            <a:endParaRPr lang="en-US" sz="1400" dirty="0"/>
          </a:p>
        </p:txBody>
      </p:sp>
      <p:sp>
        <p:nvSpPr>
          <p:cNvPr id="60" name="Text 55"/>
          <p:cNvSpPr txBox="1"/>
          <p:nvPr/>
        </p:nvSpPr>
        <p:spPr>
          <a:xfrm>
            <a:off x="8686800" y="3246120"/>
            <a:ext cx="2926080" cy="365760"/>
          </a:xfrm>
          <a:prstGeom prst="rect">
            <a:avLst/>
          </a:prstGeom>
          <a:noFill/>
          <a:ln/>
        </p:spPr>
        <p:txBody>
          <a:bodyPr wrap="square" lIns="0" tIns="0" rIns="0" bIns="0" rtlCol="0" anchor="t"/>
          <a:lstStyle/>
          <a:p>
            <a:pPr indent="0" marL="0">
              <a:buNone/>
            </a:pPr>
            <a:r>
              <a:rPr lang="en-US" sz="1500" b="1" dirty="0">
                <a:solidFill>
                  <a:srgbClr val="1F2A30"/>
                </a:solidFill>
                <a:latin typeface="Consolas" pitchFamily="34" charset="0"/>
                <a:ea typeface="Consolas" pitchFamily="34" charset="-122"/>
                <a:cs typeface="Consolas" pitchFamily="34" charset="-120"/>
              </a:rPr>
              <a:t>UAUAUAGAAAUAUAUA</a:t>
            </a:r>
            <a:endParaRPr lang="en-US" sz="1500" dirty="0"/>
          </a:p>
        </p:txBody>
      </p:sp>
      <p:sp>
        <p:nvSpPr>
          <p:cNvPr id="61" name="Text 56"/>
          <p:cNvSpPr txBox="1"/>
          <p:nvPr/>
        </p:nvSpPr>
        <p:spPr>
          <a:xfrm>
            <a:off x="8686800" y="3593592"/>
            <a:ext cx="2926080" cy="320040"/>
          </a:xfrm>
          <a:prstGeom prst="rect">
            <a:avLst/>
          </a:prstGeom>
          <a:noFill/>
          <a:ln/>
        </p:spPr>
        <p:txBody>
          <a:bodyPr wrap="square" lIns="0" tIns="0" rIns="0" bIns="0" rtlCol="0" anchor="t"/>
          <a:lstStyle/>
          <a:p>
            <a:pPr indent="0" marL="0">
              <a:buNone/>
            </a:pPr>
            <a:r>
              <a:rPr lang="en-US" sz="1500" dirty="0">
                <a:solidFill>
                  <a:srgbClr val="0F4C5C"/>
                </a:solidFill>
                <a:latin typeface="Consolas" pitchFamily="34" charset="0"/>
                <a:ea typeface="Consolas" pitchFamily="34" charset="-122"/>
                <a:cs typeface="Consolas" pitchFamily="34" charset="-120"/>
              </a:rPr>
              <a:t>((((((....))))))</a:t>
            </a:r>
            <a:endParaRPr lang="en-US" sz="1500" dirty="0"/>
          </a:p>
        </p:txBody>
      </p:sp>
      <p:sp>
        <p:nvSpPr>
          <p:cNvPr id="62" name="Text 57"/>
          <p:cNvSpPr txBox="1"/>
          <p:nvPr/>
        </p:nvSpPr>
        <p:spPr>
          <a:xfrm>
            <a:off x="8686800" y="3931920"/>
            <a:ext cx="2926080" cy="365760"/>
          </a:xfrm>
          <a:prstGeom prst="rect">
            <a:avLst/>
          </a:prstGeom>
          <a:noFill/>
          <a:ln/>
        </p:spPr>
        <p:txBody>
          <a:bodyPr wrap="square" lIns="0" tIns="0" rIns="0" bIns="0" rtlCol="0" anchor="t"/>
          <a:lstStyle/>
          <a:p>
            <a:pPr indent="0" marL="0">
              <a:buNone/>
            </a:pPr>
            <a:r>
              <a:rPr lang="en-US" sz="1400" dirty="0">
                <a:solidFill>
                  <a:srgbClr val="E36414"/>
                </a:solidFill>
                <a:latin typeface="Meiryo" pitchFamily="34" charset="0"/>
                <a:ea typeface="Meiryo" pitchFamily="34" charset="-122"/>
                <a:cs typeface="Meiryo" pitchFamily="34" charset="-120"/>
              </a:rPr>
              <a:t>6 対　ΔG = -1.2 kcal/mol</a:t>
            </a:r>
            <a:endParaRPr lang="en-US" sz="1400" dirty="0"/>
          </a:p>
        </p:txBody>
      </p:sp>
      <p:sp>
        <p:nvSpPr>
          <p:cNvPr id="63" name="Text 58"/>
          <p:cNvSpPr txBox="1"/>
          <p:nvPr/>
        </p:nvSpPr>
        <p:spPr>
          <a:xfrm>
            <a:off x="8686800" y="4572000"/>
            <a:ext cx="2926080" cy="365760"/>
          </a:xfrm>
          <a:prstGeom prst="rect">
            <a:avLst/>
          </a:prstGeom>
          <a:noFill/>
          <a:ln/>
        </p:spPr>
        <p:txBody>
          <a:bodyPr wrap="square" lIns="0" tIns="0" rIns="0" bIns="0" rtlCol="0" anchor="t"/>
          <a:lstStyle/>
          <a:p>
            <a:pPr indent="0" marL="0">
              <a:buNone/>
            </a:pPr>
            <a:r>
              <a:rPr lang="en-US" sz="1500" b="1" dirty="0">
                <a:solidFill>
                  <a:srgbClr val="1F2A30"/>
                </a:solidFill>
                <a:latin typeface="Consolas" pitchFamily="34" charset="0"/>
                <a:ea typeface="Consolas" pitchFamily="34" charset="-122"/>
                <a:cs typeface="Consolas" pitchFamily="34" charset="-120"/>
              </a:rPr>
              <a:t>GCGCGCGAAAGCGCGC</a:t>
            </a:r>
            <a:endParaRPr lang="en-US" sz="1500" dirty="0"/>
          </a:p>
        </p:txBody>
      </p:sp>
      <p:sp>
        <p:nvSpPr>
          <p:cNvPr id="64" name="Text 59"/>
          <p:cNvSpPr txBox="1"/>
          <p:nvPr/>
        </p:nvSpPr>
        <p:spPr>
          <a:xfrm>
            <a:off x="8686800" y="4919472"/>
            <a:ext cx="2926080" cy="320040"/>
          </a:xfrm>
          <a:prstGeom prst="rect">
            <a:avLst/>
          </a:prstGeom>
          <a:noFill/>
          <a:ln/>
        </p:spPr>
        <p:txBody>
          <a:bodyPr wrap="square" lIns="0" tIns="0" rIns="0" bIns="0" rtlCol="0" anchor="t"/>
          <a:lstStyle/>
          <a:p>
            <a:pPr indent="0" marL="0">
              <a:buNone/>
            </a:pPr>
            <a:r>
              <a:rPr lang="en-US" sz="1500" dirty="0">
                <a:solidFill>
                  <a:srgbClr val="0F4C5C"/>
                </a:solidFill>
                <a:latin typeface="Consolas" pitchFamily="34" charset="0"/>
                <a:ea typeface="Consolas" pitchFamily="34" charset="-122"/>
                <a:cs typeface="Consolas" pitchFamily="34" charset="-120"/>
              </a:rPr>
              <a:t>((((((....))))))</a:t>
            </a:r>
            <a:endParaRPr lang="en-US" sz="1500" dirty="0"/>
          </a:p>
        </p:txBody>
      </p:sp>
      <p:sp>
        <p:nvSpPr>
          <p:cNvPr id="65" name="Text 60"/>
          <p:cNvSpPr txBox="1"/>
          <p:nvPr/>
        </p:nvSpPr>
        <p:spPr>
          <a:xfrm>
            <a:off x="8686800" y="5257800"/>
            <a:ext cx="2926080" cy="36576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6 対　ΔG = -11.7 kcal/mol</a:t>
            </a:r>
            <a:endParaRPr lang="en-US" sz="1400" dirty="0"/>
          </a:p>
        </p:txBody>
      </p:sp>
      <p:sp>
        <p:nvSpPr>
          <p:cNvPr id="66" name="Text 61"/>
          <p:cNvSpPr txBox="1"/>
          <p:nvPr/>
        </p:nvSpPr>
        <p:spPr>
          <a:xfrm>
            <a:off x="8686800" y="5532120"/>
            <a:ext cx="2926080" cy="5486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同じ形（6対＋4塩基ループ）でも、A–U だけなら −1.2、G–C だけなら −11.7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MFE構造と構造集団：一つの予測構造だけでは分からないこと</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17</a:t>
            </a:r>
            <a:endParaRPr lang="en-US" sz="1100" dirty="0"/>
          </a:p>
        </p:txBody>
      </p:sp>
      <p:sp>
        <p:nvSpPr>
          <p:cNvPr id="6" name="Text 3"/>
          <p:cNvSpPr txBox="1"/>
          <p:nvPr/>
        </p:nvSpPr>
        <p:spPr>
          <a:xfrm>
            <a:off x="502920" y="1143000"/>
            <a:ext cx="5486400" cy="365760"/>
          </a:xfrm>
          <a:prstGeom prst="rect">
            <a:avLst/>
          </a:prstGeom>
          <a:noFill/>
          <a:ln/>
        </p:spPr>
        <p:txBody>
          <a:bodyPr wrap="square" lIns="0" tIns="0" rIns="0" bIns="0" rtlCol="0" anchor="t"/>
          <a:lstStyle/>
          <a:p>
            <a:pPr indent="0" marL="0">
              <a:buNone/>
            </a:pPr>
            <a:r>
              <a:rPr lang="en-US" sz="1800" b="1" dirty="0">
                <a:solidFill>
                  <a:srgbClr val="0F4C5C"/>
                </a:solidFill>
                <a:latin typeface="Meiryo" pitchFamily="34" charset="0"/>
                <a:ea typeface="Meiryo" pitchFamily="34" charset="-122"/>
                <a:cs typeface="Meiryo" pitchFamily="34" charset="-120"/>
              </a:rPr>
              <a:t>例題RNA</a:t>
            </a:r>
            <a:endParaRPr lang="en-US" sz="1800" dirty="0"/>
          </a:p>
        </p:txBody>
      </p:sp>
      <p:sp>
        <p:nvSpPr>
          <p:cNvPr id="7" name="Shape 4"/>
          <p:cNvSpPr/>
          <p:nvPr/>
        </p:nvSpPr>
        <p:spPr>
          <a:xfrm>
            <a:off x="678180" y="1531620"/>
            <a:ext cx="2514600" cy="2514600"/>
          </a:xfrm>
          <a:prstGeom prst="arc">
            <a:avLst>
              <a:gd name="adj1" fmla="val 10800000"/>
              <a:gd name="adj2" fmla="val 21600000"/>
            </a:avLst>
          </a:prstGeom>
          <a:ln w="59106">
            <a:solidFill>
              <a:srgbClr val="0F4C5C"/>
            </a:solidFill>
            <a:prstDash val="solid"/>
          </a:ln>
        </p:spPr>
      </p:sp>
      <p:sp>
        <p:nvSpPr>
          <p:cNvPr id="8" name="Shape 5"/>
          <p:cNvSpPr/>
          <p:nvPr/>
        </p:nvSpPr>
        <p:spPr>
          <a:xfrm>
            <a:off x="845820" y="1699260"/>
            <a:ext cx="2179320" cy="2179320"/>
          </a:xfrm>
          <a:prstGeom prst="arc">
            <a:avLst>
              <a:gd name="adj1" fmla="val 10800000"/>
              <a:gd name="adj2" fmla="val 21600000"/>
            </a:avLst>
          </a:prstGeom>
          <a:ln w="60325">
            <a:solidFill>
              <a:srgbClr val="0F4C5C"/>
            </a:solidFill>
            <a:prstDash val="solid"/>
          </a:ln>
        </p:spPr>
      </p:sp>
      <p:sp>
        <p:nvSpPr>
          <p:cNvPr id="9" name="Shape 6"/>
          <p:cNvSpPr/>
          <p:nvPr/>
        </p:nvSpPr>
        <p:spPr>
          <a:xfrm>
            <a:off x="1013460" y="1866900"/>
            <a:ext cx="1844040" cy="1844040"/>
          </a:xfrm>
          <a:prstGeom prst="arc">
            <a:avLst>
              <a:gd name="adj1" fmla="val 10800000"/>
              <a:gd name="adj2" fmla="val 21600000"/>
            </a:avLst>
          </a:prstGeom>
          <a:ln w="60325">
            <a:solidFill>
              <a:srgbClr val="0F4C5C"/>
            </a:solidFill>
            <a:prstDash val="solid"/>
          </a:ln>
        </p:spPr>
      </p:sp>
      <p:sp>
        <p:nvSpPr>
          <p:cNvPr id="10" name="Shape 7"/>
          <p:cNvSpPr/>
          <p:nvPr/>
        </p:nvSpPr>
        <p:spPr>
          <a:xfrm>
            <a:off x="1181100" y="2034540"/>
            <a:ext cx="1508760" cy="1508760"/>
          </a:xfrm>
          <a:prstGeom prst="arc">
            <a:avLst>
              <a:gd name="adj1" fmla="val 10800000"/>
              <a:gd name="adj2" fmla="val 21600000"/>
            </a:avLst>
          </a:prstGeom>
          <a:ln w="60325">
            <a:solidFill>
              <a:srgbClr val="0F4C5C"/>
            </a:solidFill>
            <a:prstDash val="solid"/>
          </a:ln>
        </p:spPr>
      </p:sp>
      <p:sp>
        <p:nvSpPr>
          <p:cNvPr id="11" name="Shape 8"/>
          <p:cNvSpPr/>
          <p:nvPr/>
        </p:nvSpPr>
        <p:spPr>
          <a:xfrm>
            <a:off x="1348740" y="2202180"/>
            <a:ext cx="1173480" cy="1173480"/>
          </a:xfrm>
          <a:prstGeom prst="arc">
            <a:avLst>
              <a:gd name="adj1" fmla="val 10800000"/>
              <a:gd name="adj2" fmla="val 21600000"/>
            </a:avLst>
          </a:prstGeom>
          <a:ln w="60325">
            <a:solidFill>
              <a:srgbClr val="0F4C5C"/>
            </a:solidFill>
            <a:prstDash val="solid"/>
          </a:ln>
        </p:spPr>
      </p:sp>
      <p:sp>
        <p:nvSpPr>
          <p:cNvPr id="12" name="Shape 9"/>
          <p:cNvSpPr/>
          <p:nvPr/>
        </p:nvSpPr>
        <p:spPr>
          <a:xfrm>
            <a:off x="1516380" y="2369820"/>
            <a:ext cx="838200" cy="838200"/>
          </a:xfrm>
          <a:prstGeom prst="arc">
            <a:avLst>
              <a:gd name="adj1" fmla="val 10800000"/>
              <a:gd name="adj2" fmla="val 21600000"/>
            </a:avLst>
          </a:prstGeom>
          <a:ln w="56769">
            <a:solidFill>
              <a:srgbClr val="0F4C5C"/>
            </a:solidFill>
            <a:prstDash val="solid"/>
          </a:ln>
        </p:spPr>
      </p:sp>
      <p:sp>
        <p:nvSpPr>
          <p:cNvPr id="13" name="Text 10"/>
          <p:cNvSpPr txBox="1"/>
          <p:nvPr/>
        </p:nvSpPr>
        <p:spPr>
          <a:xfrm>
            <a:off x="594360" y="2788920"/>
            <a:ext cx="2956560" cy="457200"/>
          </a:xfrm>
          <a:prstGeom prst="rect">
            <a:avLst/>
          </a:prstGeom>
          <a:noFill/>
          <a:ln/>
        </p:spPr>
        <p:txBody>
          <a:bodyPr wrap="square" lIns="0" tIns="0" rIns="0" bIns="0" rtlCol="0" anchor="ctr"/>
          <a:lstStyle/>
          <a:p>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CC79A7"/>
                </a:solidFill>
                <a:latin typeface="Consolas" pitchFamily="34" charset="0"/>
                <a:ea typeface="Consolas" pitchFamily="34" charset="-122"/>
                <a:cs typeface="Consolas" pitchFamily="34" charset="-120"/>
              </a:rPr>
              <a:t>U</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56B4E9"/>
                </a:solidFill>
                <a:latin typeface="Consolas" pitchFamily="34" charset="0"/>
                <a:ea typeface="Consolas" pitchFamily="34" charset="-122"/>
                <a:cs typeface="Consolas" pitchFamily="34" charset="-120"/>
              </a:rPr>
              <a:t>C</a:t>
            </a:r>
            <a:endParaRPr lang="en-US" sz="2400" dirty="0"/>
          </a:p>
        </p:txBody>
      </p:sp>
      <p:sp>
        <p:nvSpPr>
          <p:cNvPr id="14" name="Text 11"/>
          <p:cNvSpPr txBox="1"/>
          <p:nvPr/>
        </p:nvSpPr>
        <p:spPr>
          <a:xfrm>
            <a:off x="594360" y="3200400"/>
            <a:ext cx="2956560" cy="457200"/>
          </a:xfrm>
          <a:prstGeom prst="rect">
            <a:avLst/>
          </a:prstGeom>
          <a:noFill/>
          <a:ln/>
        </p:spPr>
        <p:txBody>
          <a:bodyPr wrap="square" lIns="0" tIns="0" rIns="0" bIns="0" rtlCol="0" anchor="ctr"/>
          <a:lstStyle/>
          <a:p>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endParaRPr lang="en-US" sz="2400" dirty="0"/>
          </a:p>
        </p:txBody>
      </p:sp>
      <p:sp>
        <p:nvSpPr>
          <p:cNvPr id="15" name="Text 12"/>
          <p:cNvSpPr txBox="1"/>
          <p:nvPr/>
        </p:nvSpPr>
        <p:spPr>
          <a:xfrm>
            <a:off x="3429000" y="3200400"/>
            <a:ext cx="2560320" cy="411480"/>
          </a:xfrm>
          <a:prstGeom prst="rect">
            <a:avLst/>
          </a:prstGeom>
          <a:noFill/>
          <a:ln/>
        </p:spPr>
        <p:txBody>
          <a:bodyPr wrap="square" lIns="0" tIns="0" rIns="0" bIns="0" rtlCol="0" anchor="ctr"/>
          <a:lstStyle/>
          <a:p>
            <a:pPr indent="0" marL="0">
              <a:buNone/>
            </a:pPr>
            <a:r>
              <a:rPr lang="en-US" sz="1500" dirty="0">
                <a:solidFill>
                  <a:srgbClr val="0F4C5C"/>
                </a:solidFill>
                <a:latin typeface="Meiryo" pitchFamily="34" charset="0"/>
                <a:ea typeface="Meiryo" pitchFamily="34" charset="-122"/>
                <a:cs typeface="Meiryo" pitchFamily="34" charset="-120"/>
              </a:rPr>
              <a:t>MFE 構造の確率 P = 0.908</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3749040"/>
          <a:ext cx="5394960" cy="914400"/>
        </p:xfrm>
        <a:graphic>
          <a:graphicData uri="http://schemas.openxmlformats.org/drawingml/2006/table">
            <a:tbl>
              <a:tblPr/>
              <a:tblGrid>
                <a:gridCol w="3291840"/>
                <a:gridCol w="1005840"/>
                <a:gridCol w="109728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構造</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ΔG</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P</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-10.2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0.908</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-8.6</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0.068</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-7.9</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0.022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-6.3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0.002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17" name="Text 13"/>
          <p:cNvSpPr txBox="1"/>
          <p:nvPr/>
        </p:nvSpPr>
        <p:spPr>
          <a:xfrm>
            <a:off x="6172200" y="1143000"/>
            <a:ext cx="5486400" cy="365760"/>
          </a:xfrm>
          <a:prstGeom prst="rect">
            <a:avLst/>
          </a:prstGeom>
          <a:noFill/>
          <a:ln/>
        </p:spPr>
        <p:txBody>
          <a:bodyPr wrap="square" lIns="0" tIns="0" rIns="0" bIns="0" rtlCol="0" anchor="t"/>
          <a:lstStyle/>
          <a:p>
            <a:pPr indent="0" marL="0">
              <a:buNone/>
            </a:pPr>
            <a:r>
              <a:rPr lang="en-US" sz="1800" b="1" dirty="0">
                <a:solidFill>
                  <a:srgbClr val="E36414"/>
                </a:solidFill>
                <a:latin typeface="Meiryo" pitchFamily="34" charset="0"/>
                <a:ea typeface="Meiryo" pitchFamily="34" charset="-122"/>
                <a:cs typeface="Meiryo" pitchFamily="34" charset="-120"/>
              </a:rPr>
              <a:t>2番目を G→C に変えた配列</a:t>
            </a:r>
            <a:endParaRPr lang="en-US" sz="1800" dirty="0"/>
          </a:p>
        </p:txBody>
      </p:sp>
      <p:sp>
        <p:nvSpPr>
          <p:cNvPr id="18" name="Shape 14"/>
          <p:cNvSpPr/>
          <p:nvPr/>
        </p:nvSpPr>
        <p:spPr>
          <a:xfrm>
            <a:off x="6347460" y="1615440"/>
            <a:ext cx="2346960" cy="2346960"/>
          </a:xfrm>
          <a:prstGeom prst="arc">
            <a:avLst>
              <a:gd name="adj1" fmla="val 10800000"/>
              <a:gd name="adj2" fmla="val 21600000"/>
            </a:avLst>
          </a:prstGeom>
          <a:ln w="34976">
            <a:solidFill>
              <a:srgbClr val="0F4C5C">
                <a:alpha val="85000"/>
              </a:srgbClr>
            </a:solidFill>
            <a:prstDash val="solid"/>
          </a:ln>
        </p:spPr>
      </p:sp>
      <p:sp>
        <p:nvSpPr>
          <p:cNvPr id="19" name="Shape 15"/>
          <p:cNvSpPr/>
          <p:nvPr/>
        </p:nvSpPr>
        <p:spPr>
          <a:xfrm>
            <a:off x="6347460" y="1531620"/>
            <a:ext cx="2514600" cy="2514600"/>
          </a:xfrm>
          <a:prstGeom prst="arc">
            <a:avLst>
              <a:gd name="adj1" fmla="val 10800000"/>
              <a:gd name="adj2" fmla="val 21600000"/>
            </a:avLst>
          </a:prstGeom>
          <a:ln w="12471">
            <a:solidFill>
              <a:srgbClr val="0F4C5C">
                <a:alpha val="58000"/>
              </a:srgbClr>
            </a:solidFill>
            <a:prstDash val="solid"/>
          </a:ln>
        </p:spPr>
      </p:sp>
      <p:sp>
        <p:nvSpPr>
          <p:cNvPr id="20" name="Shape 16"/>
          <p:cNvSpPr/>
          <p:nvPr/>
        </p:nvSpPr>
        <p:spPr>
          <a:xfrm>
            <a:off x="6515100" y="1783080"/>
            <a:ext cx="2011680" cy="2011680"/>
          </a:xfrm>
          <a:prstGeom prst="arc">
            <a:avLst>
              <a:gd name="adj1" fmla="val 10800000"/>
              <a:gd name="adj2" fmla="val 21600000"/>
            </a:avLst>
          </a:prstGeom>
          <a:ln w="22377">
            <a:solidFill>
              <a:srgbClr val="0F4C5C">
                <a:alpha val="70000"/>
              </a:srgbClr>
            </a:solidFill>
            <a:prstDash val="solid"/>
          </a:ln>
        </p:spPr>
      </p:sp>
      <p:sp>
        <p:nvSpPr>
          <p:cNvPr id="21" name="Shape 17"/>
          <p:cNvSpPr/>
          <p:nvPr/>
        </p:nvSpPr>
        <p:spPr>
          <a:xfrm>
            <a:off x="6682740" y="1866900"/>
            <a:ext cx="1844040" cy="1844040"/>
          </a:xfrm>
          <a:prstGeom prst="arc">
            <a:avLst>
              <a:gd name="adj1" fmla="val 10800000"/>
              <a:gd name="adj2" fmla="val 21600000"/>
            </a:avLst>
          </a:prstGeom>
          <a:ln w="45847">
            <a:solidFill>
              <a:srgbClr val="0F4C5C">
                <a:alpha val="98000"/>
              </a:srgbClr>
            </a:solidFill>
            <a:prstDash val="solid"/>
          </a:ln>
        </p:spPr>
      </p:sp>
      <p:sp>
        <p:nvSpPr>
          <p:cNvPr id="22" name="Shape 18"/>
          <p:cNvSpPr/>
          <p:nvPr/>
        </p:nvSpPr>
        <p:spPr>
          <a:xfrm>
            <a:off x="6850380" y="2034540"/>
            <a:ext cx="1508760" cy="1508760"/>
          </a:xfrm>
          <a:prstGeom prst="arc">
            <a:avLst>
              <a:gd name="adj1" fmla="val 10800000"/>
              <a:gd name="adj2" fmla="val 21600000"/>
            </a:avLst>
          </a:prstGeom>
          <a:ln w="60173">
            <a:solidFill>
              <a:srgbClr val="0F4C5C"/>
            </a:solidFill>
            <a:prstDash val="solid"/>
          </a:ln>
        </p:spPr>
      </p:sp>
      <p:sp>
        <p:nvSpPr>
          <p:cNvPr id="23" name="Shape 19"/>
          <p:cNvSpPr/>
          <p:nvPr/>
        </p:nvSpPr>
        <p:spPr>
          <a:xfrm>
            <a:off x="7018020" y="2202180"/>
            <a:ext cx="1173480" cy="1173480"/>
          </a:xfrm>
          <a:prstGeom prst="arc">
            <a:avLst>
              <a:gd name="adj1" fmla="val 10800000"/>
              <a:gd name="adj2" fmla="val 21600000"/>
            </a:avLst>
          </a:prstGeom>
          <a:ln w="60223">
            <a:solidFill>
              <a:srgbClr val="0F4C5C"/>
            </a:solidFill>
            <a:prstDash val="solid"/>
          </a:ln>
        </p:spPr>
      </p:sp>
      <p:sp>
        <p:nvSpPr>
          <p:cNvPr id="24" name="Shape 20"/>
          <p:cNvSpPr/>
          <p:nvPr/>
        </p:nvSpPr>
        <p:spPr>
          <a:xfrm>
            <a:off x="7185660" y="2369820"/>
            <a:ext cx="838200" cy="838200"/>
          </a:xfrm>
          <a:prstGeom prst="arc">
            <a:avLst>
              <a:gd name="adj1" fmla="val 10800000"/>
              <a:gd name="adj2" fmla="val 21600000"/>
            </a:avLst>
          </a:prstGeom>
          <a:ln w="56667">
            <a:solidFill>
              <a:srgbClr val="0F4C5C"/>
            </a:solidFill>
            <a:prstDash val="solid"/>
          </a:ln>
        </p:spPr>
      </p:sp>
      <p:sp>
        <p:nvSpPr>
          <p:cNvPr id="25" name="Text 21"/>
          <p:cNvSpPr txBox="1"/>
          <p:nvPr/>
        </p:nvSpPr>
        <p:spPr>
          <a:xfrm>
            <a:off x="6263640" y="2788920"/>
            <a:ext cx="2956560" cy="457200"/>
          </a:xfrm>
          <a:prstGeom prst="rect">
            <a:avLst/>
          </a:prstGeom>
          <a:noFill/>
          <a:ln/>
        </p:spPr>
        <p:txBody>
          <a:bodyPr wrap="square" lIns="0" tIns="0" rIns="0" bIns="0" rtlCol="0" anchor="ctr"/>
          <a:lstStyle/>
          <a:p>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CC79A7"/>
                </a:solidFill>
                <a:latin typeface="Consolas" pitchFamily="34" charset="0"/>
                <a:ea typeface="Consolas" pitchFamily="34" charset="-122"/>
                <a:cs typeface="Consolas" pitchFamily="34" charset="-120"/>
              </a:rPr>
              <a:t>U</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56B4E9"/>
                </a:solidFill>
                <a:latin typeface="Consolas" pitchFamily="34" charset="0"/>
                <a:ea typeface="Consolas" pitchFamily="34" charset="-122"/>
                <a:cs typeface="Consolas" pitchFamily="34" charset="-120"/>
              </a:rPr>
              <a:t>C</a:t>
            </a:r>
            <a:endParaRPr lang="en-US" sz="2400" dirty="0"/>
          </a:p>
        </p:txBody>
      </p:sp>
      <p:sp>
        <p:nvSpPr>
          <p:cNvPr id="26" name="Text 22"/>
          <p:cNvSpPr txBox="1"/>
          <p:nvPr/>
        </p:nvSpPr>
        <p:spPr>
          <a:xfrm>
            <a:off x="6263640" y="3200400"/>
            <a:ext cx="2956560" cy="457200"/>
          </a:xfrm>
          <a:prstGeom prst="rect">
            <a:avLst/>
          </a:prstGeom>
          <a:noFill/>
          <a:ln/>
        </p:spPr>
        <p:txBody>
          <a:bodyPr wrap="square" lIns="0" tIns="0" rIns="0" bIns="0" rtlCol="0" anchor="ctr"/>
          <a:lstStyle/>
          <a:p>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endParaRPr lang="en-US" sz="2400" dirty="0"/>
          </a:p>
        </p:txBody>
      </p:sp>
      <p:sp>
        <p:nvSpPr>
          <p:cNvPr id="27" name="Text 23"/>
          <p:cNvSpPr txBox="1"/>
          <p:nvPr/>
        </p:nvSpPr>
        <p:spPr>
          <a:xfrm>
            <a:off x="9098280" y="3200400"/>
            <a:ext cx="2560320" cy="411480"/>
          </a:xfrm>
          <a:prstGeom prst="rect">
            <a:avLst/>
          </a:prstGeom>
          <a:noFill/>
          <a:ln/>
        </p:spPr>
        <p:txBody>
          <a:bodyPr wrap="square" lIns="0" tIns="0" rIns="0" bIns="0" rtlCol="0" anchor="ctr"/>
          <a:lstStyle/>
          <a:p>
            <a:pPr indent="0" marL="0">
              <a:buNone/>
            </a:pPr>
            <a:r>
              <a:rPr lang="en-US" sz="1500" dirty="0">
                <a:solidFill>
                  <a:srgbClr val="E36414"/>
                </a:solidFill>
                <a:latin typeface="Meiryo" pitchFamily="34" charset="0"/>
                <a:ea typeface="Meiryo" pitchFamily="34" charset="-122"/>
                <a:cs typeface="Meiryo" pitchFamily="34" charset="-120"/>
              </a:rPr>
              <a:t>MFE 構造の確率 P = 0.378</a:t>
            </a:r>
            <a:endParaRPr lang="en-US" sz="150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172200" y="3749040"/>
          <a:ext cx="5394960" cy="914400"/>
        </p:xfrm>
        <a:graphic>
          <a:graphicData uri="http://schemas.openxmlformats.org/drawingml/2006/table">
            <a:tbl>
              <a:tblPr/>
              <a:tblGrid>
                <a:gridCol w="3291840"/>
                <a:gridCol w="1005840"/>
                <a:gridCol w="109728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構造</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ΔG</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P</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-4.2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0.378</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-3.9</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0.233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-3.9</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0.233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-3.0</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0.054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29" name="Text 24"/>
          <p:cNvSpPr txBox="1"/>
          <p:nvPr/>
        </p:nvSpPr>
        <p:spPr>
          <a:xfrm>
            <a:off x="2011680" y="1188720"/>
            <a:ext cx="3200400" cy="3200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弧の太さ＝塩基対確率 p_ij</a:t>
            </a:r>
            <a:endParaRPr lang="en-US" sz="1200" dirty="0"/>
          </a:p>
        </p:txBody>
      </p:sp>
      <p:pic>
        <p:nvPicPr>
          <p:cNvPr id="30" name="Image 0" descr="/Users/sumishunsuke/Desktop/RNA/Course_RNAinverse/build/fig/eq_boltz.png">    </p:cNvPr>
          <p:cNvPicPr>
            <a:picLocks noChangeAspect="1"/>
          </p:cNvPicPr>
          <p:nvPr/>
        </p:nvPicPr>
        <p:blipFill>
          <a:blip r:embed="rId1"/>
          <a:stretch>
            <a:fillRect/>
          </a:stretch>
        </p:blipFill>
        <p:spPr>
          <a:xfrm>
            <a:off x="502920" y="5623560"/>
            <a:ext cx="2778101" cy="548640"/>
          </a:xfrm>
          <a:prstGeom prst="rect">
            <a:avLst/>
          </a:prstGeom>
        </p:spPr>
      </p:pic>
      <p:sp>
        <p:nvSpPr>
          <p:cNvPr id="31" name="Text 25"/>
          <p:cNvSpPr txBox="1"/>
          <p:nvPr/>
        </p:nvSpPr>
        <p:spPr>
          <a:xfrm>
            <a:off x="4572000" y="5623560"/>
            <a:ext cx="7132320" cy="59436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構造全体の確率 P(S) と、個々の塩基対の確率 p_ij は別物：右では p(4,13)=0.997 でも P(MFE構造)=0.378</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DP（動的計画法）の考え方：区間の計算結果を再利用する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18</a:t>
            </a:r>
            <a:endParaRPr lang="en-US" sz="1100" dirty="0"/>
          </a:p>
        </p:txBody>
      </p:sp>
      <p:sp>
        <p:nvSpPr>
          <p:cNvPr id="6" name="Text 3"/>
          <p:cNvSpPr txBox="1"/>
          <p:nvPr/>
        </p:nvSpPr>
        <p:spPr>
          <a:xfrm>
            <a:off x="9037015" y="54864"/>
            <a:ext cx="2651760" cy="274320"/>
          </a:xfrm>
          <a:prstGeom prst="roundRect">
            <a:avLst>
              <a:gd name="adj" fmla="val 26667"/>
            </a:avLst>
          </a:prstGeom>
          <a:solidFill>
            <a:srgbClr val="5C6B73"/>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補足扱い：本編は要点のみ</a:t>
            </a:r>
            <a:endParaRPr lang="en-US" sz="1200" dirty="0"/>
          </a:p>
        </p:txBody>
      </p:sp>
      <p:sp>
        <p:nvSpPr>
          <p:cNvPr id="7" name="Shape 4"/>
          <p:cNvSpPr/>
          <p:nvPr/>
        </p:nvSpPr>
        <p:spPr>
          <a:xfrm>
            <a:off x="502920" y="1234440"/>
            <a:ext cx="4206240" cy="4892040"/>
          </a:xfrm>
          <a:prstGeom prst="roundRect">
            <a:avLst>
              <a:gd name="adj" fmla="val 2609"/>
            </a:avLst>
          </a:prstGeom>
          <a:solidFill>
            <a:srgbClr val="EEF3F4"/>
          </a:solidFill>
          <a:ln w="12700">
            <a:solidFill>
              <a:srgbClr val="EEF3F4"/>
            </a:solidFill>
            <a:prstDash val="solid"/>
          </a:ln>
        </p:spPr>
      </p:sp>
      <p:sp>
        <p:nvSpPr>
          <p:cNvPr id="8" name="Text 5"/>
          <p:cNvSpPr txBox="1"/>
          <p:nvPr/>
        </p:nvSpPr>
        <p:spPr>
          <a:xfrm>
            <a:off x="685800" y="1344168"/>
            <a:ext cx="38404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候補の数（列挙は不可能）</a:t>
            </a:r>
            <a:endParaRPr lang="en-US" sz="2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3840480" cy="914400"/>
        </p:xfrm>
        <a:graphic>
          <a:graphicData uri="http://schemas.openxmlformats.org/drawingml/2006/table">
            <a:tbl>
              <a:tblPr/>
              <a:tblGrid>
                <a:gridCol w="2377440"/>
                <a:gridCol w="146304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配列長</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300" b="1" dirty="0">
                          <a:solidFill>
                            <a:srgbClr val="0A3540"/>
                          </a:solidFill>
                          <a:latin typeface="Meiryo" pitchFamily="34" charset="0"/>
                          <a:ea typeface="Meiryo" pitchFamily="34" charset="-122"/>
                          <a:cs typeface="Meiryo" pitchFamily="34" charset="-120"/>
                        </a:rPr>
                        <a:t>構造の数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16（例題RNA、対合規則あり）</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347</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16（任意の対合）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5,223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30（任意の対合）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約 2.4 × 10⁸</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50（任意の対合）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約 1.8 × 10¹⁵</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100（任意の対合）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約 6 × 10³²</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10" name="Text 6"/>
          <p:cNvSpPr txBox="1"/>
          <p:nvPr/>
        </p:nvSpPr>
        <p:spPr>
          <a:xfrm>
            <a:off x="685800" y="4206240"/>
            <a:ext cx="3840480" cy="36576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擬似結び目なし・最小ループ3塩基で数えた値</a:t>
            </a:r>
            <a:endParaRPr lang="en-US" sz="1100" dirty="0"/>
          </a:p>
        </p:txBody>
      </p:sp>
      <p:sp>
        <p:nvSpPr>
          <p:cNvPr id="11" name="Text 7"/>
          <p:cNvSpPr txBox="1"/>
          <p:nvPr/>
        </p:nvSpPr>
        <p:spPr>
          <a:xfrm>
            <a:off x="685800" y="4754880"/>
            <a:ext cx="3840480" cy="457200"/>
          </a:xfrm>
          <a:prstGeom prst="rect">
            <a:avLst/>
          </a:prstGeom>
          <a:noFill/>
          <a:ln/>
        </p:spPr>
        <p:txBody>
          <a:bodyPr wrap="square" lIns="0" tIns="0" rIns="0" bIns="0" rtlCol="0" anchor="t"/>
          <a:lstStyle/>
          <a:p>
            <a:pPr indent="0" marL="0">
              <a:buNone/>
            </a:pPr>
            <a:r>
              <a:rPr lang="en-US" sz="1600" b="1" dirty="0">
                <a:solidFill>
                  <a:srgbClr val="E36414"/>
                </a:solidFill>
                <a:latin typeface="Meiryo" pitchFamily="34" charset="0"/>
                <a:ea typeface="Meiryo" pitchFamily="34" charset="-122"/>
                <a:cs typeface="Meiryo" pitchFamily="34" charset="-120"/>
              </a:rPr>
              <a:t>→ 短い区間の答えを使い回す</a:t>
            </a:r>
            <a:endParaRPr lang="en-US" sz="1600" dirty="0"/>
          </a:p>
        </p:txBody>
      </p:sp>
      <p:sp>
        <p:nvSpPr>
          <p:cNvPr id="12" name="Text 8"/>
          <p:cNvSpPr txBox="1"/>
          <p:nvPr/>
        </p:nvSpPr>
        <p:spPr>
          <a:xfrm>
            <a:off x="5029200" y="1188720"/>
            <a:ext cx="667512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区間 [i, j] の最良値は、より短い区間の最良値から決まる</a:t>
            </a:r>
            <a:endParaRPr lang="en-US" sz="1600" dirty="0"/>
          </a:p>
        </p:txBody>
      </p:sp>
      <p:sp>
        <p:nvSpPr>
          <p:cNvPr id="13" name="Shape 9"/>
          <p:cNvSpPr/>
          <p:nvPr/>
        </p:nvSpPr>
        <p:spPr>
          <a:xfrm>
            <a:off x="5029200" y="1783080"/>
            <a:ext cx="347472" cy="329184"/>
          </a:xfrm>
          <a:prstGeom prst="rect">
            <a:avLst/>
          </a:prstGeom>
          <a:solidFill>
            <a:srgbClr val="EEF3F4"/>
          </a:solidFill>
          <a:ln w="6350">
            <a:solidFill>
              <a:srgbClr val="C9D3D6"/>
            </a:solidFill>
            <a:prstDash val="solid"/>
          </a:ln>
        </p:spPr>
      </p:sp>
      <p:sp>
        <p:nvSpPr>
          <p:cNvPr id="14" name="Shape 10"/>
          <p:cNvSpPr/>
          <p:nvPr/>
        </p:nvSpPr>
        <p:spPr>
          <a:xfrm>
            <a:off x="5413248" y="1783080"/>
            <a:ext cx="347472" cy="329184"/>
          </a:xfrm>
          <a:prstGeom prst="rect">
            <a:avLst/>
          </a:prstGeom>
          <a:solidFill>
            <a:srgbClr val="EEF3F4"/>
          </a:solidFill>
          <a:ln w="6350">
            <a:solidFill>
              <a:srgbClr val="C9D3D6"/>
            </a:solidFill>
            <a:prstDash val="solid"/>
          </a:ln>
        </p:spPr>
      </p:sp>
      <p:sp>
        <p:nvSpPr>
          <p:cNvPr id="15" name="Shape 11"/>
          <p:cNvSpPr/>
          <p:nvPr/>
        </p:nvSpPr>
        <p:spPr>
          <a:xfrm>
            <a:off x="5797296" y="1783080"/>
            <a:ext cx="347472" cy="329184"/>
          </a:xfrm>
          <a:prstGeom prst="rect">
            <a:avLst/>
          </a:prstGeom>
          <a:solidFill>
            <a:srgbClr val="EEF3F4"/>
          </a:solidFill>
          <a:ln w="6350">
            <a:solidFill>
              <a:srgbClr val="C9D3D6"/>
            </a:solidFill>
            <a:prstDash val="solid"/>
          </a:ln>
        </p:spPr>
      </p:sp>
      <p:sp>
        <p:nvSpPr>
          <p:cNvPr id="16" name="Shape 12"/>
          <p:cNvSpPr/>
          <p:nvPr/>
        </p:nvSpPr>
        <p:spPr>
          <a:xfrm>
            <a:off x="6181344" y="1783080"/>
            <a:ext cx="347472" cy="329184"/>
          </a:xfrm>
          <a:prstGeom prst="rect">
            <a:avLst/>
          </a:prstGeom>
          <a:solidFill>
            <a:srgbClr val="0F4C5C"/>
          </a:solidFill>
          <a:ln w="6350">
            <a:solidFill>
              <a:srgbClr val="C9D3D6"/>
            </a:solidFill>
            <a:prstDash val="solid"/>
          </a:ln>
        </p:spPr>
      </p:sp>
      <p:sp>
        <p:nvSpPr>
          <p:cNvPr id="17" name="Text 13"/>
          <p:cNvSpPr txBox="1"/>
          <p:nvPr/>
        </p:nvSpPr>
        <p:spPr>
          <a:xfrm>
            <a:off x="6181344" y="1783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i</a:t>
            </a:r>
            <a:endParaRPr lang="en-US" sz="1000" dirty="0"/>
          </a:p>
        </p:txBody>
      </p:sp>
      <p:sp>
        <p:nvSpPr>
          <p:cNvPr id="18" name="Shape 14"/>
          <p:cNvSpPr/>
          <p:nvPr/>
        </p:nvSpPr>
        <p:spPr>
          <a:xfrm>
            <a:off x="6565392" y="1783080"/>
            <a:ext cx="347472" cy="329184"/>
          </a:xfrm>
          <a:prstGeom prst="rect">
            <a:avLst/>
          </a:prstGeom>
          <a:solidFill>
            <a:srgbClr val="D9E7EA"/>
          </a:solidFill>
          <a:ln w="6350">
            <a:solidFill>
              <a:srgbClr val="C9D3D6"/>
            </a:solidFill>
            <a:prstDash val="solid"/>
          </a:ln>
        </p:spPr>
      </p:sp>
      <p:sp>
        <p:nvSpPr>
          <p:cNvPr id="19" name="Shape 15"/>
          <p:cNvSpPr/>
          <p:nvPr/>
        </p:nvSpPr>
        <p:spPr>
          <a:xfrm>
            <a:off x="6949440" y="1783080"/>
            <a:ext cx="347472" cy="329184"/>
          </a:xfrm>
          <a:prstGeom prst="rect">
            <a:avLst/>
          </a:prstGeom>
          <a:solidFill>
            <a:srgbClr val="D9E7EA"/>
          </a:solidFill>
          <a:ln w="6350">
            <a:solidFill>
              <a:srgbClr val="C9D3D6"/>
            </a:solidFill>
            <a:prstDash val="solid"/>
          </a:ln>
        </p:spPr>
      </p:sp>
      <p:sp>
        <p:nvSpPr>
          <p:cNvPr id="20" name="Shape 16"/>
          <p:cNvSpPr/>
          <p:nvPr/>
        </p:nvSpPr>
        <p:spPr>
          <a:xfrm>
            <a:off x="7333488" y="1783080"/>
            <a:ext cx="347472" cy="329184"/>
          </a:xfrm>
          <a:prstGeom prst="rect">
            <a:avLst/>
          </a:prstGeom>
          <a:solidFill>
            <a:srgbClr val="D9E7EA"/>
          </a:solidFill>
          <a:ln w="6350">
            <a:solidFill>
              <a:srgbClr val="C9D3D6"/>
            </a:solidFill>
            <a:prstDash val="solid"/>
          </a:ln>
        </p:spPr>
      </p:sp>
      <p:sp>
        <p:nvSpPr>
          <p:cNvPr id="21" name="Shape 17"/>
          <p:cNvSpPr/>
          <p:nvPr/>
        </p:nvSpPr>
        <p:spPr>
          <a:xfrm>
            <a:off x="7717536" y="1783080"/>
            <a:ext cx="347472" cy="329184"/>
          </a:xfrm>
          <a:prstGeom prst="rect">
            <a:avLst/>
          </a:prstGeom>
          <a:solidFill>
            <a:srgbClr val="D9E7EA"/>
          </a:solidFill>
          <a:ln w="6350">
            <a:solidFill>
              <a:srgbClr val="C9D3D6"/>
            </a:solidFill>
            <a:prstDash val="solid"/>
          </a:ln>
        </p:spPr>
      </p:sp>
      <p:sp>
        <p:nvSpPr>
          <p:cNvPr id="22" name="Shape 18"/>
          <p:cNvSpPr/>
          <p:nvPr/>
        </p:nvSpPr>
        <p:spPr>
          <a:xfrm>
            <a:off x="8101584" y="1783080"/>
            <a:ext cx="347472" cy="329184"/>
          </a:xfrm>
          <a:prstGeom prst="rect">
            <a:avLst/>
          </a:prstGeom>
          <a:solidFill>
            <a:srgbClr val="D9E7EA"/>
          </a:solidFill>
          <a:ln w="6350">
            <a:solidFill>
              <a:srgbClr val="C9D3D6"/>
            </a:solidFill>
            <a:prstDash val="solid"/>
          </a:ln>
        </p:spPr>
      </p:sp>
      <p:sp>
        <p:nvSpPr>
          <p:cNvPr id="23" name="Shape 19"/>
          <p:cNvSpPr/>
          <p:nvPr/>
        </p:nvSpPr>
        <p:spPr>
          <a:xfrm>
            <a:off x="8485632" y="1783080"/>
            <a:ext cx="347472" cy="329184"/>
          </a:xfrm>
          <a:prstGeom prst="rect">
            <a:avLst/>
          </a:prstGeom>
          <a:solidFill>
            <a:srgbClr val="D9E7EA"/>
          </a:solidFill>
          <a:ln w="6350">
            <a:solidFill>
              <a:srgbClr val="C9D3D6"/>
            </a:solidFill>
            <a:prstDash val="solid"/>
          </a:ln>
        </p:spPr>
      </p:sp>
      <p:sp>
        <p:nvSpPr>
          <p:cNvPr id="24" name="Shape 20"/>
          <p:cNvSpPr/>
          <p:nvPr/>
        </p:nvSpPr>
        <p:spPr>
          <a:xfrm>
            <a:off x="8869680" y="1783080"/>
            <a:ext cx="347472" cy="329184"/>
          </a:xfrm>
          <a:prstGeom prst="rect">
            <a:avLst/>
          </a:prstGeom>
          <a:solidFill>
            <a:srgbClr val="D9E7EA"/>
          </a:solidFill>
          <a:ln w="6350">
            <a:solidFill>
              <a:srgbClr val="C9D3D6"/>
            </a:solidFill>
            <a:prstDash val="solid"/>
          </a:ln>
        </p:spPr>
      </p:sp>
      <p:sp>
        <p:nvSpPr>
          <p:cNvPr id="25" name="Shape 21"/>
          <p:cNvSpPr/>
          <p:nvPr/>
        </p:nvSpPr>
        <p:spPr>
          <a:xfrm>
            <a:off x="9253728" y="1783080"/>
            <a:ext cx="347472" cy="329184"/>
          </a:xfrm>
          <a:prstGeom prst="rect">
            <a:avLst/>
          </a:prstGeom>
          <a:solidFill>
            <a:srgbClr val="D9E7EA"/>
          </a:solidFill>
          <a:ln w="6350">
            <a:solidFill>
              <a:srgbClr val="C9D3D6"/>
            </a:solidFill>
            <a:prstDash val="solid"/>
          </a:ln>
        </p:spPr>
      </p:sp>
      <p:sp>
        <p:nvSpPr>
          <p:cNvPr id="26" name="Shape 22"/>
          <p:cNvSpPr/>
          <p:nvPr/>
        </p:nvSpPr>
        <p:spPr>
          <a:xfrm>
            <a:off x="9637776" y="1783080"/>
            <a:ext cx="347472" cy="329184"/>
          </a:xfrm>
          <a:prstGeom prst="rect">
            <a:avLst/>
          </a:prstGeom>
          <a:solidFill>
            <a:srgbClr val="D9E7EA"/>
          </a:solidFill>
          <a:ln w="6350">
            <a:solidFill>
              <a:srgbClr val="C9D3D6"/>
            </a:solidFill>
            <a:prstDash val="solid"/>
          </a:ln>
        </p:spPr>
      </p:sp>
      <p:sp>
        <p:nvSpPr>
          <p:cNvPr id="27" name="Shape 23"/>
          <p:cNvSpPr/>
          <p:nvPr/>
        </p:nvSpPr>
        <p:spPr>
          <a:xfrm>
            <a:off x="10021824" y="1783080"/>
            <a:ext cx="347472" cy="329184"/>
          </a:xfrm>
          <a:prstGeom prst="rect">
            <a:avLst/>
          </a:prstGeom>
          <a:solidFill>
            <a:srgbClr val="0F4C5C"/>
          </a:solidFill>
          <a:ln w="6350">
            <a:solidFill>
              <a:srgbClr val="C9D3D6"/>
            </a:solidFill>
            <a:prstDash val="solid"/>
          </a:ln>
        </p:spPr>
      </p:sp>
      <p:sp>
        <p:nvSpPr>
          <p:cNvPr id="28" name="Text 24"/>
          <p:cNvSpPr txBox="1"/>
          <p:nvPr/>
        </p:nvSpPr>
        <p:spPr>
          <a:xfrm>
            <a:off x="10021824" y="1783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j</a:t>
            </a:r>
            <a:endParaRPr lang="en-US" sz="1000" dirty="0"/>
          </a:p>
        </p:txBody>
      </p:sp>
      <p:sp>
        <p:nvSpPr>
          <p:cNvPr id="29" name="Shape 25"/>
          <p:cNvSpPr/>
          <p:nvPr/>
        </p:nvSpPr>
        <p:spPr>
          <a:xfrm>
            <a:off x="10405872" y="1783080"/>
            <a:ext cx="347472" cy="329184"/>
          </a:xfrm>
          <a:prstGeom prst="rect">
            <a:avLst/>
          </a:prstGeom>
          <a:solidFill>
            <a:srgbClr val="EEF3F4"/>
          </a:solidFill>
          <a:ln w="6350">
            <a:solidFill>
              <a:srgbClr val="C9D3D6"/>
            </a:solidFill>
            <a:prstDash val="solid"/>
          </a:ln>
        </p:spPr>
      </p:sp>
      <p:sp>
        <p:nvSpPr>
          <p:cNvPr id="30" name="Shape 26"/>
          <p:cNvSpPr/>
          <p:nvPr/>
        </p:nvSpPr>
        <p:spPr>
          <a:xfrm>
            <a:off x="10789920" y="1783080"/>
            <a:ext cx="347472" cy="329184"/>
          </a:xfrm>
          <a:prstGeom prst="rect">
            <a:avLst/>
          </a:prstGeom>
          <a:solidFill>
            <a:srgbClr val="EEF3F4"/>
          </a:solidFill>
          <a:ln w="6350">
            <a:solidFill>
              <a:srgbClr val="C9D3D6"/>
            </a:solidFill>
            <a:prstDash val="solid"/>
          </a:ln>
        </p:spPr>
      </p:sp>
      <p:sp>
        <p:nvSpPr>
          <p:cNvPr id="31" name="Text 27"/>
          <p:cNvSpPr txBox="1"/>
          <p:nvPr/>
        </p:nvSpPr>
        <p:spPr>
          <a:xfrm>
            <a:off x="5029200" y="2167128"/>
            <a:ext cx="6675120" cy="365760"/>
          </a:xfrm>
          <a:prstGeom prst="rect">
            <a:avLst/>
          </a:prstGeom>
          <a:noFill/>
          <a:ln/>
        </p:spPr>
        <p:txBody>
          <a:bodyPr wrap="square" lIns="0" tIns="0" rIns="0" bIns="0" rtlCol="0" anchor="t"/>
          <a:lstStyle/>
          <a:p>
            <a:pPr indent="0" marL="0">
              <a:buNone/>
            </a:pPr>
            <a:r>
              <a:rPr lang="en-US" sz="1300" dirty="0">
                <a:solidFill>
                  <a:srgbClr val="1F2A30"/>
                </a:solidFill>
                <a:latin typeface="Meiryo" pitchFamily="34" charset="0"/>
                <a:ea typeface="Meiryo" pitchFamily="34" charset="-122"/>
                <a:cs typeface="Meiryo" pitchFamily="34" charset="-120"/>
              </a:rPr>
              <a:t>区間 [i, j]（求めたい）</a:t>
            </a:r>
            <a:endParaRPr lang="en-US" sz="1300" dirty="0"/>
          </a:p>
        </p:txBody>
      </p:sp>
      <p:sp>
        <p:nvSpPr>
          <p:cNvPr id="32" name="Shape 28"/>
          <p:cNvSpPr/>
          <p:nvPr/>
        </p:nvSpPr>
        <p:spPr>
          <a:xfrm>
            <a:off x="5029200" y="2743200"/>
            <a:ext cx="347472" cy="329184"/>
          </a:xfrm>
          <a:prstGeom prst="rect">
            <a:avLst/>
          </a:prstGeom>
          <a:solidFill>
            <a:srgbClr val="EEF3F4"/>
          </a:solidFill>
          <a:ln w="6350">
            <a:solidFill>
              <a:srgbClr val="C9D3D6"/>
            </a:solidFill>
            <a:prstDash val="solid"/>
          </a:ln>
        </p:spPr>
      </p:sp>
      <p:sp>
        <p:nvSpPr>
          <p:cNvPr id="33" name="Shape 29"/>
          <p:cNvSpPr/>
          <p:nvPr/>
        </p:nvSpPr>
        <p:spPr>
          <a:xfrm>
            <a:off x="5413248" y="2743200"/>
            <a:ext cx="347472" cy="329184"/>
          </a:xfrm>
          <a:prstGeom prst="rect">
            <a:avLst/>
          </a:prstGeom>
          <a:solidFill>
            <a:srgbClr val="EEF3F4"/>
          </a:solidFill>
          <a:ln w="6350">
            <a:solidFill>
              <a:srgbClr val="C9D3D6"/>
            </a:solidFill>
            <a:prstDash val="solid"/>
          </a:ln>
        </p:spPr>
      </p:sp>
      <p:sp>
        <p:nvSpPr>
          <p:cNvPr id="34" name="Shape 30"/>
          <p:cNvSpPr/>
          <p:nvPr/>
        </p:nvSpPr>
        <p:spPr>
          <a:xfrm>
            <a:off x="5797296" y="2743200"/>
            <a:ext cx="347472" cy="329184"/>
          </a:xfrm>
          <a:prstGeom prst="rect">
            <a:avLst/>
          </a:prstGeom>
          <a:solidFill>
            <a:srgbClr val="EEF3F4"/>
          </a:solidFill>
          <a:ln w="6350">
            <a:solidFill>
              <a:srgbClr val="C9D3D6"/>
            </a:solidFill>
            <a:prstDash val="solid"/>
          </a:ln>
        </p:spPr>
      </p:sp>
      <p:sp>
        <p:nvSpPr>
          <p:cNvPr id="35" name="Shape 31"/>
          <p:cNvSpPr/>
          <p:nvPr/>
        </p:nvSpPr>
        <p:spPr>
          <a:xfrm>
            <a:off x="6181344" y="2743200"/>
            <a:ext cx="347472" cy="329184"/>
          </a:xfrm>
          <a:prstGeom prst="rect">
            <a:avLst/>
          </a:prstGeom>
          <a:solidFill>
            <a:srgbClr val="5C6B73"/>
          </a:solidFill>
          <a:ln w="6350">
            <a:solidFill>
              <a:srgbClr val="C9D3D6"/>
            </a:solidFill>
            <a:prstDash val="solid"/>
          </a:ln>
        </p:spPr>
      </p:sp>
      <p:sp>
        <p:nvSpPr>
          <p:cNvPr id="36" name="Text 32"/>
          <p:cNvSpPr txBox="1"/>
          <p:nvPr/>
        </p:nvSpPr>
        <p:spPr>
          <a:xfrm>
            <a:off x="6181344" y="274320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i</a:t>
            </a:r>
            <a:endParaRPr lang="en-US" sz="1000" dirty="0"/>
          </a:p>
        </p:txBody>
      </p:sp>
      <p:sp>
        <p:nvSpPr>
          <p:cNvPr id="37" name="Shape 33"/>
          <p:cNvSpPr/>
          <p:nvPr/>
        </p:nvSpPr>
        <p:spPr>
          <a:xfrm>
            <a:off x="6565392" y="2743200"/>
            <a:ext cx="347472" cy="329184"/>
          </a:xfrm>
          <a:prstGeom prst="rect">
            <a:avLst/>
          </a:prstGeom>
          <a:solidFill>
            <a:srgbClr val="D9E7EA"/>
          </a:solidFill>
          <a:ln w="6350">
            <a:solidFill>
              <a:srgbClr val="C9D3D6"/>
            </a:solidFill>
            <a:prstDash val="solid"/>
          </a:ln>
        </p:spPr>
      </p:sp>
      <p:sp>
        <p:nvSpPr>
          <p:cNvPr id="38" name="Shape 34"/>
          <p:cNvSpPr/>
          <p:nvPr/>
        </p:nvSpPr>
        <p:spPr>
          <a:xfrm>
            <a:off x="6949440" y="2743200"/>
            <a:ext cx="347472" cy="329184"/>
          </a:xfrm>
          <a:prstGeom prst="rect">
            <a:avLst/>
          </a:prstGeom>
          <a:solidFill>
            <a:srgbClr val="D9E7EA"/>
          </a:solidFill>
          <a:ln w="6350">
            <a:solidFill>
              <a:srgbClr val="C9D3D6"/>
            </a:solidFill>
            <a:prstDash val="solid"/>
          </a:ln>
        </p:spPr>
      </p:sp>
      <p:sp>
        <p:nvSpPr>
          <p:cNvPr id="39" name="Shape 35"/>
          <p:cNvSpPr/>
          <p:nvPr/>
        </p:nvSpPr>
        <p:spPr>
          <a:xfrm>
            <a:off x="7333488" y="2743200"/>
            <a:ext cx="347472" cy="329184"/>
          </a:xfrm>
          <a:prstGeom prst="rect">
            <a:avLst/>
          </a:prstGeom>
          <a:solidFill>
            <a:srgbClr val="D9E7EA"/>
          </a:solidFill>
          <a:ln w="6350">
            <a:solidFill>
              <a:srgbClr val="C9D3D6"/>
            </a:solidFill>
            <a:prstDash val="solid"/>
          </a:ln>
        </p:spPr>
      </p:sp>
      <p:sp>
        <p:nvSpPr>
          <p:cNvPr id="40" name="Shape 36"/>
          <p:cNvSpPr/>
          <p:nvPr/>
        </p:nvSpPr>
        <p:spPr>
          <a:xfrm>
            <a:off x="7717536" y="2743200"/>
            <a:ext cx="347472" cy="329184"/>
          </a:xfrm>
          <a:prstGeom prst="rect">
            <a:avLst/>
          </a:prstGeom>
          <a:solidFill>
            <a:srgbClr val="D9E7EA"/>
          </a:solidFill>
          <a:ln w="6350">
            <a:solidFill>
              <a:srgbClr val="C9D3D6"/>
            </a:solidFill>
            <a:prstDash val="solid"/>
          </a:ln>
        </p:spPr>
      </p:sp>
      <p:sp>
        <p:nvSpPr>
          <p:cNvPr id="41" name="Shape 37"/>
          <p:cNvSpPr/>
          <p:nvPr/>
        </p:nvSpPr>
        <p:spPr>
          <a:xfrm>
            <a:off x="8101584" y="2743200"/>
            <a:ext cx="347472" cy="329184"/>
          </a:xfrm>
          <a:prstGeom prst="rect">
            <a:avLst/>
          </a:prstGeom>
          <a:solidFill>
            <a:srgbClr val="D9E7EA"/>
          </a:solidFill>
          <a:ln w="6350">
            <a:solidFill>
              <a:srgbClr val="C9D3D6"/>
            </a:solidFill>
            <a:prstDash val="solid"/>
          </a:ln>
        </p:spPr>
      </p:sp>
      <p:sp>
        <p:nvSpPr>
          <p:cNvPr id="42" name="Shape 38"/>
          <p:cNvSpPr/>
          <p:nvPr/>
        </p:nvSpPr>
        <p:spPr>
          <a:xfrm>
            <a:off x="8485632" y="2743200"/>
            <a:ext cx="347472" cy="329184"/>
          </a:xfrm>
          <a:prstGeom prst="rect">
            <a:avLst/>
          </a:prstGeom>
          <a:solidFill>
            <a:srgbClr val="D9E7EA"/>
          </a:solidFill>
          <a:ln w="6350">
            <a:solidFill>
              <a:srgbClr val="C9D3D6"/>
            </a:solidFill>
            <a:prstDash val="solid"/>
          </a:ln>
        </p:spPr>
      </p:sp>
      <p:sp>
        <p:nvSpPr>
          <p:cNvPr id="43" name="Shape 39"/>
          <p:cNvSpPr/>
          <p:nvPr/>
        </p:nvSpPr>
        <p:spPr>
          <a:xfrm>
            <a:off x="8869680" y="2743200"/>
            <a:ext cx="347472" cy="329184"/>
          </a:xfrm>
          <a:prstGeom prst="rect">
            <a:avLst/>
          </a:prstGeom>
          <a:solidFill>
            <a:srgbClr val="D9E7EA"/>
          </a:solidFill>
          <a:ln w="6350">
            <a:solidFill>
              <a:srgbClr val="C9D3D6"/>
            </a:solidFill>
            <a:prstDash val="solid"/>
          </a:ln>
        </p:spPr>
      </p:sp>
      <p:sp>
        <p:nvSpPr>
          <p:cNvPr id="44" name="Shape 40"/>
          <p:cNvSpPr/>
          <p:nvPr/>
        </p:nvSpPr>
        <p:spPr>
          <a:xfrm>
            <a:off x="9253728" y="2743200"/>
            <a:ext cx="347472" cy="329184"/>
          </a:xfrm>
          <a:prstGeom prst="rect">
            <a:avLst/>
          </a:prstGeom>
          <a:solidFill>
            <a:srgbClr val="D9E7EA"/>
          </a:solidFill>
          <a:ln w="6350">
            <a:solidFill>
              <a:srgbClr val="C9D3D6"/>
            </a:solidFill>
            <a:prstDash val="solid"/>
          </a:ln>
        </p:spPr>
      </p:sp>
      <p:sp>
        <p:nvSpPr>
          <p:cNvPr id="45" name="Shape 41"/>
          <p:cNvSpPr/>
          <p:nvPr/>
        </p:nvSpPr>
        <p:spPr>
          <a:xfrm>
            <a:off x="9637776" y="2743200"/>
            <a:ext cx="347472" cy="329184"/>
          </a:xfrm>
          <a:prstGeom prst="rect">
            <a:avLst/>
          </a:prstGeom>
          <a:solidFill>
            <a:srgbClr val="D9E7EA"/>
          </a:solidFill>
          <a:ln w="6350">
            <a:solidFill>
              <a:srgbClr val="C9D3D6"/>
            </a:solidFill>
            <a:prstDash val="solid"/>
          </a:ln>
        </p:spPr>
      </p:sp>
      <p:sp>
        <p:nvSpPr>
          <p:cNvPr id="46" name="Shape 42"/>
          <p:cNvSpPr/>
          <p:nvPr/>
        </p:nvSpPr>
        <p:spPr>
          <a:xfrm>
            <a:off x="10021824" y="2743200"/>
            <a:ext cx="347472" cy="329184"/>
          </a:xfrm>
          <a:prstGeom prst="rect">
            <a:avLst/>
          </a:prstGeom>
          <a:solidFill>
            <a:srgbClr val="0F4C5C"/>
          </a:solidFill>
          <a:ln w="6350">
            <a:solidFill>
              <a:srgbClr val="C9D3D6"/>
            </a:solidFill>
            <a:prstDash val="solid"/>
          </a:ln>
        </p:spPr>
      </p:sp>
      <p:sp>
        <p:nvSpPr>
          <p:cNvPr id="47" name="Text 43"/>
          <p:cNvSpPr txBox="1"/>
          <p:nvPr/>
        </p:nvSpPr>
        <p:spPr>
          <a:xfrm>
            <a:off x="10021824" y="274320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j</a:t>
            </a:r>
            <a:endParaRPr lang="en-US" sz="1000" dirty="0"/>
          </a:p>
        </p:txBody>
      </p:sp>
      <p:sp>
        <p:nvSpPr>
          <p:cNvPr id="48" name="Shape 44"/>
          <p:cNvSpPr/>
          <p:nvPr/>
        </p:nvSpPr>
        <p:spPr>
          <a:xfrm>
            <a:off x="10405872" y="2743200"/>
            <a:ext cx="347472" cy="329184"/>
          </a:xfrm>
          <a:prstGeom prst="rect">
            <a:avLst/>
          </a:prstGeom>
          <a:solidFill>
            <a:srgbClr val="EEF3F4"/>
          </a:solidFill>
          <a:ln w="6350">
            <a:solidFill>
              <a:srgbClr val="C9D3D6"/>
            </a:solidFill>
            <a:prstDash val="solid"/>
          </a:ln>
        </p:spPr>
      </p:sp>
      <p:sp>
        <p:nvSpPr>
          <p:cNvPr id="49" name="Shape 45"/>
          <p:cNvSpPr/>
          <p:nvPr/>
        </p:nvSpPr>
        <p:spPr>
          <a:xfrm>
            <a:off x="10789920" y="2743200"/>
            <a:ext cx="347472" cy="329184"/>
          </a:xfrm>
          <a:prstGeom prst="rect">
            <a:avLst/>
          </a:prstGeom>
          <a:solidFill>
            <a:srgbClr val="EEF3F4"/>
          </a:solidFill>
          <a:ln w="6350">
            <a:solidFill>
              <a:srgbClr val="C9D3D6"/>
            </a:solidFill>
            <a:prstDash val="solid"/>
          </a:ln>
        </p:spPr>
      </p:sp>
      <p:sp>
        <p:nvSpPr>
          <p:cNvPr id="50" name="Text 46"/>
          <p:cNvSpPr txBox="1"/>
          <p:nvPr/>
        </p:nvSpPr>
        <p:spPr>
          <a:xfrm>
            <a:off x="5029200" y="3127248"/>
            <a:ext cx="6675120" cy="365760"/>
          </a:xfrm>
          <a:prstGeom prst="rect">
            <a:avLst/>
          </a:prstGeom>
          <a:noFill/>
          <a:ln/>
        </p:spPr>
        <p:txBody>
          <a:bodyPr wrap="square" lIns="0" tIns="0" rIns="0" bIns="0" rtlCol="0" anchor="t"/>
          <a:lstStyle/>
          <a:p>
            <a:pPr indent="0" marL="0">
              <a:buNone/>
            </a:pPr>
            <a:r>
              <a:rPr lang="en-US" sz="1300" dirty="0">
                <a:solidFill>
                  <a:srgbClr val="1F2A30"/>
                </a:solidFill>
                <a:latin typeface="Meiryo" pitchFamily="34" charset="0"/>
                <a:ea typeface="Meiryo" pitchFamily="34" charset="-122"/>
                <a:cs typeface="Meiryo" pitchFamily="34" charset="-120"/>
              </a:rPr>
              <a:t>場合1：i が対合しない → [i+1, j] の答えをそのまま使う</a:t>
            </a:r>
            <a:endParaRPr lang="en-US" sz="1300" dirty="0"/>
          </a:p>
        </p:txBody>
      </p:sp>
      <p:sp>
        <p:nvSpPr>
          <p:cNvPr id="51" name="Shape 47"/>
          <p:cNvSpPr/>
          <p:nvPr/>
        </p:nvSpPr>
        <p:spPr>
          <a:xfrm>
            <a:off x="5029200" y="4069080"/>
            <a:ext cx="347472" cy="329184"/>
          </a:xfrm>
          <a:prstGeom prst="rect">
            <a:avLst/>
          </a:prstGeom>
          <a:solidFill>
            <a:srgbClr val="EEF3F4"/>
          </a:solidFill>
          <a:ln w="6350">
            <a:solidFill>
              <a:srgbClr val="C9D3D6"/>
            </a:solidFill>
            <a:prstDash val="solid"/>
          </a:ln>
        </p:spPr>
      </p:sp>
      <p:sp>
        <p:nvSpPr>
          <p:cNvPr id="52" name="Shape 48"/>
          <p:cNvSpPr/>
          <p:nvPr/>
        </p:nvSpPr>
        <p:spPr>
          <a:xfrm>
            <a:off x="5413248" y="4069080"/>
            <a:ext cx="347472" cy="329184"/>
          </a:xfrm>
          <a:prstGeom prst="rect">
            <a:avLst/>
          </a:prstGeom>
          <a:solidFill>
            <a:srgbClr val="EEF3F4"/>
          </a:solidFill>
          <a:ln w="6350">
            <a:solidFill>
              <a:srgbClr val="C9D3D6"/>
            </a:solidFill>
            <a:prstDash val="solid"/>
          </a:ln>
        </p:spPr>
      </p:sp>
      <p:sp>
        <p:nvSpPr>
          <p:cNvPr id="53" name="Shape 49"/>
          <p:cNvSpPr/>
          <p:nvPr/>
        </p:nvSpPr>
        <p:spPr>
          <a:xfrm>
            <a:off x="5797296" y="4069080"/>
            <a:ext cx="347472" cy="329184"/>
          </a:xfrm>
          <a:prstGeom prst="rect">
            <a:avLst/>
          </a:prstGeom>
          <a:solidFill>
            <a:srgbClr val="EEF3F4"/>
          </a:solidFill>
          <a:ln w="6350">
            <a:solidFill>
              <a:srgbClr val="C9D3D6"/>
            </a:solidFill>
            <a:prstDash val="solid"/>
          </a:ln>
        </p:spPr>
      </p:sp>
      <p:sp>
        <p:nvSpPr>
          <p:cNvPr id="54" name="Shape 50"/>
          <p:cNvSpPr/>
          <p:nvPr/>
        </p:nvSpPr>
        <p:spPr>
          <a:xfrm>
            <a:off x="6181344" y="4069080"/>
            <a:ext cx="347472" cy="329184"/>
          </a:xfrm>
          <a:prstGeom prst="rect">
            <a:avLst/>
          </a:prstGeom>
          <a:solidFill>
            <a:srgbClr val="E36414"/>
          </a:solidFill>
          <a:ln w="6350">
            <a:solidFill>
              <a:srgbClr val="C9D3D6"/>
            </a:solidFill>
            <a:prstDash val="solid"/>
          </a:ln>
        </p:spPr>
      </p:sp>
      <p:sp>
        <p:nvSpPr>
          <p:cNvPr id="55" name="Text 51"/>
          <p:cNvSpPr txBox="1"/>
          <p:nvPr/>
        </p:nvSpPr>
        <p:spPr>
          <a:xfrm>
            <a:off x="6181344" y="4069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i</a:t>
            </a:r>
            <a:endParaRPr lang="en-US" sz="1000" dirty="0"/>
          </a:p>
        </p:txBody>
      </p:sp>
      <p:sp>
        <p:nvSpPr>
          <p:cNvPr id="56" name="Shape 52"/>
          <p:cNvSpPr/>
          <p:nvPr/>
        </p:nvSpPr>
        <p:spPr>
          <a:xfrm>
            <a:off x="6565392" y="4069080"/>
            <a:ext cx="347472" cy="329184"/>
          </a:xfrm>
          <a:prstGeom prst="rect">
            <a:avLst/>
          </a:prstGeom>
          <a:solidFill>
            <a:srgbClr val="F6C9A8"/>
          </a:solidFill>
          <a:ln w="6350">
            <a:solidFill>
              <a:srgbClr val="C9D3D6"/>
            </a:solidFill>
            <a:prstDash val="solid"/>
          </a:ln>
        </p:spPr>
      </p:sp>
      <p:sp>
        <p:nvSpPr>
          <p:cNvPr id="57" name="Shape 53"/>
          <p:cNvSpPr/>
          <p:nvPr/>
        </p:nvSpPr>
        <p:spPr>
          <a:xfrm>
            <a:off x="6949440" y="4069080"/>
            <a:ext cx="347472" cy="329184"/>
          </a:xfrm>
          <a:prstGeom prst="rect">
            <a:avLst/>
          </a:prstGeom>
          <a:solidFill>
            <a:srgbClr val="F6C9A8"/>
          </a:solidFill>
          <a:ln w="6350">
            <a:solidFill>
              <a:srgbClr val="C9D3D6"/>
            </a:solidFill>
            <a:prstDash val="solid"/>
          </a:ln>
        </p:spPr>
      </p:sp>
      <p:sp>
        <p:nvSpPr>
          <p:cNvPr id="58" name="Shape 54"/>
          <p:cNvSpPr/>
          <p:nvPr/>
        </p:nvSpPr>
        <p:spPr>
          <a:xfrm>
            <a:off x="7333488" y="4069080"/>
            <a:ext cx="347472" cy="329184"/>
          </a:xfrm>
          <a:prstGeom prst="rect">
            <a:avLst/>
          </a:prstGeom>
          <a:solidFill>
            <a:srgbClr val="F6C9A8"/>
          </a:solidFill>
          <a:ln w="6350">
            <a:solidFill>
              <a:srgbClr val="C9D3D6"/>
            </a:solidFill>
            <a:prstDash val="solid"/>
          </a:ln>
        </p:spPr>
      </p:sp>
      <p:sp>
        <p:nvSpPr>
          <p:cNvPr id="59" name="Shape 55"/>
          <p:cNvSpPr/>
          <p:nvPr/>
        </p:nvSpPr>
        <p:spPr>
          <a:xfrm>
            <a:off x="7717536" y="4069080"/>
            <a:ext cx="347472" cy="329184"/>
          </a:xfrm>
          <a:prstGeom prst="rect">
            <a:avLst/>
          </a:prstGeom>
          <a:solidFill>
            <a:srgbClr val="F6C9A8"/>
          </a:solidFill>
          <a:ln w="6350">
            <a:solidFill>
              <a:srgbClr val="C9D3D6"/>
            </a:solidFill>
            <a:prstDash val="solid"/>
          </a:ln>
        </p:spPr>
      </p:sp>
      <p:sp>
        <p:nvSpPr>
          <p:cNvPr id="60" name="Shape 56"/>
          <p:cNvSpPr/>
          <p:nvPr/>
        </p:nvSpPr>
        <p:spPr>
          <a:xfrm>
            <a:off x="8101584" y="4069080"/>
            <a:ext cx="347472" cy="329184"/>
          </a:xfrm>
          <a:prstGeom prst="rect">
            <a:avLst/>
          </a:prstGeom>
          <a:solidFill>
            <a:srgbClr val="E36414"/>
          </a:solidFill>
          <a:ln w="6350">
            <a:solidFill>
              <a:srgbClr val="C9D3D6"/>
            </a:solidFill>
            <a:prstDash val="solid"/>
          </a:ln>
        </p:spPr>
      </p:sp>
      <p:sp>
        <p:nvSpPr>
          <p:cNvPr id="61" name="Text 57"/>
          <p:cNvSpPr txBox="1"/>
          <p:nvPr/>
        </p:nvSpPr>
        <p:spPr>
          <a:xfrm>
            <a:off x="8101584" y="4069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k</a:t>
            </a:r>
            <a:endParaRPr lang="en-US" sz="1000" dirty="0"/>
          </a:p>
        </p:txBody>
      </p:sp>
      <p:sp>
        <p:nvSpPr>
          <p:cNvPr id="62" name="Shape 58"/>
          <p:cNvSpPr/>
          <p:nvPr/>
        </p:nvSpPr>
        <p:spPr>
          <a:xfrm>
            <a:off x="8485632" y="4069080"/>
            <a:ext cx="347472" cy="329184"/>
          </a:xfrm>
          <a:prstGeom prst="rect">
            <a:avLst/>
          </a:prstGeom>
          <a:solidFill>
            <a:srgbClr val="D9E7EA"/>
          </a:solidFill>
          <a:ln w="6350">
            <a:solidFill>
              <a:srgbClr val="C9D3D6"/>
            </a:solidFill>
            <a:prstDash val="solid"/>
          </a:ln>
        </p:spPr>
      </p:sp>
      <p:sp>
        <p:nvSpPr>
          <p:cNvPr id="63" name="Shape 59"/>
          <p:cNvSpPr/>
          <p:nvPr/>
        </p:nvSpPr>
        <p:spPr>
          <a:xfrm>
            <a:off x="8869680" y="4069080"/>
            <a:ext cx="347472" cy="329184"/>
          </a:xfrm>
          <a:prstGeom prst="rect">
            <a:avLst/>
          </a:prstGeom>
          <a:solidFill>
            <a:srgbClr val="D9E7EA"/>
          </a:solidFill>
          <a:ln w="6350">
            <a:solidFill>
              <a:srgbClr val="C9D3D6"/>
            </a:solidFill>
            <a:prstDash val="solid"/>
          </a:ln>
        </p:spPr>
      </p:sp>
      <p:sp>
        <p:nvSpPr>
          <p:cNvPr id="64" name="Shape 60"/>
          <p:cNvSpPr/>
          <p:nvPr/>
        </p:nvSpPr>
        <p:spPr>
          <a:xfrm>
            <a:off x="9253728" y="4069080"/>
            <a:ext cx="347472" cy="329184"/>
          </a:xfrm>
          <a:prstGeom prst="rect">
            <a:avLst/>
          </a:prstGeom>
          <a:solidFill>
            <a:srgbClr val="D9E7EA"/>
          </a:solidFill>
          <a:ln w="6350">
            <a:solidFill>
              <a:srgbClr val="C9D3D6"/>
            </a:solidFill>
            <a:prstDash val="solid"/>
          </a:ln>
        </p:spPr>
      </p:sp>
      <p:sp>
        <p:nvSpPr>
          <p:cNvPr id="65" name="Shape 61"/>
          <p:cNvSpPr/>
          <p:nvPr/>
        </p:nvSpPr>
        <p:spPr>
          <a:xfrm>
            <a:off x="9637776" y="4069080"/>
            <a:ext cx="347472" cy="329184"/>
          </a:xfrm>
          <a:prstGeom prst="rect">
            <a:avLst/>
          </a:prstGeom>
          <a:solidFill>
            <a:srgbClr val="D9E7EA"/>
          </a:solidFill>
          <a:ln w="6350">
            <a:solidFill>
              <a:srgbClr val="C9D3D6"/>
            </a:solidFill>
            <a:prstDash val="solid"/>
          </a:ln>
        </p:spPr>
      </p:sp>
      <p:sp>
        <p:nvSpPr>
          <p:cNvPr id="66" name="Shape 62"/>
          <p:cNvSpPr/>
          <p:nvPr/>
        </p:nvSpPr>
        <p:spPr>
          <a:xfrm>
            <a:off x="10021824" y="4069080"/>
            <a:ext cx="347472" cy="329184"/>
          </a:xfrm>
          <a:prstGeom prst="rect">
            <a:avLst/>
          </a:prstGeom>
          <a:solidFill>
            <a:srgbClr val="0F4C5C"/>
          </a:solidFill>
          <a:ln w="6350">
            <a:solidFill>
              <a:srgbClr val="C9D3D6"/>
            </a:solidFill>
            <a:prstDash val="solid"/>
          </a:ln>
        </p:spPr>
      </p:sp>
      <p:sp>
        <p:nvSpPr>
          <p:cNvPr id="67" name="Text 63"/>
          <p:cNvSpPr txBox="1"/>
          <p:nvPr/>
        </p:nvSpPr>
        <p:spPr>
          <a:xfrm>
            <a:off x="10021824" y="4069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j</a:t>
            </a:r>
            <a:endParaRPr lang="en-US" sz="1000" dirty="0"/>
          </a:p>
        </p:txBody>
      </p:sp>
      <p:sp>
        <p:nvSpPr>
          <p:cNvPr id="68" name="Shape 64"/>
          <p:cNvSpPr/>
          <p:nvPr/>
        </p:nvSpPr>
        <p:spPr>
          <a:xfrm>
            <a:off x="10405872" y="4069080"/>
            <a:ext cx="347472" cy="329184"/>
          </a:xfrm>
          <a:prstGeom prst="rect">
            <a:avLst/>
          </a:prstGeom>
          <a:solidFill>
            <a:srgbClr val="EEF3F4"/>
          </a:solidFill>
          <a:ln w="6350">
            <a:solidFill>
              <a:srgbClr val="C9D3D6"/>
            </a:solidFill>
            <a:prstDash val="solid"/>
          </a:ln>
        </p:spPr>
      </p:sp>
      <p:sp>
        <p:nvSpPr>
          <p:cNvPr id="69" name="Shape 65"/>
          <p:cNvSpPr/>
          <p:nvPr/>
        </p:nvSpPr>
        <p:spPr>
          <a:xfrm>
            <a:off x="10789920" y="4069080"/>
            <a:ext cx="347472" cy="329184"/>
          </a:xfrm>
          <a:prstGeom prst="rect">
            <a:avLst/>
          </a:prstGeom>
          <a:solidFill>
            <a:srgbClr val="EEF3F4"/>
          </a:solidFill>
          <a:ln w="6350">
            <a:solidFill>
              <a:srgbClr val="C9D3D6"/>
            </a:solidFill>
            <a:prstDash val="solid"/>
          </a:ln>
        </p:spPr>
      </p:sp>
      <p:sp>
        <p:nvSpPr>
          <p:cNvPr id="70" name="Text 66"/>
          <p:cNvSpPr txBox="1"/>
          <p:nvPr/>
        </p:nvSpPr>
        <p:spPr>
          <a:xfrm>
            <a:off x="5029200" y="4453128"/>
            <a:ext cx="6675120" cy="365760"/>
          </a:xfrm>
          <a:prstGeom prst="rect">
            <a:avLst/>
          </a:prstGeom>
          <a:noFill/>
          <a:ln/>
        </p:spPr>
        <p:txBody>
          <a:bodyPr wrap="square" lIns="0" tIns="0" rIns="0" bIns="0" rtlCol="0" anchor="t"/>
          <a:lstStyle/>
          <a:p>
            <a:pPr indent="0" marL="0">
              <a:buNone/>
            </a:pPr>
            <a:r>
              <a:rPr lang="en-US" sz="1300" dirty="0">
                <a:solidFill>
                  <a:srgbClr val="1F2A30"/>
                </a:solidFill>
                <a:latin typeface="Meiryo" pitchFamily="34" charset="0"/>
                <a:ea typeface="Meiryo" pitchFamily="34" charset="-122"/>
                <a:cs typeface="Meiryo" pitchFamily="34" charset="-120"/>
              </a:rPr>
              <a:t>場合2：i が k と対合 → 内側 [i+1, k−1] と外側 [k+1, j] の答えを足す（k を全部試す）</a:t>
            </a:r>
            <a:endParaRPr lang="en-US" sz="1300" dirty="0"/>
          </a:p>
        </p:txBody>
      </p:sp>
      <p:sp>
        <p:nvSpPr>
          <p:cNvPr id="71" name="Shape 67"/>
          <p:cNvSpPr/>
          <p:nvPr/>
        </p:nvSpPr>
        <p:spPr>
          <a:xfrm>
            <a:off x="6373368" y="3685032"/>
            <a:ext cx="1920240" cy="768096"/>
          </a:xfrm>
          <a:prstGeom prst="arc">
            <a:avLst>
              <a:gd name="adj1" fmla="val 10800000"/>
              <a:gd name="adj2" fmla="val 21600000"/>
            </a:avLst>
          </a:prstGeom>
          <a:ln w="25400">
            <a:solidFill>
              <a:srgbClr val="E36414"/>
            </a:solidFill>
            <a:prstDash val="solid"/>
          </a:ln>
        </p:spPr>
      </p:sp>
      <p:sp>
        <p:nvSpPr>
          <p:cNvPr id="72" name="Text 68"/>
          <p:cNvSpPr txBox="1"/>
          <p:nvPr/>
        </p:nvSpPr>
        <p:spPr>
          <a:xfrm>
            <a:off x="5029200" y="5029200"/>
            <a:ext cx="6675120" cy="82296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短い区間から順に表を埋めると、長さ n の配列の最良構造が n³ 程度の手間で求まる（ViennaRNA はループ単位のエネルギーで同じ考え方を使う）</a:t>
            </a:r>
            <a:endParaRPr lang="en-US" sz="1400" dirty="0"/>
          </a:p>
        </p:txBody>
      </p:sp>
      <p:sp>
        <p:nvSpPr>
          <p:cNvPr id="73" name="Text 69"/>
          <p:cNvSpPr txBox="1"/>
          <p:nvPr/>
        </p:nvSpPr>
        <p:spPr>
          <a:xfrm>
            <a:off x="5029200" y="5852160"/>
            <a:ext cx="6675120" cy="640080"/>
          </a:xfrm>
          <a:prstGeom prst="rect">
            <a:avLst/>
          </a:prstGeom>
          <a:noFill/>
          <a:ln/>
        </p:spPr>
        <p:txBody>
          <a:bodyPr wrap="square" lIns="0" tIns="0" rIns="0" bIns="0" rtlCol="0" anchor="t"/>
          <a:lstStyle/>
          <a:p>
            <a:pPr indent="0" marL="0">
              <a:buNone/>
            </a:pPr>
            <a:r>
              <a:rPr lang="en-US" sz="1300" dirty="0">
                <a:solidFill>
                  <a:srgbClr val="E36414"/>
                </a:solidFill>
                <a:latin typeface="Meiryo" pitchFamily="34" charset="0"/>
                <a:ea typeface="Meiryo" pitchFamily="34" charset="-122"/>
                <a:cs typeface="Meiryo" pitchFamily="34" charset="-120"/>
              </a:rPr>
              <a:t>注意：予測の DP を「逆向きに解く」と設計になるわけではない。設計は予測を評価器に使う探索（次の節）</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E36414"/>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録画を停止します：演習1（15分）</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19:30–19:45　構造予測と配列変更（グループ演習）</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提出担当者が画面共有しながら進めます。TA が各グループを支援します。</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自分の環境が動かなくても、グループの画面を見て参加できます。</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演習1の準備：import とバージョン、入力配列の確認</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20</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Text 4"/>
          <p:cNvSpPr txBox="1"/>
          <p:nvPr/>
        </p:nvSpPr>
        <p:spPr>
          <a:xfrm>
            <a:off x="502920" y="1188720"/>
            <a:ext cx="6766560" cy="320040"/>
          </a:xfrm>
          <a:prstGeom prst="rect">
            <a:avLst/>
          </a:prstGeom>
          <a:noFill/>
          <a:ln/>
        </p:spPr>
        <p:txBody>
          <a:bodyPr wrap="square" lIns="0" tIns="0" rIns="0" bIns="0" rtlCol="0" anchor="t"/>
          <a:lstStyle/>
          <a:p>
            <a:pPr indent="0" marL="0">
              <a:buNone/>
            </a:pPr>
            <a:r>
              <a:rPr lang="en-US" sz="1400" b="1" dirty="0">
                <a:solidFill>
                  <a:srgbClr val="0F4C5C"/>
                </a:solidFill>
                <a:latin typeface="Meiryo" pitchFamily="34" charset="0"/>
                <a:ea typeface="Meiryo" pitchFamily="34" charset="-122"/>
                <a:cs typeface="Meiryo" pitchFamily="34" charset="-120"/>
              </a:rPr>
              <a:t>ターミナルに入力する（この 1 行だけ）</a:t>
            </a:r>
            <a:endParaRPr lang="en-US" sz="1400" dirty="0"/>
          </a:p>
        </p:txBody>
      </p:sp>
      <p:sp>
        <p:nvSpPr>
          <p:cNvPr id="8" name="Shape 5"/>
          <p:cNvSpPr/>
          <p:nvPr/>
        </p:nvSpPr>
        <p:spPr>
          <a:xfrm>
            <a:off x="502920" y="1508760"/>
            <a:ext cx="6766560" cy="548640"/>
          </a:xfrm>
          <a:prstGeom prst="rect">
            <a:avLst/>
          </a:prstGeom>
          <a:solidFill>
            <a:srgbClr val="F6F8F9"/>
          </a:solidFill>
          <a:ln w="9525">
            <a:solidFill>
              <a:srgbClr val="C9D3D6"/>
            </a:solidFill>
            <a:prstDash val="solid"/>
          </a:ln>
        </p:spPr>
      </p:sp>
      <p:sp>
        <p:nvSpPr>
          <p:cNvPr id="9" name="Text 6"/>
          <p:cNvSpPr txBox="1"/>
          <p:nvPr/>
        </p:nvSpPr>
        <p:spPr>
          <a:xfrm>
            <a:off x="612648" y="1581912"/>
            <a:ext cx="6547104" cy="402336"/>
          </a:xfrm>
          <a:prstGeom prst="rect">
            <a:avLst/>
          </a:prstGeom>
          <a:noFill/>
          <a:ln/>
        </p:spPr>
        <p:txBody>
          <a:bodyPr wrap="square" lIns="0" tIns="0" rIns="0" bIns="0" rtlCol="0" anchor="t"/>
          <a:lstStyle/>
          <a:p>
            <a:pPr indent="0" marL="0">
              <a:lnSpc>
                <a:spcPct val="105000"/>
              </a:lnSpc>
              <a:buNone/>
            </a:pPr>
            <a:r>
              <a:rPr lang="en-US" sz="1700" dirty="0">
                <a:solidFill>
                  <a:srgbClr val="1F2A30"/>
                </a:solidFill>
                <a:latin typeface="Consolas" pitchFamily="34" charset="0"/>
                <a:ea typeface="Consolas" pitchFamily="34" charset="-122"/>
                <a:cs typeface="Consolas" pitchFamily="34" charset="-120"/>
              </a:rPr>
              <a:t>uv run python exercises/ex0_check.py</a:t>
            </a:r>
            <a:endParaRPr lang="en-US" sz="1700" dirty="0"/>
          </a:p>
        </p:txBody>
      </p:sp>
      <p:sp>
        <p:nvSpPr>
          <p:cNvPr id="10" name="Text 7"/>
          <p:cNvSpPr txBox="1"/>
          <p:nvPr/>
        </p:nvSpPr>
        <p:spPr>
          <a:xfrm>
            <a:off x="502920" y="2240280"/>
            <a:ext cx="6766560" cy="320040"/>
          </a:xfrm>
          <a:prstGeom prst="rect">
            <a:avLst/>
          </a:prstGeom>
          <a:noFill/>
          <a:ln/>
        </p:spPr>
        <p:txBody>
          <a:bodyPr wrap="square" lIns="0" tIns="0" rIns="0" bIns="0" rtlCol="0" anchor="t"/>
          <a:lstStyle/>
          <a:p>
            <a:pPr indent="0" marL="0">
              <a:buNone/>
            </a:pPr>
            <a:r>
              <a:rPr lang="en-US" sz="1400" b="1" dirty="0">
                <a:solidFill>
                  <a:srgbClr val="0F4C5C"/>
                </a:solidFill>
                <a:latin typeface="Meiryo" pitchFamily="34" charset="0"/>
                <a:ea typeface="Meiryo" pitchFamily="34" charset="-122"/>
                <a:cs typeface="Meiryo" pitchFamily="34" charset="-120"/>
              </a:rPr>
              <a:t>コンピューターが返す結果（入力しない）</a:t>
            </a:r>
            <a:endParaRPr lang="en-US" sz="1400" dirty="0"/>
          </a:p>
        </p:txBody>
      </p:sp>
      <p:sp>
        <p:nvSpPr>
          <p:cNvPr id="11" name="Shape 8"/>
          <p:cNvSpPr/>
          <p:nvPr/>
        </p:nvSpPr>
        <p:spPr>
          <a:xfrm>
            <a:off x="502920" y="2560320"/>
            <a:ext cx="6766560" cy="1143000"/>
          </a:xfrm>
          <a:prstGeom prst="rect">
            <a:avLst/>
          </a:prstGeom>
          <a:solidFill>
            <a:srgbClr val="F6F8F9"/>
          </a:solidFill>
          <a:ln w="9525">
            <a:solidFill>
              <a:srgbClr val="C9D3D6"/>
            </a:solidFill>
            <a:prstDash val="solid"/>
          </a:ln>
        </p:spPr>
      </p:sp>
      <p:sp>
        <p:nvSpPr>
          <p:cNvPr id="12" name="Text 9"/>
          <p:cNvSpPr txBox="1"/>
          <p:nvPr/>
        </p:nvSpPr>
        <p:spPr>
          <a:xfrm>
            <a:off x="612648" y="2633472"/>
            <a:ext cx="6547104" cy="996696"/>
          </a:xfrm>
          <a:prstGeom prst="rect">
            <a:avLst/>
          </a:prstGeom>
          <a:noFill/>
          <a:ln/>
        </p:spPr>
        <p:txBody>
          <a:bodyPr wrap="square" lIns="0" tIns="0" rIns="0" bIns="0" rtlCol="0" anchor="t"/>
          <a:lstStyle/>
          <a:p>
            <a:pPr indent="0" marL="0">
              <a:lnSpc>
                <a:spcPct val="105000"/>
              </a:lnSpc>
              <a:buNone/>
            </a:pPr>
            <a:r>
              <a:rPr lang="en-US" sz="1700" dirty="0">
                <a:solidFill>
                  <a:srgbClr val="1F2A30"/>
                </a:solidFill>
                <a:latin typeface="Consolas" pitchFamily="34" charset="0"/>
                <a:ea typeface="Consolas" pitchFamily="34" charset="-122"/>
                <a:cs typeface="Consolas" pitchFamily="34" charset="-120"/>
              </a:rPr>
              <a:t>ViennaRNA 2.7.2</a:t>
            </a:r>
            <a:endParaRPr lang="en-US" sz="1700" dirty="0"/>
          </a:p>
          <a:p>
            <a:pPr indent="0" marL="0">
              <a:lnSpc>
                <a:spcPct val="105000"/>
              </a:lnSpc>
              <a:buNone/>
            </a:pPr>
            <a:r>
              <a:rPr lang="en-US" sz="1700" dirty="0">
                <a:solidFill>
                  <a:srgbClr val="1F2A30"/>
                </a:solidFill>
                <a:latin typeface="Consolas" pitchFamily="34" charset="0"/>
                <a:ea typeface="Consolas" pitchFamily="34" charset="-122"/>
                <a:cs typeface="Consolas" pitchFamily="34" charset="-120"/>
              </a:rPr>
              <a:t>配列: GGCGCAGAAAUGCGCC</a:t>
            </a:r>
            <a:endParaRPr lang="en-US" sz="1700" dirty="0"/>
          </a:p>
          <a:p>
            <a:pPr indent="0" marL="0">
              <a:lnSpc>
                <a:spcPct val="105000"/>
              </a:lnSpc>
              <a:buNone/>
            </a:pPr>
            <a:r>
              <a:rPr lang="en-US" sz="1700" dirty="0">
                <a:solidFill>
                  <a:srgbClr val="1F2A30"/>
                </a:solidFill>
                <a:latin typeface="Consolas" pitchFamily="34" charset="0"/>
                <a:ea typeface="Consolas" pitchFamily="34" charset="-122"/>
                <a:cs typeface="Consolas" pitchFamily="34" charset="-120"/>
              </a:rPr>
              <a:t>長さ: 16</a:t>
            </a:r>
            <a:endParaRPr lang="en-US" sz="1700" dirty="0"/>
          </a:p>
        </p:txBody>
      </p:sp>
      <p:sp>
        <p:nvSpPr>
          <p:cNvPr id="13" name="Text 10"/>
          <p:cNvSpPr txBox="1"/>
          <p:nvPr/>
        </p:nvSpPr>
        <p:spPr>
          <a:xfrm>
            <a:off x="502920" y="3730752"/>
            <a:ext cx="6766560" cy="41148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exercises フォルダが手元にない人：github.com/Shunsuke-1994/Course_RNAinverse から入手（Code → Download ZIP、または次の git clone）</a:t>
            </a:r>
            <a:endParaRPr lang="en-US" sz="1200" dirty="0"/>
          </a:p>
        </p:txBody>
      </p:sp>
      <p:sp>
        <p:nvSpPr>
          <p:cNvPr id="14" name="Shape 11"/>
          <p:cNvSpPr/>
          <p:nvPr/>
        </p:nvSpPr>
        <p:spPr>
          <a:xfrm>
            <a:off x="502920" y="4160520"/>
            <a:ext cx="6766560" cy="411480"/>
          </a:xfrm>
          <a:prstGeom prst="rect">
            <a:avLst/>
          </a:prstGeom>
          <a:solidFill>
            <a:srgbClr val="F6F8F9"/>
          </a:solidFill>
          <a:ln w="9525">
            <a:solidFill>
              <a:srgbClr val="C9D3D6"/>
            </a:solidFill>
            <a:prstDash val="solid"/>
          </a:ln>
        </p:spPr>
      </p:sp>
      <p:sp>
        <p:nvSpPr>
          <p:cNvPr id="15" name="Text 12"/>
          <p:cNvSpPr txBox="1"/>
          <p:nvPr/>
        </p:nvSpPr>
        <p:spPr>
          <a:xfrm>
            <a:off x="612648" y="4233672"/>
            <a:ext cx="6547104" cy="26517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git clone https://github.com/Shunsuke-1994/Course_RNAinverse.git</a:t>
            </a:r>
            <a:endParaRPr lang="en-US" sz="1300" dirty="0"/>
          </a:p>
        </p:txBody>
      </p:sp>
      <p:sp>
        <p:nvSpPr>
          <p:cNvPr id="16" name="Shape 13"/>
          <p:cNvSpPr/>
          <p:nvPr/>
        </p:nvSpPr>
        <p:spPr>
          <a:xfrm>
            <a:off x="7498080" y="1234440"/>
            <a:ext cx="4206240" cy="3291840"/>
          </a:xfrm>
          <a:prstGeom prst="roundRect">
            <a:avLst>
              <a:gd name="adj" fmla="val 3333"/>
            </a:avLst>
          </a:prstGeom>
          <a:solidFill>
            <a:srgbClr val="EEF3F4"/>
          </a:solidFill>
          <a:ln w="12700">
            <a:solidFill>
              <a:srgbClr val="EEF3F4"/>
            </a:solidFill>
            <a:prstDash val="solid"/>
          </a:ln>
        </p:spPr>
      </p:sp>
      <p:sp>
        <p:nvSpPr>
          <p:cNvPr id="17" name="Text 14"/>
          <p:cNvSpPr txBox="1"/>
          <p:nvPr/>
        </p:nvSpPr>
        <p:spPr>
          <a:xfrm>
            <a:off x="7680960" y="1344168"/>
            <a:ext cx="38404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確認すること</a:t>
            </a:r>
            <a:endParaRPr lang="en-US" sz="2000" dirty="0"/>
          </a:p>
        </p:txBody>
      </p:sp>
      <p:sp>
        <p:nvSpPr>
          <p:cNvPr id="18" name="Text 15"/>
          <p:cNvSpPr txBox="1"/>
          <p:nvPr/>
        </p:nvSpPr>
        <p:spPr>
          <a:xfrm>
            <a:off x="7680960" y="1801368"/>
            <a:ext cx="3840480" cy="2606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エラーが出ずに 3 行表示される</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バージョンが 2.7.2（違えば TA に伝える）</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長さが 16</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exercises フォルダの他のスクリプトも同じ形で実行する</a:t>
            </a:r>
            <a:endParaRPr lang="en-US" sz="1600" dirty="0"/>
          </a:p>
        </p:txBody>
      </p:sp>
      <p:sp>
        <p:nvSpPr>
          <p:cNvPr id="19" name="Shape 16"/>
          <p:cNvSpPr/>
          <p:nvPr/>
        </p:nvSpPr>
        <p:spPr>
          <a:xfrm>
            <a:off x="502920" y="4709160"/>
            <a:ext cx="11155680" cy="1417320"/>
          </a:xfrm>
          <a:prstGeom prst="roundRect">
            <a:avLst>
              <a:gd name="adj" fmla="val 7742"/>
            </a:avLst>
          </a:prstGeom>
          <a:solidFill>
            <a:srgbClr val="FBE9DC"/>
          </a:solidFill>
          <a:ln w="12700">
            <a:solidFill>
              <a:srgbClr val="FBE9DC"/>
            </a:solidFill>
            <a:prstDash val="solid"/>
          </a:ln>
        </p:spPr>
      </p:sp>
      <p:sp>
        <p:nvSpPr>
          <p:cNvPr id="20" name="Text 17"/>
          <p:cNvSpPr txBox="1"/>
          <p:nvPr/>
        </p:nvSpPr>
        <p:spPr>
          <a:xfrm>
            <a:off x="685800" y="4818888"/>
            <a:ext cx="1078992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動かないとき</a:t>
            </a:r>
            <a:endParaRPr lang="en-US" sz="2000" dirty="0"/>
          </a:p>
        </p:txBody>
      </p:sp>
      <p:sp>
        <p:nvSpPr>
          <p:cNvPr id="21" name="Text 18"/>
          <p:cNvSpPr txBox="1"/>
          <p:nvPr/>
        </p:nvSpPr>
        <p:spPr>
          <a:xfrm>
            <a:off x="685800" y="5276088"/>
            <a:ext cx="10789920" cy="7315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ModuleNotFoundError: No module named "RNA" → uv run を付け忘れたか、別のフォルダにいる。プロジェクトのフォルダで実行する</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&gt;&gt;&gt; の画面になったら exit() で抜ける。どうしても動かない → グループの画面共有で参加する（結果の読み方は同じ）</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演習1A：短いRNAを fold し、構造とエネルギーを読む</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21</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6766560" cy="2468880"/>
          </a:xfrm>
          <a:prstGeom prst="rect">
            <a:avLst/>
          </a:prstGeom>
          <a:solidFill>
            <a:srgbClr val="F6F8F9"/>
          </a:solidFill>
          <a:ln w="9525">
            <a:solidFill>
              <a:srgbClr val="C9D3D6"/>
            </a:solidFill>
            <a:prstDash val="solid"/>
          </a:ln>
        </p:spPr>
      </p:sp>
      <p:sp>
        <p:nvSpPr>
          <p:cNvPr id="8" name="Text 5"/>
          <p:cNvSpPr txBox="1"/>
          <p:nvPr/>
        </p:nvSpPr>
        <p:spPr>
          <a:xfrm>
            <a:off x="612648" y="1261872"/>
            <a:ext cx="6547104" cy="2322576"/>
          </a:xfrm>
          <a:prstGeom prst="rect">
            <a:avLst/>
          </a:prstGeom>
          <a:noFill/>
          <a:ln/>
        </p:spPr>
        <p:txBody>
          <a:bodyPr wrap="square" lIns="0" tIns="0" rIns="0" bIns="0" rtlCol="0" anchor="t"/>
          <a:lstStyle/>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import RNA</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print("ViennaRNA", RNA.__version__)      # 2.7.2 と出れば OK</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seq = "GGCGCAGAAAUGCGCC"                 # 例題RNA（16 塩基）</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ss, mfe = RNA.fold(seq)                  # 構造と最小自由エネルギー</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print(seq)</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print(ss, f"{mfe:.2f} kcal/mol")</a:t>
            </a:r>
            <a:endParaRPr lang="en-US" sz="1400" dirty="0"/>
          </a:p>
        </p:txBody>
      </p:sp>
      <p:sp>
        <p:nvSpPr>
          <p:cNvPr id="9" name="Text 6"/>
          <p:cNvSpPr txBox="1"/>
          <p:nvPr/>
        </p:nvSpPr>
        <p:spPr>
          <a:xfrm>
            <a:off x="7498080" y="1188720"/>
            <a:ext cx="4206240" cy="32004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期待する出力</a:t>
            </a:r>
            <a:endParaRPr lang="en-US" sz="1400" dirty="0"/>
          </a:p>
        </p:txBody>
      </p:sp>
      <p:sp>
        <p:nvSpPr>
          <p:cNvPr id="10" name="Shape 7"/>
          <p:cNvSpPr/>
          <p:nvPr/>
        </p:nvSpPr>
        <p:spPr>
          <a:xfrm>
            <a:off x="7498080" y="1508760"/>
            <a:ext cx="4206240" cy="1280160"/>
          </a:xfrm>
          <a:prstGeom prst="rect">
            <a:avLst/>
          </a:prstGeom>
          <a:solidFill>
            <a:srgbClr val="F6F8F9"/>
          </a:solidFill>
          <a:ln w="9525">
            <a:solidFill>
              <a:srgbClr val="C9D3D6"/>
            </a:solidFill>
            <a:prstDash val="solid"/>
          </a:ln>
        </p:spPr>
      </p:sp>
      <p:sp>
        <p:nvSpPr>
          <p:cNvPr id="11" name="Text 8"/>
          <p:cNvSpPr txBox="1"/>
          <p:nvPr/>
        </p:nvSpPr>
        <p:spPr>
          <a:xfrm>
            <a:off x="7607808" y="1581912"/>
            <a:ext cx="3986784" cy="1133856"/>
          </a:xfrm>
          <a:prstGeom prst="rect">
            <a:avLst/>
          </a:prstGeom>
          <a:noFill/>
          <a:ln/>
        </p:spPr>
        <p:txBody>
          <a:bodyPr wrap="square" lIns="0" tIns="0" rIns="0" bIns="0" rtlCol="0" anchor="t"/>
          <a:lstStyle/>
          <a:p>
            <a:pPr indent="0" marL="0">
              <a:lnSpc>
                <a:spcPct val="105000"/>
              </a:lnSpc>
              <a:buNone/>
            </a:pPr>
            <a:r>
              <a:rPr lang="en-US" sz="1600" dirty="0">
                <a:solidFill>
                  <a:srgbClr val="1F2A30"/>
                </a:solidFill>
                <a:latin typeface="Consolas" pitchFamily="34" charset="0"/>
                <a:ea typeface="Consolas" pitchFamily="34" charset="-122"/>
                <a:cs typeface="Consolas" pitchFamily="34" charset="-120"/>
              </a:rPr>
              <a:t>ViennaRNA 2.7.2</a:t>
            </a:r>
            <a:endParaRPr lang="en-US" sz="1600" dirty="0"/>
          </a:p>
          <a:p>
            <a:pPr indent="0" marL="0">
              <a:lnSpc>
                <a:spcPct val="105000"/>
              </a:lnSpc>
              <a:buNone/>
            </a:pPr>
            <a:r>
              <a:rPr lang="en-US" sz="1600" dirty="0">
                <a:solidFill>
                  <a:srgbClr val="1F2A30"/>
                </a:solidFill>
                <a:latin typeface="Consolas" pitchFamily="34" charset="0"/>
                <a:ea typeface="Consolas" pitchFamily="34" charset="-122"/>
                <a:cs typeface="Consolas" pitchFamily="34" charset="-120"/>
              </a:rPr>
              <a:t>GGCGCAGAAAUGCGCC</a:t>
            </a:r>
            <a:endParaRPr lang="en-US" sz="1600" dirty="0"/>
          </a:p>
          <a:p>
            <a:pPr indent="0" marL="0">
              <a:lnSpc>
                <a:spcPct val="105000"/>
              </a:lnSpc>
              <a:buNone/>
            </a:pPr>
            <a:r>
              <a:rPr lang="en-US" sz="1600" dirty="0">
                <a:solidFill>
                  <a:srgbClr val="1F2A30"/>
                </a:solidFill>
                <a:latin typeface="Consolas" pitchFamily="34" charset="0"/>
                <a:ea typeface="Consolas" pitchFamily="34" charset="-122"/>
                <a:cs typeface="Consolas" pitchFamily="34" charset="-120"/>
              </a:rPr>
              <a:t>((((((....)))))) -10.20 kcal/mol</a:t>
            </a:r>
            <a:endParaRPr lang="en-US" sz="1600" dirty="0"/>
          </a:p>
        </p:txBody>
      </p:sp>
      <p:sp>
        <p:nvSpPr>
          <p:cNvPr id="12" name="Text 9"/>
          <p:cNvSpPr txBox="1"/>
          <p:nvPr/>
        </p:nvSpPr>
        <p:spPr>
          <a:xfrm>
            <a:off x="7498080" y="2880360"/>
            <a:ext cx="4206240" cy="365760"/>
          </a:xfrm>
          <a:prstGeom prst="rect">
            <a:avLst/>
          </a:prstGeom>
          <a:noFill/>
          <a:ln/>
        </p:spPr>
        <p:txBody>
          <a:bodyPr wrap="square" lIns="0" tIns="0" rIns="0" bIns="0" rtlCol="0" anchor="t"/>
          <a:lstStyle/>
          <a:p>
            <a:pPr indent="0" marL="0">
              <a:buNone/>
            </a:pPr>
            <a:r>
              <a:rPr lang="en-US" sz="1300" dirty="0">
                <a:solidFill>
                  <a:srgbClr val="5C6B73"/>
                </a:solidFill>
                <a:latin typeface="Meiryo" pitchFamily="34" charset="0"/>
                <a:ea typeface="Meiryo" pitchFamily="34" charset="-122"/>
                <a:cs typeface="Meiryo" pitchFamily="34" charset="-120"/>
              </a:rPr>
              <a:t>配布スクリプト：exercises/ex1_fold.py</a:t>
            </a:r>
            <a:endParaRPr lang="en-US" sz="1300" dirty="0"/>
          </a:p>
        </p:txBody>
      </p:sp>
      <p:sp>
        <p:nvSpPr>
          <p:cNvPr id="13" name="Shape 10"/>
          <p:cNvSpPr/>
          <p:nvPr/>
        </p:nvSpPr>
        <p:spPr>
          <a:xfrm>
            <a:off x="502920" y="3794760"/>
            <a:ext cx="2697480" cy="2286000"/>
          </a:xfrm>
          <a:prstGeom prst="roundRect">
            <a:avLst>
              <a:gd name="adj" fmla="val 4800"/>
            </a:avLst>
          </a:prstGeom>
          <a:solidFill>
            <a:srgbClr val="EEF3F4"/>
          </a:solidFill>
          <a:ln w="12700">
            <a:solidFill>
              <a:srgbClr val="EEF3F4"/>
            </a:solidFill>
            <a:prstDash val="solid"/>
          </a:ln>
        </p:spPr>
      </p:sp>
      <p:sp>
        <p:nvSpPr>
          <p:cNvPr id="14" name="Text 11"/>
          <p:cNvSpPr txBox="1"/>
          <p:nvPr/>
        </p:nvSpPr>
        <p:spPr>
          <a:xfrm>
            <a:off x="685800" y="390448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5" name="Text 12"/>
          <p:cNvSpPr txBox="1"/>
          <p:nvPr/>
        </p:nvSpPr>
        <p:spPr>
          <a:xfrm>
            <a:off x="685800" y="4361688"/>
            <a:ext cx="23317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配列 seq（今回は例題RNAのまま）</a:t>
            </a:r>
            <a:endParaRPr lang="en-US" sz="1500" dirty="0"/>
          </a:p>
        </p:txBody>
      </p:sp>
      <p:sp>
        <p:nvSpPr>
          <p:cNvPr id="16" name="Shape 13"/>
          <p:cNvSpPr/>
          <p:nvPr/>
        </p:nvSpPr>
        <p:spPr>
          <a:xfrm>
            <a:off x="3310128" y="3794760"/>
            <a:ext cx="2697480" cy="2286000"/>
          </a:xfrm>
          <a:prstGeom prst="roundRect">
            <a:avLst>
              <a:gd name="adj" fmla="val 4800"/>
            </a:avLst>
          </a:prstGeom>
          <a:solidFill>
            <a:srgbClr val="EEF3F4"/>
          </a:solidFill>
          <a:ln w="12700">
            <a:solidFill>
              <a:srgbClr val="EEF3F4"/>
            </a:solidFill>
            <a:prstDash val="solid"/>
          </a:ln>
        </p:spPr>
      </p:sp>
      <p:sp>
        <p:nvSpPr>
          <p:cNvPr id="17" name="Text 14"/>
          <p:cNvSpPr txBox="1"/>
          <p:nvPr/>
        </p:nvSpPr>
        <p:spPr>
          <a:xfrm>
            <a:off x="3493008" y="390448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8" name="Text 15"/>
          <p:cNvSpPr txBox="1"/>
          <p:nvPr/>
        </p:nvSpPr>
        <p:spPr>
          <a:xfrm>
            <a:off x="3493008" y="4361688"/>
            <a:ext cx="23317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RNA.fold(seq) を実行</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構造とエネルギーを表示</a:t>
            </a:r>
            <a:endParaRPr lang="en-US" sz="1500" dirty="0"/>
          </a:p>
        </p:txBody>
      </p:sp>
      <p:sp>
        <p:nvSpPr>
          <p:cNvPr id="19" name="Shape 16"/>
          <p:cNvSpPr/>
          <p:nvPr/>
        </p:nvSpPr>
        <p:spPr>
          <a:xfrm>
            <a:off x="6117336" y="3794760"/>
            <a:ext cx="2697480" cy="2286000"/>
          </a:xfrm>
          <a:prstGeom prst="roundRect">
            <a:avLst>
              <a:gd name="adj" fmla="val 4800"/>
            </a:avLst>
          </a:prstGeom>
          <a:solidFill>
            <a:srgbClr val="EEF3F4"/>
          </a:solidFill>
          <a:ln w="12700">
            <a:solidFill>
              <a:srgbClr val="EEF3F4"/>
            </a:solidFill>
            <a:prstDash val="solid"/>
          </a:ln>
        </p:spPr>
      </p:sp>
      <p:sp>
        <p:nvSpPr>
          <p:cNvPr id="20" name="Text 17"/>
          <p:cNvSpPr txBox="1"/>
          <p:nvPr/>
        </p:nvSpPr>
        <p:spPr>
          <a:xfrm>
            <a:off x="6300216" y="390448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21" name="Text 18"/>
          <p:cNvSpPr txBox="1"/>
          <p:nvPr/>
        </p:nvSpPr>
        <p:spPr>
          <a:xfrm>
            <a:off x="6300216" y="4361688"/>
            <a:ext cx="23317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dot-bracket 構造</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MFE（kcal/mol）</a:t>
            </a:r>
            <a:endParaRPr lang="en-US" sz="1500" dirty="0"/>
          </a:p>
        </p:txBody>
      </p:sp>
      <p:sp>
        <p:nvSpPr>
          <p:cNvPr id="22" name="Shape 19"/>
          <p:cNvSpPr/>
          <p:nvPr/>
        </p:nvSpPr>
        <p:spPr>
          <a:xfrm>
            <a:off x="8924544" y="3794760"/>
            <a:ext cx="2697480" cy="2286000"/>
          </a:xfrm>
          <a:prstGeom prst="roundRect">
            <a:avLst>
              <a:gd name="adj" fmla="val 4800"/>
            </a:avLst>
          </a:prstGeom>
          <a:solidFill>
            <a:srgbClr val="FBE9DC"/>
          </a:solidFill>
          <a:ln w="12700">
            <a:solidFill>
              <a:srgbClr val="FBE9DC"/>
            </a:solidFill>
            <a:prstDash val="solid"/>
          </a:ln>
        </p:spPr>
      </p:sp>
      <p:sp>
        <p:nvSpPr>
          <p:cNvPr id="23" name="Text 20"/>
          <p:cNvSpPr txBox="1"/>
          <p:nvPr/>
        </p:nvSpPr>
        <p:spPr>
          <a:xfrm>
            <a:off x="9107424" y="390448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4" name="Text 21"/>
          <p:cNvSpPr txBox="1"/>
          <p:nvPr/>
        </p:nvSpPr>
        <p:spPr>
          <a:xfrm>
            <a:off x="9107424" y="4361688"/>
            <a:ext cx="23317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括弧の対応は読めるか</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ループは何番か</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−10.20 は大きい？（次で比べる）</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演習1B：一塩基を変え、構造とエネルギーを比較する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22</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6583680" cy="2514600"/>
          </a:xfrm>
          <a:prstGeom prst="rect">
            <a:avLst/>
          </a:prstGeom>
          <a:solidFill>
            <a:srgbClr val="F6F8F9"/>
          </a:solidFill>
          <a:ln w="9525">
            <a:solidFill>
              <a:srgbClr val="C9D3D6"/>
            </a:solidFill>
            <a:prstDash val="solid"/>
          </a:ln>
        </p:spPr>
      </p:sp>
      <p:sp>
        <p:nvSpPr>
          <p:cNvPr id="8" name="Text 5"/>
          <p:cNvSpPr txBox="1"/>
          <p:nvPr/>
        </p:nvSpPr>
        <p:spPr>
          <a:xfrm>
            <a:off x="612648" y="1261872"/>
            <a:ext cx="6364224" cy="2368296"/>
          </a:xfrm>
          <a:prstGeom prst="rect">
            <a:avLst/>
          </a:prstGeom>
          <a:noFill/>
          <a:ln/>
        </p:spPr>
        <p:txBody>
          <a:bodyPr wrap="square" lIns="0" tIns="0" rIns="0" bIns="0" rtlCol="0" anchor="t"/>
          <a:lstStyle/>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import RNA</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seq = "GGCGCAGAAAUGCGCC"</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pos, new = 4, "A"          # ← ここを変える（位置は 1 始まり）</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mut = seq[:pos-1] + new + seq[pos:]</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for name, s in [("元の配列", seq), ("変更後  ", mut)]:</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ss, mfe = RNA.fold(s)</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print(name, s, ss, f"{mfe:.2f}")</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print("塩基対距離 =", RNA.bp_distance(RNA.fold(seq)[0], RNA.fold(mut)[0]))</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315200" y="1188720"/>
          <a:ext cx="4389120" cy="914400"/>
        </p:xfrm>
        <a:graphic>
          <a:graphicData uri="http://schemas.openxmlformats.org/drawingml/2006/table">
            <a:tbl>
              <a:tblPr/>
              <a:tblGrid>
                <a:gridCol w="1005840"/>
                <a:gridCol w="1920240"/>
                <a:gridCol w="731520"/>
                <a:gridCol w="73152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変更</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予測構造</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ΔG</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bp距離</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（元）</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-10.2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4: G→A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-4.8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8: A→C</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-10.2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3: C→U</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-8.3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1: G→A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-7.9</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10" name="Text 6"/>
          <p:cNvSpPr txBox="1"/>
          <p:nvPr/>
        </p:nvSpPr>
        <p:spPr>
          <a:xfrm>
            <a:off x="7315200" y="3337560"/>
            <a:ext cx="4389120" cy="50292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配布スクリプト：exercises/ex1b_mutate.py（表は期待される結果の例。位置: 元→新）</a:t>
            </a:r>
            <a:endParaRPr lang="en-US" sz="1100" dirty="0"/>
          </a:p>
        </p:txBody>
      </p:sp>
      <p:sp>
        <p:nvSpPr>
          <p:cNvPr id="11" name="Shape 7"/>
          <p:cNvSpPr/>
          <p:nvPr/>
        </p:nvSpPr>
        <p:spPr>
          <a:xfrm>
            <a:off x="502920" y="3931920"/>
            <a:ext cx="2697480" cy="2194560"/>
          </a:xfrm>
          <a:prstGeom prst="roundRect">
            <a:avLst>
              <a:gd name="adj" fmla="val 5000"/>
            </a:avLst>
          </a:prstGeom>
          <a:solidFill>
            <a:srgbClr val="EEF3F4"/>
          </a:solidFill>
          <a:ln w="12700">
            <a:solidFill>
              <a:srgbClr val="EEF3F4"/>
            </a:solidFill>
            <a:prstDash val="solid"/>
          </a:ln>
        </p:spPr>
      </p:sp>
      <p:sp>
        <p:nvSpPr>
          <p:cNvPr id="12" name="Text 8"/>
          <p:cNvSpPr txBox="1"/>
          <p:nvPr/>
        </p:nvSpPr>
        <p:spPr>
          <a:xfrm>
            <a:off x="685800"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3" name="Text 9"/>
          <p:cNvSpPr txBox="1"/>
          <p:nvPr/>
        </p:nvSpPr>
        <p:spPr>
          <a:xfrm>
            <a:off x="685800" y="4498848"/>
            <a:ext cx="2331720" cy="1508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pos（1〜16）と new（A/C/G/U）</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表の4例から1つ選ぶ</a:t>
            </a:r>
            <a:endParaRPr lang="en-US" sz="1400" dirty="0"/>
          </a:p>
        </p:txBody>
      </p:sp>
      <p:sp>
        <p:nvSpPr>
          <p:cNvPr id="14" name="Shape 10"/>
          <p:cNvSpPr/>
          <p:nvPr/>
        </p:nvSpPr>
        <p:spPr>
          <a:xfrm>
            <a:off x="3310128" y="3931920"/>
            <a:ext cx="2697480" cy="2194560"/>
          </a:xfrm>
          <a:prstGeom prst="roundRect">
            <a:avLst>
              <a:gd name="adj" fmla="val 5000"/>
            </a:avLst>
          </a:prstGeom>
          <a:solidFill>
            <a:srgbClr val="EEF3F4"/>
          </a:solidFill>
          <a:ln w="12700">
            <a:solidFill>
              <a:srgbClr val="EEF3F4"/>
            </a:solidFill>
            <a:prstDash val="solid"/>
          </a:ln>
        </p:spPr>
      </p:sp>
      <p:sp>
        <p:nvSpPr>
          <p:cNvPr id="15" name="Text 11"/>
          <p:cNvSpPr txBox="1"/>
          <p:nvPr/>
        </p:nvSpPr>
        <p:spPr>
          <a:xfrm>
            <a:off x="3493008"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6" name="Text 12"/>
          <p:cNvSpPr txBox="1"/>
          <p:nvPr/>
        </p:nvSpPr>
        <p:spPr>
          <a:xfrm>
            <a:off x="3493008" y="4498848"/>
            <a:ext cx="2331720" cy="1508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スクリプトを実行</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元と変更後の構造・ΔG を並べる</a:t>
            </a:r>
            <a:endParaRPr lang="en-US" sz="1400" dirty="0"/>
          </a:p>
        </p:txBody>
      </p:sp>
      <p:sp>
        <p:nvSpPr>
          <p:cNvPr id="17" name="Shape 13"/>
          <p:cNvSpPr/>
          <p:nvPr/>
        </p:nvSpPr>
        <p:spPr>
          <a:xfrm>
            <a:off x="6117336" y="3931920"/>
            <a:ext cx="2697480" cy="2194560"/>
          </a:xfrm>
          <a:prstGeom prst="roundRect">
            <a:avLst>
              <a:gd name="adj" fmla="val 5000"/>
            </a:avLst>
          </a:prstGeom>
          <a:solidFill>
            <a:srgbClr val="EEF3F4"/>
          </a:solidFill>
          <a:ln w="12700">
            <a:solidFill>
              <a:srgbClr val="EEF3F4"/>
            </a:solidFill>
            <a:prstDash val="solid"/>
          </a:ln>
        </p:spPr>
      </p:sp>
      <p:sp>
        <p:nvSpPr>
          <p:cNvPr id="18" name="Text 14"/>
          <p:cNvSpPr txBox="1"/>
          <p:nvPr/>
        </p:nvSpPr>
        <p:spPr>
          <a:xfrm>
            <a:off x="6300216"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19" name="Text 15"/>
          <p:cNvSpPr txBox="1"/>
          <p:nvPr/>
        </p:nvSpPr>
        <p:spPr>
          <a:xfrm>
            <a:off x="6300216" y="4498848"/>
            <a:ext cx="2331720" cy="1508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構造は変わったか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ΔG はいくつ変わったか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bp距離（構造の差）</a:t>
            </a:r>
            <a:endParaRPr lang="en-US" sz="1400" dirty="0"/>
          </a:p>
        </p:txBody>
      </p:sp>
      <p:sp>
        <p:nvSpPr>
          <p:cNvPr id="20" name="Shape 16"/>
          <p:cNvSpPr/>
          <p:nvPr/>
        </p:nvSpPr>
        <p:spPr>
          <a:xfrm>
            <a:off x="8924544" y="3931920"/>
            <a:ext cx="2697480" cy="2194560"/>
          </a:xfrm>
          <a:prstGeom prst="roundRect">
            <a:avLst>
              <a:gd name="adj" fmla="val 5000"/>
            </a:avLst>
          </a:prstGeom>
          <a:solidFill>
            <a:srgbClr val="FBE9DC"/>
          </a:solidFill>
          <a:ln w="12700">
            <a:solidFill>
              <a:srgbClr val="FBE9DC"/>
            </a:solidFill>
            <a:prstDash val="solid"/>
          </a:ln>
        </p:spPr>
      </p:sp>
      <p:sp>
        <p:nvSpPr>
          <p:cNvPr id="21" name="Text 17"/>
          <p:cNvSpPr txBox="1"/>
          <p:nvPr/>
        </p:nvSpPr>
        <p:spPr>
          <a:xfrm>
            <a:off x="9107424" y="404164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2" name="Text 18"/>
          <p:cNvSpPr txBox="1"/>
          <p:nvPr/>
        </p:nvSpPr>
        <p:spPr>
          <a:xfrm>
            <a:off x="9107424" y="4498848"/>
            <a:ext cx="2331720" cy="1508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どこを変えると壊れる？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どこは変えても平気？</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Hamming距離1でも構造差が0や2になるのはなぜ？</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2E8B57"/>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録画を再開します：inverse folding の説明</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19:45–20:00　目標構造から配列を探す問題と、RNAinverse の探索の仕組み</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演習1で見た「配列を変えると構造とエネルギーが変わる」を、逆向きに使います。</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予測と設計：入力と出力の違い</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24</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7680960" cy="914400"/>
        </p:xfrm>
        <a:graphic>
          <a:graphicData uri="http://schemas.openxmlformats.org/drawingml/2006/table">
            <a:tbl>
              <a:tblPr/>
              <a:tblGrid>
                <a:gridCol w="1188720"/>
                <a:gridCol w="2926080"/>
                <a:gridCol w="3566160"/>
              </a:tblGrid>
              <a:tr h="0">
                <a:tc>
                  <a:txBody>
                    <a:bodyPr/>
                    <a:lstStyle/>
                    <a:p>
                      <a:pPr algn="l" indent="0" marL="0">
                        <a:buNone/>
                      </a:pP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800" b="1" dirty="0">
                          <a:solidFill>
                            <a:srgbClr val="0A3540"/>
                          </a:solidFill>
                          <a:latin typeface="Meiryo" pitchFamily="34" charset="0"/>
                          <a:ea typeface="Meiryo" pitchFamily="34" charset="-122"/>
                          <a:cs typeface="Meiryo" pitchFamily="34" charset="-120"/>
                        </a:rPr>
                        <a:t>予測（fold）</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800" b="1" dirty="0">
                          <a:solidFill>
                            <a:srgbClr val="0A3540"/>
                          </a:solidFill>
                          <a:latin typeface="Meiryo" pitchFamily="34" charset="0"/>
                          <a:ea typeface="Meiryo" pitchFamily="34" charset="-122"/>
                          <a:cs typeface="Meiryo" pitchFamily="34" charset="-120"/>
                        </a:rPr>
                        <a:t>設計（inverse fold）</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入力</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配列 x</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目標構造 T</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出力</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構造 S と ΔG</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配列 x（MFE(x) = T になるもの）</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答えの数</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一つに決まる</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多数あり得る／見つからないこともある</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計算</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動的計画法（決定的、高速）</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予測を繰り返す探索（乱数に依存）</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評価</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エネルギーの最小化</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予測構造と目標の距離 d を最小化</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7" name="Shape 3"/>
          <p:cNvSpPr/>
          <p:nvPr/>
        </p:nvSpPr>
        <p:spPr>
          <a:xfrm>
            <a:off x="8412480" y="1234440"/>
            <a:ext cx="3291840" cy="4846320"/>
          </a:xfrm>
          <a:prstGeom prst="roundRect">
            <a:avLst>
              <a:gd name="adj" fmla="val 3333"/>
            </a:avLst>
          </a:prstGeom>
          <a:solidFill>
            <a:srgbClr val="EEF3F4"/>
          </a:solidFill>
          <a:ln w="12700">
            <a:solidFill>
              <a:srgbClr val="EEF3F4"/>
            </a:solidFill>
            <a:prstDash val="solid"/>
          </a:ln>
        </p:spPr>
      </p:sp>
      <p:sp>
        <p:nvSpPr>
          <p:cNvPr id="8" name="Text 4"/>
          <p:cNvSpPr txBox="1"/>
          <p:nvPr/>
        </p:nvSpPr>
        <p:spPr>
          <a:xfrm>
            <a:off x="8595360" y="1344168"/>
            <a:ext cx="29260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同じ評価器</a:t>
            </a:r>
            <a:endParaRPr lang="en-US" sz="2000" dirty="0"/>
          </a:p>
        </p:txBody>
      </p:sp>
      <p:sp>
        <p:nvSpPr>
          <p:cNvPr id="9" name="Text 5"/>
          <p:cNvSpPr txBox="1"/>
          <p:nvPr/>
        </p:nvSpPr>
        <p:spPr>
          <a:xfrm>
            <a:off x="8595360" y="1801368"/>
            <a:ext cx="2926080" cy="41605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設計は予測プログラムを何度も呼ぶ</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「少し変えて、再予測して、目標に近づいたか見る」の繰り返し</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目標に届いたら終了。届かなければ「失敗」として距離を返す</a:t>
            </a:r>
            <a:endParaRPr lang="en-US" sz="1600" dirty="0"/>
          </a:p>
        </p:txBody>
      </p:sp>
      <p:sp>
        <p:nvSpPr>
          <p:cNvPr id="10" name="Text 6"/>
          <p:cNvSpPr txBox="1"/>
          <p:nvPr/>
        </p:nvSpPr>
        <p:spPr>
          <a:xfrm>
            <a:off x="502920" y="4937760"/>
            <a:ext cx="7680960" cy="731520"/>
          </a:xfrm>
          <a:prstGeom prst="rect">
            <a:avLst/>
          </a:prstGeom>
          <a:noFill/>
          <a:ln/>
        </p:spPr>
        <p:txBody>
          <a:bodyPr wrap="square" lIns="0" tIns="0" rIns="0" bIns="0" rtlCol="0" anchor="t"/>
          <a:lstStyle/>
          <a:p>
            <a:pPr indent="0" marL="0">
              <a:buNone/>
            </a:pPr>
            <a:r>
              <a:rPr lang="en-US" sz="1700" dirty="0">
                <a:solidFill>
                  <a:srgbClr val="E36414"/>
                </a:solidFill>
                <a:latin typeface="Meiryo" pitchFamily="34" charset="0"/>
                <a:ea typeface="Meiryo" pitchFamily="34" charset="-122"/>
                <a:cs typeface="Meiryo" pitchFamily="34" charset="-120"/>
              </a:rPr>
              <a:t>演習1B でやったこと（1 塩基変えて再予測）を、目標に近づく方向へ自動で繰り返すのが設計</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配列設計の難しさ：目標以外の構造との競合</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25</a:t>
            </a:r>
            <a:endParaRPr lang="en-US" sz="1100" dirty="0"/>
          </a:p>
        </p:txBody>
      </p:sp>
      <p:sp>
        <p:nvSpPr>
          <p:cNvPr id="6" name="Text 3"/>
          <p:cNvSpPr txBox="1"/>
          <p:nvPr/>
        </p:nvSpPr>
        <p:spPr>
          <a:xfrm>
            <a:off x="502920" y="1143000"/>
            <a:ext cx="64008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RNAinverse の出力例（MFE 構造は目標に一致）</a:t>
            </a:r>
            <a:endParaRPr lang="en-US" sz="1600" dirty="0"/>
          </a:p>
        </p:txBody>
      </p:sp>
      <p:sp>
        <p:nvSpPr>
          <p:cNvPr id="7" name="Shape 4"/>
          <p:cNvSpPr/>
          <p:nvPr/>
        </p:nvSpPr>
        <p:spPr>
          <a:xfrm>
            <a:off x="685165" y="1972945"/>
            <a:ext cx="1997710" cy="1997710"/>
          </a:xfrm>
          <a:prstGeom prst="arc">
            <a:avLst>
              <a:gd name="adj1" fmla="val 10800000"/>
              <a:gd name="adj2" fmla="val 21600000"/>
            </a:avLst>
          </a:prstGeom>
          <a:ln w="12675">
            <a:solidFill>
              <a:srgbClr val="0F4C5C">
                <a:alpha val="59000"/>
              </a:srgbClr>
            </a:solidFill>
            <a:prstDash val="solid"/>
          </a:ln>
        </p:spPr>
      </p:sp>
      <p:sp>
        <p:nvSpPr>
          <p:cNvPr id="8" name="Shape 5"/>
          <p:cNvSpPr/>
          <p:nvPr/>
        </p:nvSpPr>
        <p:spPr>
          <a:xfrm>
            <a:off x="685165" y="1609725"/>
            <a:ext cx="2724150" cy="2724150"/>
          </a:xfrm>
          <a:prstGeom prst="arc">
            <a:avLst>
              <a:gd name="adj1" fmla="val 10800000"/>
              <a:gd name="adj2" fmla="val 21600000"/>
            </a:avLst>
          </a:prstGeom>
          <a:ln w="27407">
            <a:solidFill>
              <a:srgbClr val="0F4C5C">
                <a:alpha val="76000"/>
              </a:srgbClr>
            </a:solidFill>
            <a:prstDash val="solid"/>
          </a:ln>
        </p:spPr>
      </p:sp>
      <p:sp>
        <p:nvSpPr>
          <p:cNvPr id="9" name="Shape 6"/>
          <p:cNvSpPr/>
          <p:nvPr/>
        </p:nvSpPr>
        <p:spPr>
          <a:xfrm>
            <a:off x="866775" y="2154555"/>
            <a:ext cx="1634490" cy="1634490"/>
          </a:xfrm>
          <a:prstGeom prst="arc">
            <a:avLst>
              <a:gd name="adj1" fmla="val 10800000"/>
              <a:gd name="adj2" fmla="val 21600000"/>
            </a:avLst>
          </a:prstGeom>
          <a:ln w="12370">
            <a:solidFill>
              <a:srgbClr val="0F4C5C">
                <a:alpha val="58000"/>
              </a:srgbClr>
            </a:solidFill>
            <a:prstDash val="solid"/>
          </a:ln>
        </p:spPr>
      </p:sp>
      <p:sp>
        <p:nvSpPr>
          <p:cNvPr id="10" name="Shape 7"/>
          <p:cNvSpPr/>
          <p:nvPr/>
        </p:nvSpPr>
        <p:spPr>
          <a:xfrm>
            <a:off x="866775" y="2063750"/>
            <a:ext cx="1816100" cy="1816100"/>
          </a:xfrm>
          <a:prstGeom prst="arc">
            <a:avLst>
              <a:gd name="adj1" fmla="val 10800000"/>
              <a:gd name="adj2" fmla="val 21600000"/>
            </a:avLst>
          </a:prstGeom>
          <a:ln w="10033">
            <a:solidFill>
              <a:srgbClr val="0F4C5C">
                <a:alpha val="56000"/>
              </a:srgbClr>
            </a:solidFill>
            <a:prstDash val="solid"/>
          </a:ln>
        </p:spPr>
      </p:sp>
      <p:sp>
        <p:nvSpPr>
          <p:cNvPr id="11" name="Shape 8"/>
          <p:cNvSpPr/>
          <p:nvPr/>
        </p:nvSpPr>
        <p:spPr>
          <a:xfrm>
            <a:off x="866775" y="1791335"/>
            <a:ext cx="2360930" cy="2360930"/>
          </a:xfrm>
          <a:prstGeom prst="arc">
            <a:avLst>
              <a:gd name="adj1" fmla="val 10800000"/>
              <a:gd name="adj2" fmla="val 21600000"/>
            </a:avLst>
          </a:prstGeom>
          <a:ln w="27610">
            <a:solidFill>
              <a:srgbClr val="0F4C5C">
                <a:alpha val="76000"/>
              </a:srgbClr>
            </a:solidFill>
            <a:prstDash val="solid"/>
          </a:ln>
        </p:spPr>
      </p:sp>
      <p:sp>
        <p:nvSpPr>
          <p:cNvPr id="12" name="Shape 9"/>
          <p:cNvSpPr/>
          <p:nvPr/>
        </p:nvSpPr>
        <p:spPr>
          <a:xfrm>
            <a:off x="866775" y="1700530"/>
            <a:ext cx="2542540" cy="2542540"/>
          </a:xfrm>
          <a:prstGeom prst="arc">
            <a:avLst>
              <a:gd name="adj1" fmla="val 10800000"/>
              <a:gd name="adj2" fmla="val 21600000"/>
            </a:avLst>
          </a:prstGeom>
          <a:ln w="11049">
            <a:solidFill>
              <a:srgbClr val="0F4C5C">
                <a:alpha val="57000"/>
              </a:srgbClr>
            </a:solidFill>
            <a:prstDash val="solid"/>
          </a:ln>
        </p:spPr>
      </p:sp>
      <p:sp>
        <p:nvSpPr>
          <p:cNvPr id="13" name="Shape 10"/>
          <p:cNvSpPr/>
          <p:nvPr/>
        </p:nvSpPr>
        <p:spPr>
          <a:xfrm>
            <a:off x="1048385" y="2336165"/>
            <a:ext cx="1271270" cy="1271270"/>
          </a:xfrm>
          <a:prstGeom prst="arc">
            <a:avLst>
              <a:gd name="adj1" fmla="val 10800000"/>
              <a:gd name="adj2" fmla="val 21600000"/>
            </a:avLst>
          </a:prstGeom>
          <a:ln w="12421">
            <a:solidFill>
              <a:srgbClr val="0F4C5C">
                <a:alpha val="58000"/>
              </a:srgbClr>
            </a:solidFill>
            <a:prstDash val="solid"/>
          </a:ln>
        </p:spPr>
      </p:sp>
      <p:sp>
        <p:nvSpPr>
          <p:cNvPr id="14" name="Shape 11"/>
          <p:cNvSpPr/>
          <p:nvPr/>
        </p:nvSpPr>
        <p:spPr>
          <a:xfrm>
            <a:off x="1048385" y="1972945"/>
            <a:ext cx="1997710" cy="1997710"/>
          </a:xfrm>
          <a:prstGeom prst="arc">
            <a:avLst>
              <a:gd name="adj1" fmla="val 10800000"/>
              <a:gd name="adj2" fmla="val 21600000"/>
            </a:avLst>
          </a:prstGeom>
          <a:ln w="41072">
            <a:solidFill>
              <a:srgbClr val="0F4C5C">
                <a:alpha val="92000"/>
              </a:srgbClr>
            </a:solidFill>
            <a:prstDash val="solid"/>
          </a:ln>
        </p:spPr>
      </p:sp>
      <p:sp>
        <p:nvSpPr>
          <p:cNvPr id="15" name="Shape 12"/>
          <p:cNvSpPr/>
          <p:nvPr/>
        </p:nvSpPr>
        <p:spPr>
          <a:xfrm>
            <a:off x="1229995" y="2517775"/>
            <a:ext cx="908050" cy="908050"/>
          </a:xfrm>
          <a:prstGeom prst="arc">
            <a:avLst>
              <a:gd name="adj1" fmla="val 10800000"/>
              <a:gd name="adj2" fmla="val 21600000"/>
            </a:avLst>
          </a:prstGeom>
          <a:ln w="12827">
            <a:solidFill>
              <a:srgbClr val="0F4C5C">
                <a:alpha val="59000"/>
              </a:srgbClr>
            </a:solidFill>
            <a:prstDash val="solid"/>
          </a:ln>
        </p:spPr>
      </p:sp>
      <p:sp>
        <p:nvSpPr>
          <p:cNvPr id="16" name="Shape 13"/>
          <p:cNvSpPr/>
          <p:nvPr/>
        </p:nvSpPr>
        <p:spPr>
          <a:xfrm>
            <a:off x="1229995" y="2426970"/>
            <a:ext cx="1089660" cy="1089660"/>
          </a:xfrm>
          <a:prstGeom prst="arc">
            <a:avLst>
              <a:gd name="adj1" fmla="val 10800000"/>
              <a:gd name="adj2" fmla="val 21600000"/>
            </a:avLst>
          </a:prstGeom>
          <a:ln w="10084">
            <a:solidFill>
              <a:srgbClr val="0F4C5C">
                <a:alpha val="56000"/>
              </a:srgbClr>
            </a:solidFill>
            <a:prstDash val="solid"/>
          </a:ln>
        </p:spPr>
      </p:sp>
      <p:sp>
        <p:nvSpPr>
          <p:cNvPr id="17" name="Shape 14"/>
          <p:cNvSpPr/>
          <p:nvPr/>
        </p:nvSpPr>
        <p:spPr>
          <a:xfrm>
            <a:off x="1229995" y="2154555"/>
            <a:ext cx="1634490" cy="1634490"/>
          </a:xfrm>
          <a:prstGeom prst="arc">
            <a:avLst>
              <a:gd name="adj1" fmla="val 10800000"/>
              <a:gd name="adj2" fmla="val 21600000"/>
            </a:avLst>
          </a:prstGeom>
          <a:ln w="53619">
            <a:solidFill>
              <a:srgbClr val="0F4C5C"/>
            </a:solidFill>
            <a:prstDash val="solid"/>
          </a:ln>
        </p:spPr>
      </p:sp>
      <p:sp>
        <p:nvSpPr>
          <p:cNvPr id="18" name="Shape 15"/>
          <p:cNvSpPr/>
          <p:nvPr/>
        </p:nvSpPr>
        <p:spPr>
          <a:xfrm>
            <a:off x="1411605" y="2336165"/>
            <a:ext cx="1271270" cy="1271270"/>
          </a:xfrm>
          <a:prstGeom prst="arc">
            <a:avLst>
              <a:gd name="adj1" fmla="val 10800000"/>
              <a:gd name="adj2" fmla="val 21600000"/>
            </a:avLst>
          </a:prstGeom>
          <a:ln w="53670">
            <a:solidFill>
              <a:srgbClr val="0F4C5C"/>
            </a:solidFill>
            <a:prstDash val="solid"/>
          </a:ln>
        </p:spPr>
      </p:sp>
      <p:sp>
        <p:nvSpPr>
          <p:cNvPr id="19" name="Shape 16"/>
          <p:cNvSpPr/>
          <p:nvPr/>
        </p:nvSpPr>
        <p:spPr>
          <a:xfrm>
            <a:off x="1593215" y="2517775"/>
            <a:ext cx="908050" cy="908050"/>
          </a:xfrm>
          <a:prstGeom prst="arc">
            <a:avLst>
              <a:gd name="adj1" fmla="val 10800000"/>
              <a:gd name="adj2" fmla="val 21600000"/>
            </a:avLst>
          </a:prstGeom>
          <a:ln w="45390">
            <a:solidFill>
              <a:srgbClr val="0F4C5C">
                <a:alpha val="97000"/>
              </a:srgbClr>
            </a:solidFill>
            <a:prstDash val="solid"/>
          </a:ln>
        </p:spPr>
      </p:sp>
      <p:sp>
        <p:nvSpPr>
          <p:cNvPr id="20" name="Text 17"/>
          <p:cNvSpPr txBox="1"/>
          <p:nvPr/>
        </p:nvSpPr>
        <p:spPr>
          <a:xfrm>
            <a:off x="594360" y="2971800"/>
            <a:ext cx="3180080" cy="495300"/>
          </a:xfrm>
          <a:prstGeom prst="rect">
            <a:avLst/>
          </a:prstGeom>
          <a:noFill/>
          <a:ln/>
        </p:spPr>
        <p:txBody>
          <a:bodyPr wrap="square" lIns="0" tIns="0" rIns="0" bIns="0" rtlCol="0" anchor="ctr"/>
          <a:lstStyle/>
          <a:p>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CC79A7"/>
                </a:solidFill>
                <a:latin typeface="Consolas" pitchFamily="34" charset="0"/>
                <a:ea typeface="Consolas" pitchFamily="34" charset="-122"/>
                <a:cs typeface="Consolas" pitchFamily="34" charset="-120"/>
              </a:rPr>
              <a:t>U</a:t>
            </a:r>
            <a:pPr indent="0" marL="0">
              <a:buNone/>
            </a:pPr>
            <a:r>
              <a:rPr lang="en-US" sz="2600" b="1" dirty="0">
                <a:solidFill>
                  <a:srgbClr val="56B4E9"/>
                </a:solidFill>
                <a:latin typeface="Consolas" pitchFamily="34" charset="0"/>
                <a:ea typeface="Consolas" pitchFamily="34" charset="-122"/>
                <a:cs typeface="Consolas" pitchFamily="34" charset="-120"/>
              </a:rPr>
              <a:t>C</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E69F00"/>
                </a:solidFill>
                <a:latin typeface="Consolas" pitchFamily="34" charset="0"/>
                <a:ea typeface="Consolas" pitchFamily="34" charset="-122"/>
                <a:cs typeface="Consolas" pitchFamily="34" charset="-120"/>
              </a:rPr>
              <a:t>A</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CC79A7"/>
                </a:solidFill>
                <a:latin typeface="Consolas" pitchFamily="34" charset="0"/>
                <a:ea typeface="Consolas" pitchFamily="34" charset="-122"/>
                <a:cs typeface="Consolas" pitchFamily="34" charset="-120"/>
              </a:rPr>
              <a:t>U</a:t>
            </a:r>
            <a:pPr indent="0" marL="0">
              <a:buNone/>
            </a:pPr>
            <a:r>
              <a:rPr lang="en-US" sz="2600" b="1" dirty="0">
                <a:solidFill>
                  <a:srgbClr val="56B4E9"/>
                </a:solidFill>
                <a:latin typeface="Consolas" pitchFamily="34" charset="0"/>
                <a:ea typeface="Consolas" pitchFamily="34" charset="-122"/>
                <a:cs typeface="Consolas" pitchFamily="34" charset="-120"/>
              </a:rPr>
              <a:t>C</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CC79A7"/>
                </a:solidFill>
                <a:latin typeface="Consolas" pitchFamily="34" charset="0"/>
                <a:ea typeface="Consolas" pitchFamily="34" charset="-122"/>
                <a:cs typeface="Consolas" pitchFamily="34" charset="-120"/>
              </a:rPr>
              <a:t>U</a:t>
            </a:r>
            <a:pPr indent="0" marL="0">
              <a:buNone/>
            </a:pPr>
            <a:r>
              <a:rPr lang="en-US" sz="2600" b="1" dirty="0">
                <a:solidFill>
                  <a:srgbClr val="56B4E9"/>
                </a:solidFill>
                <a:latin typeface="Consolas" pitchFamily="34" charset="0"/>
                <a:ea typeface="Consolas" pitchFamily="34" charset="-122"/>
                <a:cs typeface="Consolas" pitchFamily="34" charset="-120"/>
              </a:rPr>
              <a:t>C</a:t>
            </a:r>
            <a:endParaRPr lang="en-US" sz="2600" dirty="0"/>
          </a:p>
        </p:txBody>
      </p:sp>
      <p:sp>
        <p:nvSpPr>
          <p:cNvPr id="21" name="Text 18"/>
          <p:cNvSpPr txBox="1"/>
          <p:nvPr/>
        </p:nvSpPr>
        <p:spPr>
          <a:xfrm>
            <a:off x="594360" y="3429000"/>
            <a:ext cx="3180080" cy="495300"/>
          </a:xfrm>
          <a:prstGeom prst="rect">
            <a:avLst/>
          </a:prstGeom>
          <a:noFill/>
          <a:ln/>
        </p:spPr>
        <p:txBody>
          <a:bodyPr wrap="square" lIns="0" tIns="0" rIns="0" bIns="0" rtlCol="0" anchor="ctr"/>
          <a:lstStyle/>
          <a:p>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5C6B73"/>
                </a:solidFill>
                <a:latin typeface="Consolas" pitchFamily="34" charset="0"/>
                <a:ea typeface="Consolas" pitchFamily="34" charset="-122"/>
                <a:cs typeface="Consolas" pitchFamily="34" charset="-120"/>
              </a:rPr>
              <a:t>.</a:t>
            </a:r>
            <a:pPr indent="0" marL="0">
              <a:buNone/>
            </a:pPr>
            <a:r>
              <a:rPr lang="en-US" sz="2600" b="1" dirty="0">
                <a:solidFill>
                  <a:srgbClr val="5C6B73"/>
                </a:solidFill>
                <a:latin typeface="Consolas" pitchFamily="34" charset="0"/>
                <a:ea typeface="Consolas" pitchFamily="34" charset="-122"/>
                <a:cs typeface="Consolas" pitchFamily="34" charset="-120"/>
              </a:rPr>
              <a:t>.</a:t>
            </a:r>
            <a:pPr indent="0" marL="0">
              <a:buNone/>
            </a:pPr>
            <a:r>
              <a:rPr lang="en-US" sz="2600" b="1" dirty="0">
                <a:solidFill>
                  <a:srgbClr val="5C6B73"/>
                </a:solidFill>
                <a:latin typeface="Consolas" pitchFamily="34" charset="0"/>
                <a:ea typeface="Consolas" pitchFamily="34" charset="-122"/>
                <a:cs typeface="Consolas" pitchFamily="34" charset="-120"/>
              </a:rPr>
              <a:t>.</a:t>
            </a:r>
            <a:pPr indent="0" marL="0">
              <a:buNone/>
            </a:pPr>
            <a:r>
              <a:rPr lang="en-US" sz="2600" b="1" dirty="0">
                <a:solidFill>
                  <a:srgbClr val="5C6B73"/>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endParaRPr lang="en-US" sz="2600" dirty="0"/>
          </a:p>
        </p:txBody>
      </p:sp>
      <p:sp>
        <p:nvSpPr>
          <p:cNvPr id="22" name="Text 19"/>
          <p:cNvSpPr txBox="1"/>
          <p:nvPr/>
        </p:nvSpPr>
        <p:spPr>
          <a:xfrm>
            <a:off x="594360" y="3931920"/>
            <a:ext cx="5943600" cy="411480"/>
          </a:xfrm>
          <a:prstGeom prst="rect">
            <a:avLst/>
          </a:prstGeom>
          <a:noFill/>
          <a:ln/>
        </p:spPr>
        <p:txBody>
          <a:bodyPr wrap="square" lIns="0" tIns="0" rIns="0" bIns="0" rtlCol="0" anchor="t"/>
          <a:lstStyle/>
          <a:p>
            <a:pPr indent="0" marL="0">
              <a:buNone/>
            </a:pPr>
            <a:r>
              <a:rPr lang="en-US" sz="1600" dirty="0">
                <a:solidFill>
                  <a:srgbClr val="E36414"/>
                </a:solidFill>
                <a:latin typeface="Meiryo" pitchFamily="34" charset="0"/>
                <a:ea typeface="Meiryo" pitchFamily="34" charset="-122"/>
                <a:cs typeface="Meiryo" pitchFamily="34" charset="-120"/>
              </a:rPr>
              <a:t>ΔG = -1.1 kcal/mol　　目標構造の確率 P(T) = 0.232</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75120" y="1234440"/>
          <a:ext cx="5029200" cy="914400"/>
        </p:xfrm>
        <a:graphic>
          <a:graphicData uri="http://schemas.openxmlformats.org/drawingml/2006/table">
            <a:tbl>
              <a:tblPr/>
              <a:tblGrid>
                <a:gridCol w="3108960"/>
                <a:gridCol w="914400"/>
                <a:gridCol w="1005840"/>
              </a:tblGrid>
              <a:tr h="0">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構造</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ΔG</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P</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-1.1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0.232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-1.0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0.197</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-0.9</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0.168</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0.054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0.046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24" name="Text 20"/>
          <p:cNvSpPr txBox="1"/>
          <p:nvPr/>
        </p:nvSpPr>
        <p:spPr>
          <a:xfrm>
            <a:off x="6675120" y="3703320"/>
            <a:ext cx="5029200" cy="45720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同じ配列がとりうる構造（上位5つ）。目標（1行目）の確率は 23% にすぎない</a:t>
            </a:r>
            <a:endParaRPr lang="en-US" sz="1200" dirty="0"/>
          </a:p>
        </p:txBody>
      </p:sp>
      <p:sp>
        <p:nvSpPr>
          <p:cNvPr id="25" name="Shape 21"/>
          <p:cNvSpPr/>
          <p:nvPr/>
        </p:nvSpPr>
        <p:spPr>
          <a:xfrm>
            <a:off x="502920" y="4434840"/>
            <a:ext cx="11155680" cy="1691640"/>
          </a:xfrm>
          <a:prstGeom prst="roundRect">
            <a:avLst>
              <a:gd name="adj" fmla="val 6486"/>
            </a:avLst>
          </a:prstGeom>
          <a:solidFill>
            <a:srgbClr val="EEF3F4"/>
          </a:solidFill>
          <a:ln w="12700">
            <a:solidFill>
              <a:srgbClr val="EEF3F4"/>
            </a:solidFill>
            <a:prstDash val="solid"/>
          </a:ln>
        </p:spPr>
      </p:sp>
      <p:sp>
        <p:nvSpPr>
          <p:cNvPr id="26" name="Text 22"/>
          <p:cNvSpPr txBox="1"/>
          <p:nvPr/>
        </p:nvSpPr>
        <p:spPr>
          <a:xfrm>
            <a:off x="685800" y="4544568"/>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設計で起こること</a:t>
            </a:r>
            <a:endParaRPr lang="en-US" sz="2000" dirty="0"/>
          </a:p>
        </p:txBody>
      </p:sp>
      <p:sp>
        <p:nvSpPr>
          <p:cNvPr id="27" name="Text 23"/>
          <p:cNvSpPr txBox="1"/>
          <p:nvPr/>
        </p:nvSpPr>
        <p:spPr>
          <a:xfrm>
            <a:off x="685800" y="5001768"/>
            <a:ext cx="107899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目標以外の構造がほぼ同じエネルギーで存在すると、MFE が一致しても分子は揺らぐ</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MFE の一致（d = 0）と高い目標確率は別の条件（演習2D で確かめる）</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対策例：目標構造の確率を目的関数にする（RNAinverse の -Fp、inverse_pf_fold）</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元論文の考え方：Hofacker et al. (1994) の inverse folding</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26</a:t>
            </a:r>
            <a:endParaRPr lang="en-US" sz="1100" dirty="0"/>
          </a:p>
        </p:txBody>
      </p:sp>
      <p:sp>
        <p:nvSpPr>
          <p:cNvPr id="6" name="Text 3"/>
          <p:cNvSpPr txBox="1"/>
          <p:nvPr/>
        </p:nvSpPr>
        <p:spPr>
          <a:xfrm>
            <a:off x="9037015" y="54864"/>
            <a:ext cx="2651760" cy="274320"/>
          </a:xfrm>
          <a:prstGeom prst="roundRect">
            <a:avLst>
              <a:gd name="adj" fmla="val 26667"/>
            </a:avLst>
          </a:prstGeom>
          <a:solidFill>
            <a:srgbClr val="5C6B73"/>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補足扱い：本編は要点のみ</a:t>
            </a:r>
            <a:endParaRPr lang="en-US" sz="1200" dirty="0"/>
          </a:p>
        </p:txBody>
      </p:sp>
      <p:pic>
        <p:nvPicPr>
          <p:cNvPr id="7" name="Image 0" descr="/Users/sumishunsuke/Desktop/RNA/Course_RNAinverse/build/papers/hofacker_fig5.png">    </p:cNvPr>
          <p:cNvPicPr>
            <a:picLocks noChangeAspect="1"/>
          </p:cNvPicPr>
          <p:nvPr/>
        </p:nvPicPr>
        <p:blipFill>
          <a:blip r:embed="rId1"/>
          <a:srcRect l="0" r="0" t="0" b="0"/>
          <a:stretch/>
        </p:blipFill>
        <p:spPr>
          <a:xfrm>
            <a:off x="502920" y="1143000"/>
            <a:ext cx="3749040" cy="4206240"/>
          </a:xfrm>
          <a:prstGeom prst="rect">
            <a:avLst/>
          </a:prstGeom>
        </p:spPr>
      </p:pic>
      <p:sp>
        <p:nvSpPr>
          <p:cNvPr id="8" name="Text 4"/>
          <p:cNvSpPr txBox="1"/>
          <p:nvPr/>
        </p:nvSpPr>
        <p:spPr>
          <a:xfrm>
            <a:off x="502920" y="5394960"/>
            <a:ext cx="3749040" cy="731520"/>
          </a:xfrm>
          <a:prstGeom prst="rect">
            <a:avLst/>
          </a:prstGeom>
          <a:noFill/>
          <a:ln/>
        </p:spPr>
        <p:txBody>
          <a:bodyPr wrap="square" lIns="0" tIns="0" rIns="0" bIns="0" rtlCol="0" anchor="b"/>
          <a:lstStyle/>
          <a:p>
            <a:pPr indent="0" marL="0">
              <a:buNone/>
            </a:pPr>
            <a:r>
              <a:rPr lang="en-US" sz="1200" dirty="0">
                <a:solidFill>
                  <a:srgbClr val="5C6B73"/>
                </a:solidFill>
                <a:latin typeface="Meiryo" pitchFamily="34" charset="0"/>
                <a:ea typeface="Meiryo" pitchFamily="34" charset="-122"/>
                <a:cs typeface="Meiryo" pitchFamily="34" charset="-120"/>
              </a:rPr>
              <a:t>Hofacker et al. (1994) Monatsh. Chem. 125:167–188, Fig. 5「Flow chart of the inverse folding algorithm」</a:t>
            </a:r>
            <a:endParaRPr lang="en-US" sz="1200" dirty="0"/>
          </a:p>
        </p:txBody>
      </p:sp>
      <p:sp>
        <p:nvSpPr>
          <p:cNvPr id="9" name="Text 5"/>
          <p:cNvSpPr txBox="1"/>
          <p:nvPr/>
        </p:nvSpPr>
        <p:spPr>
          <a:xfrm>
            <a:off x="4526280" y="1143000"/>
            <a:ext cx="7178040" cy="3977640"/>
          </a:xfrm>
          <a:prstGeom prst="rect">
            <a:avLst/>
          </a:prstGeom>
          <a:noFill/>
          <a:ln/>
        </p:spPr>
        <p:txBody>
          <a:bodyPr wrap="square" lIns="0" tIns="0" rIns="0" bIns="0" rtlCol="0" anchor="t">
            <a:normAutofit/>
          </a:bodyPr>
          <a:lstStyle/>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候補は「適合配列」だけ：目標の塩基対の位置で対合できる文字をもつ配列</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コスト＝構造距離 f(I) = d(S(I), T)。距離の選び方は性能に大きく影響しない（論文）。現行実装は塩基対距離</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部分構造から順に：ヘアピン → 1 塩基対ずつ伸ばす → 分岐で結合 → 全長（Fig. 5）。全長の fold 回数を減らし、局所解に陥りにくくする</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最適化は最も単純な適応的探索：ランダム変異（非対合は 1 塩基、対合は 2 塩基同時）を、コストが下がれば採用。改善なしで停止し、新しい初期配列からやり直す</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「正しく対合していない位置に限定」する選択肢（現行実装の既定）</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分配関数版：目標構造の確率 P(T) = exp(−ΔG(T)/RT)/Q を最大化（式 6）。全長で最適化するため遅い</a:t>
            </a:r>
            <a:endParaRPr lang="en-US" sz="15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26280" y="5166360"/>
          <a:ext cx="7178040" cy="914400"/>
        </p:xfrm>
        <a:graphic>
          <a:graphicData uri="http://schemas.openxmlformats.org/drawingml/2006/table">
            <a:tbl>
              <a:tblPr/>
              <a:tblGrid>
                <a:gridCol w="4846320"/>
                <a:gridCol w="233172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Fig. 7 の例（tRNA-Phe、76 塩基）</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300" b="1" dirty="0">
                          <a:solidFill>
                            <a:srgbClr val="0A3540"/>
                          </a:solidFill>
                          <a:latin typeface="Meiryo" pitchFamily="34" charset="0"/>
                          <a:ea typeface="Meiryo" pitchFamily="34" charset="-122"/>
                          <a:cs typeface="Meiryo" pitchFamily="34" charset="-120"/>
                        </a:rPr>
                        <a:t>P(目標構造)</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-Fm（MFE 目的）で得た 3 配列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0.03 〜 0.09</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009E73"/>
                          </a:solidFill>
                          <a:latin typeface="Meiryo" pitchFamily="34" charset="0"/>
                          <a:ea typeface="Meiryo" pitchFamily="34" charset="-122"/>
                          <a:cs typeface="Meiryo" pitchFamily="34" charset="-120"/>
                        </a:rPr>
                        <a:t>-Fp（確率目的）で得た 3 配列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009E73"/>
                          </a:solidFill>
                          <a:latin typeface="Meiryo" pitchFamily="34" charset="0"/>
                          <a:ea typeface="Meiryo" pitchFamily="34" charset="-122"/>
                          <a:cs typeface="Meiryo" pitchFamily="34" charset="-120"/>
                        </a:rPr>
                        <a:t>0.84 〜 0.86</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天然の tRNA-Phe 配列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0.17</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RNAinverseの探索（現行実装）：変異、再予測、評価、更新</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27</a:t>
            </a:r>
            <a:endParaRPr lang="en-US" sz="1100" dirty="0"/>
          </a:p>
        </p:txBody>
      </p:sp>
      <p:sp>
        <p:nvSpPr>
          <p:cNvPr id="6" name="Text 3"/>
          <p:cNvSpPr txBox="1"/>
          <p:nvPr/>
        </p:nvSpPr>
        <p:spPr>
          <a:xfrm>
            <a:off x="9037015" y="54864"/>
            <a:ext cx="2651760" cy="274320"/>
          </a:xfrm>
          <a:prstGeom prst="roundRect">
            <a:avLst>
              <a:gd name="adj" fmla="val 26667"/>
            </a:avLst>
          </a:prstGeom>
          <a:solidFill>
            <a:srgbClr val="5C6B73"/>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補足扱い：本編は要点のみ</a:t>
            </a:r>
            <a:endParaRPr lang="en-US" sz="1200" dirty="0"/>
          </a:p>
        </p:txBody>
      </p:sp>
      <p:sp>
        <p:nvSpPr>
          <p:cNvPr id="7" name="Shape 4"/>
          <p:cNvSpPr/>
          <p:nvPr/>
        </p:nvSpPr>
        <p:spPr>
          <a:xfrm>
            <a:off x="502920" y="1188720"/>
            <a:ext cx="3931920" cy="868680"/>
          </a:xfrm>
          <a:prstGeom prst="roundRect">
            <a:avLst>
              <a:gd name="adj" fmla="val 10526"/>
            </a:avLst>
          </a:prstGeom>
          <a:solidFill>
            <a:srgbClr val="EEF3F4"/>
          </a:solidFill>
          <a:ln w="12700">
            <a:solidFill>
              <a:srgbClr val="EEF3F4"/>
            </a:solidFill>
            <a:prstDash val="solid"/>
          </a:ln>
        </p:spPr>
      </p:sp>
      <p:sp>
        <p:nvSpPr>
          <p:cNvPr id="8" name="Text 5"/>
          <p:cNvSpPr txBox="1"/>
          <p:nvPr/>
        </p:nvSpPr>
        <p:spPr>
          <a:xfrm>
            <a:off x="640080" y="1234440"/>
            <a:ext cx="36576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① 整合化</a:t>
            </a:r>
            <a:endParaRPr lang="en-US" sz="1500" dirty="0"/>
          </a:p>
        </p:txBody>
      </p:sp>
      <p:sp>
        <p:nvSpPr>
          <p:cNvPr id="9" name="Text 6"/>
          <p:cNvSpPr txBox="1"/>
          <p:nvPr/>
        </p:nvSpPr>
        <p:spPr>
          <a:xfrm>
            <a:off x="640080" y="1554480"/>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目標の各塩基対が対合できる文字にする</a:t>
            </a:r>
            <a:endParaRPr lang="en-US" sz="1200" dirty="0"/>
          </a:p>
        </p:txBody>
      </p:sp>
      <p:sp>
        <p:nvSpPr>
          <p:cNvPr id="10" name="Shape 7"/>
          <p:cNvSpPr/>
          <p:nvPr/>
        </p:nvSpPr>
        <p:spPr>
          <a:xfrm>
            <a:off x="2468880" y="2057400"/>
            <a:ext cx="9144" cy="118872"/>
          </a:xfrm>
          <a:prstGeom prst="line">
            <a:avLst/>
          </a:prstGeom>
          <a:noFill/>
          <a:ln w="19050">
            <a:solidFill>
              <a:srgbClr val="0F4C5C"/>
            </a:solidFill>
            <a:prstDash val="solid"/>
            <a:tailEnd type="triangle"/>
          </a:ln>
        </p:spPr>
      </p:sp>
      <p:sp>
        <p:nvSpPr>
          <p:cNvPr id="11" name="Shape 8"/>
          <p:cNvSpPr/>
          <p:nvPr/>
        </p:nvSpPr>
        <p:spPr>
          <a:xfrm>
            <a:off x="502920" y="2176272"/>
            <a:ext cx="3931920" cy="868680"/>
          </a:xfrm>
          <a:prstGeom prst="roundRect">
            <a:avLst>
              <a:gd name="adj" fmla="val 10526"/>
            </a:avLst>
          </a:prstGeom>
          <a:solidFill>
            <a:srgbClr val="EEF3F4"/>
          </a:solidFill>
          <a:ln w="12700">
            <a:solidFill>
              <a:srgbClr val="EEF3F4"/>
            </a:solidFill>
            <a:prstDash val="solid"/>
          </a:ln>
        </p:spPr>
      </p:sp>
      <p:sp>
        <p:nvSpPr>
          <p:cNvPr id="12" name="Text 9"/>
          <p:cNvSpPr txBox="1"/>
          <p:nvPr/>
        </p:nvSpPr>
        <p:spPr>
          <a:xfrm>
            <a:off x="640080" y="2221992"/>
            <a:ext cx="36576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② 予測</a:t>
            </a:r>
            <a:endParaRPr lang="en-US" sz="1500" dirty="0"/>
          </a:p>
        </p:txBody>
      </p:sp>
      <p:sp>
        <p:nvSpPr>
          <p:cNvPr id="13" name="Text 10"/>
          <p:cNvSpPr txBox="1"/>
          <p:nvPr/>
        </p:nvSpPr>
        <p:spPr>
          <a:xfrm>
            <a:off x="640080" y="2542032"/>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MFE 構造を計算し、目標との塩基対距離 d を求める</a:t>
            </a:r>
            <a:endParaRPr lang="en-US" sz="1200" dirty="0"/>
          </a:p>
        </p:txBody>
      </p:sp>
      <p:sp>
        <p:nvSpPr>
          <p:cNvPr id="14" name="Shape 11"/>
          <p:cNvSpPr/>
          <p:nvPr/>
        </p:nvSpPr>
        <p:spPr>
          <a:xfrm>
            <a:off x="2468880" y="3044952"/>
            <a:ext cx="9144" cy="118872"/>
          </a:xfrm>
          <a:prstGeom prst="line">
            <a:avLst/>
          </a:prstGeom>
          <a:noFill/>
          <a:ln w="19050">
            <a:solidFill>
              <a:srgbClr val="0F4C5C"/>
            </a:solidFill>
            <a:prstDash val="solid"/>
            <a:tailEnd type="triangle"/>
          </a:ln>
        </p:spPr>
      </p:sp>
      <p:sp>
        <p:nvSpPr>
          <p:cNvPr id="15" name="Shape 12"/>
          <p:cNvSpPr/>
          <p:nvPr/>
        </p:nvSpPr>
        <p:spPr>
          <a:xfrm>
            <a:off x="502920" y="3163824"/>
            <a:ext cx="3931920" cy="868680"/>
          </a:xfrm>
          <a:prstGeom prst="roundRect">
            <a:avLst>
              <a:gd name="adj" fmla="val 10526"/>
            </a:avLst>
          </a:prstGeom>
          <a:solidFill>
            <a:srgbClr val="EEF3F4"/>
          </a:solidFill>
          <a:ln w="12700">
            <a:solidFill>
              <a:srgbClr val="EEF3F4"/>
            </a:solidFill>
            <a:prstDash val="solid"/>
          </a:ln>
        </p:spPr>
      </p:sp>
      <p:sp>
        <p:nvSpPr>
          <p:cNvPr id="16" name="Text 13"/>
          <p:cNvSpPr txBox="1"/>
          <p:nvPr/>
        </p:nvSpPr>
        <p:spPr>
          <a:xfrm>
            <a:off x="640080" y="3209544"/>
            <a:ext cx="36576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③ 変異</a:t>
            </a:r>
            <a:endParaRPr lang="en-US" sz="1500" dirty="0"/>
          </a:p>
        </p:txBody>
      </p:sp>
      <p:sp>
        <p:nvSpPr>
          <p:cNvPr id="17" name="Text 14"/>
          <p:cNvSpPr txBox="1"/>
          <p:nvPr/>
        </p:nvSpPr>
        <p:spPr>
          <a:xfrm>
            <a:off x="640080" y="3529584"/>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食い違う位置（と隣）を選ぶ。非対合→1塩基、対合→ペアごと</a:t>
            </a:r>
            <a:endParaRPr lang="en-US" sz="1200" dirty="0"/>
          </a:p>
        </p:txBody>
      </p:sp>
      <p:sp>
        <p:nvSpPr>
          <p:cNvPr id="18" name="Shape 15"/>
          <p:cNvSpPr/>
          <p:nvPr/>
        </p:nvSpPr>
        <p:spPr>
          <a:xfrm>
            <a:off x="2468880" y="4032504"/>
            <a:ext cx="9144" cy="118872"/>
          </a:xfrm>
          <a:prstGeom prst="line">
            <a:avLst/>
          </a:prstGeom>
          <a:noFill/>
          <a:ln w="19050">
            <a:solidFill>
              <a:srgbClr val="0F4C5C"/>
            </a:solidFill>
            <a:prstDash val="solid"/>
            <a:tailEnd type="triangle"/>
          </a:ln>
        </p:spPr>
      </p:sp>
      <p:sp>
        <p:nvSpPr>
          <p:cNvPr id="19" name="Shape 16"/>
          <p:cNvSpPr/>
          <p:nvPr/>
        </p:nvSpPr>
        <p:spPr>
          <a:xfrm>
            <a:off x="502920" y="4151376"/>
            <a:ext cx="3931920" cy="868680"/>
          </a:xfrm>
          <a:prstGeom prst="roundRect">
            <a:avLst>
              <a:gd name="adj" fmla="val 10526"/>
            </a:avLst>
          </a:prstGeom>
          <a:solidFill>
            <a:srgbClr val="FBE9DC"/>
          </a:solidFill>
          <a:ln w="12700">
            <a:solidFill>
              <a:srgbClr val="FBE9DC"/>
            </a:solidFill>
            <a:prstDash val="solid"/>
          </a:ln>
        </p:spPr>
      </p:sp>
      <p:sp>
        <p:nvSpPr>
          <p:cNvPr id="20" name="Text 17"/>
          <p:cNvSpPr txBox="1"/>
          <p:nvPr/>
        </p:nvSpPr>
        <p:spPr>
          <a:xfrm>
            <a:off x="640080" y="4197096"/>
            <a:ext cx="3657600" cy="320040"/>
          </a:xfrm>
          <a:prstGeom prst="rect">
            <a:avLst/>
          </a:prstGeom>
          <a:noFill/>
          <a:ln/>
        </p:spPr>
        <p:txBody>
          <a:bodyPr wrap="square" lIns="0" tIns="0" rIns="0" bIns="0" rtlCol="0" anchor="t"/>
          <a:lstStyle/>
          <a:p>
            <a:pPr indent="0" marL="0">
              <a:buNone/>
            </a:pPr>
            <a:r>
              <a:rPr lang="en-US" sz="1500" b="1" dirty="0">
                <a:solidFill>
                  <a:srgbClr val="E36414"/>
                </a:solidFill>
                <a:latin typeface="Meiryo" pitchFamily="34" charset="0"/>
                <a:ea typeface="Meiryo" pitchFamily="34" charset="-122"/>
                <a:cs typeface="Meiryo" pitchFamily="34" charset="-120"/>
              </a:rPr>
              <a:t>④ 評価・更新</a:t>
            </a:r>
            <a:endParaRPr lang="en-US" sz="1500" dirty="0"/>
          </a:p>
        </p:txBody>
      </p:sp>
      <p:sp>
        <p:nvSpPr>
          <p:cNvPr id="21" name="Text 18"/>
          <p:cNvSpPr txBox="1"/>
          <p:nvPr/>
        </p:nvSpPr>
        <p:spPr>
          <a:xfrm>
            <a:off x="640080" y="4517136"/>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d が減れば採用。同点ならエネルギー差が縮む変異を記憶</a:t>
            </a:r>
            <a:endParaRPr lang="en-US" sz="1200" dirty="0"/>
          </a:p>
        </p:txBody>
      </p:sp>
      <p:sp>
        <p:nvSpPr>
          <p:cNvPr id="22" name="Shape 19"/>
          <p:cNvSpPr/>
          <p:nvPr/>
        </p:nvSpPr>
        <p:spPr>
          <a:xfrm>
            <a:off x="2468880" y="5020056"/>
            <a:ext cx="9144" cy="118872"/>
          </a:xfrm>
          <a:prstGeom prst="line">
            <a:avLst/>
          </a:prstGeom>
          <a:noFill/>
          <a:ln w="19050">
            <a:solidFill>
              <a:srgbClr val="0F4C5C"/>
            </a:solidFill>
            <a:prstDash val="solid"/>
            <a:tailEnd type="triangle"/>
          </a:ln>
        </p:spPr>
      </p:sp>
      <p:sp>
        <p:nvSpPr>
          <p:cNvPr id="23" name="Shape 20"/>
          <p:cNvSpPr/>
          <p:nvPr/>
        </p:nvSpPr>
        <p:spPr>
          <a:xfrm>
            <a:off x="502920" y="5138928"/>
            <a:ext cx="3931920" cy="868680"/>
          </a:xfrm>
          <a:prstGeom prst="roundRect">
            <a:avLst>
              <a:gd name="adj" fmla="val 10526"/>
            </a:avLst>
          </a:prstGeom>
          <a:solidFill>
            <a:srgbClr val="EEF3F4"/>
          </a:solidFill>
          <a:ln w="12700">
            <a:solidFill>
              <a:srgbClr val="EEF3F4"/>
            </a:solidFill>
            <a:prstDash val="solid"/>
          </a:ln>
        </p:spPr>
      </p:sp>
      <p:sp>
        <p:nvSpPr>
          <p:cNvPr id="24" name="Text 21"/>
          <p:cNvSpPr txBox="1"/>
          <p:nvPr/>
        </p:nvSpPr>
        <p:spPr>
          <a:xfrm>
            <a:off x="640080" y="5184648"/>
            <a:ext cx="36576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⑤ 終了</a:t>
            </a:r>
            <a:endParaRPr lang="en-US" sz="1500" dirty="0"/>
          </a:p>
        </p:txBody>
      </p:sp>
      <p:sp>
        <p:nvSpPr>
          <p:cNvPr id="25" name="Text 22"/>
          <p:cNvSpPr txBox="1"/>
          <p:nvPr/>
        </p:nvSpPr>
        <p:spPr>
          <a:xfrm>
            <a:off x="640080" y="5504688"/>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d = 0 で成功。改善なしなら停止（d &gt; 0 を返す）</a:t>
            </a:r>
            <a:endParaRPr lang="en-US" sz="1200" dirty="0"/>
          </a:p>
        </p:txBody>
      </p:sp>
      <p:sp>
        <p:nvSpPr>
          <p:cNvPr id="26" name="Shape 23"/>
          <p:cNvSpPr/>
          <p:nvPr/>
        </p:nvSpPr>
        <p:spPr>
          <a:xfrm>
            <a:off x="4434840" y="3749040"/>
            <a:ext cx="228600" cy="9144"/>
          </a:xfrm>
          <a:prstGeom prst="line">
            <a:avLst/>
          </a:prstGeom>
          <a:noFill/>
          <a:ln w="12700">
            <a:solidFill>
              <a:srgbClr val="0F4C5C"/>
            </a:solidFill>
            <a:prstDash val="solid"/>
            <a:tailEnd type="triangle"/>
          </a:ln>
        </p:spPr>
      </p:sp>
      <p:sp>
        <p:nvSpPr>
          <p:cNvPr id="27" name="Shape 24"/>
          <p:cNvSpPr/>
          <p:nvPr/>
        </p:nvSpPr>
        <p:spPr>
          <a:xfrm flipV="1">
            <a:off x="4663440" y="2331720"/>
            <a:ext cx="9144" cy="1417320"/>
          </a:xfrm>
          <a:prstGeom prst="line">
            <a:avLst/>
          </a:prstGeom>
          <a:noFill/>
          <a:ln w="12700">
            <a:solidFill>
              <a:srgbClr val="0F4C5C"/>
            </a:solidFill>
            <a:prstDash val="solid"/>
          </a:ln>
        </p:spPr>
      </p:sp>
      <p:sp>
        <p:nvSpPr>
          <p:cNvPr id="28" name="Shape 25"/>
          <p:cNvSpPr/>
          <p:nvPr/>
        </p:nvSpPr>
        <p:spPr>
          <a:xfrm flipH="1">
            <a:off x="4434840" y="2331720"/>
            <a:ext cx="228600" cy="9144"/>
          </a:xfrm>
          <a:prstGeom prst="line">
            <a:avLst/>
          </a:prstGeom>
          <a:noFill/>
          <a:ln w="12700">
            <a:solidFill>
              <a:srgbClr val="0F4C5C"/>
            </a:solidFill>
            <a:prstDash val="solid"/>
            <a:tailEnd type="triangle"/>
          </a:ln>
        </p:spPr>
      </p:sp>
      <p:sp>
        <p:nvSpPr>
          <p:cNvPr id="29" name="Text 26"/>
          <p:cNvSpPr txBox="1"/>
          <p:nvPr/>
        </p:nvSpPr>
        <p:spPr>
          <a:xfrm>
            <a:off x="4480560" y="2880360"/>
            <a:ext cx="731520" cy="274320"/>
          </a:xfrm>
          <a:prstGeom prst="rect">
            <a:avLst/>
          </a:prstGeom>
          <a:noFill/>
          <a:ln/>
        </p:spPr>
        <p:txBody>
          <a:bodyPr wrap="square" lIns="0" tIns="0" rIns="0" bIns="0" rtlCol="0" anchor="t"/>
          <a:lstStyle/>
          <a:p>
            <a:pPr indent="0" marL="0">
              <a:buNone/>
            </a:pPr>
            <a:r>
              <a:rPr lang="en-US" sz="1000" dirty="0">
                <a:solidFill>
                  <a:srgbClr val="5C6B73"/>
                </a:solidFill>
                <a:latin typeface="Meiryo" pitchFamily="34" charset="0"/>
                <a:ea typeface="Meiryo" pitchFamily="34" charset="-122"/>
                <a:cs typeface="Meiryo" pitchFamily="34" charset="-120"/>
              </a:rPr>
              <a:t>繰り返し</a:t>
            </a:r>
            <a:endParaRPr lang="en-US" sz="1000" dirty="0"/>
          </a:p>
        </p:txBody>
      </p:sp>
      <p:sp>
        <p:nvSpPr>
          <p:cNvPr id="30" name="Text 27"/>
          <p:cNvSpPr txBox="1"/>
          <p:nvPr/>
        </p:nvSpPr>
        <p:spPr>
          <a:xfrm>
            <a:off x="4937760" y="1143000"/>
            <a:ext cx="6766560" cy="365760"/>
          </a:xfrm>
          <a:prstGeom prst="rect">
            <a:avLst/>
          </a:prstGeom>
          <a:noFill/>
          <a:ln/>
        </p:spPr>
        <p:txBody>
          <a:bodyPr wrap="square" lIns="0" tIns="0" rIns="0" bIns="0" rtlCol="0" anchor="t"/>
          <a:lstStyle/>
          <a:p>
            <a:pPr indent="0" marL="0">
              <a:buNone/>
            </a:pPr>
            <a:r>
              <a:rPr lang="en-US" sz="1400" b="1" dirty="0">
                <a:solidFill>
                  <a:srgbClr val="0F4C5C"/>
                </a:solidFill>
                <a:latin typeface="Meiryo" pitchFamily="34" charset="0"/>
                <a:ea typeface="Meiryo" pitchFamily="34" charset="-122"/>
                <a:cs typeface="Meiryo" pitchFamily="34" charset="-120"/>
              </a:rPr>
              <a:t>トレース例（目標 (((((..(((....)))..)))))、教材用の簡略再現）</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937760" y="1554480"/>
          <a:ext cx="6766560" cy="914400"/>
        </p:xfrm>
        <a:graphic>
          <a:graphicData uri="http://schemas.openxmlformats.org/drawingml/2006/table">
            <a:tbl>
              <a:tblPr/>
              <a:tblGrid>
                <a:gridCol w="640080"/>
                <a:gridCol w="2057400"/>
                <a:gridCol w="2057400"/>
                <a:gridCol w="320040"/>
                <a:gridCol w="1691640"/>
              </a:tblGrid>
              <a:tr h="0">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手順</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配列</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予測構造</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d</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変更</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初期</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UCGCAUUUAGCCCCAAUAGCGACU</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000" dirty="0">
                          <a:solidFill>
                            <a:srgbClr val="1F2A30"/>
                          </a:solidFill>
                          <a:latin typeface="Meiryo" pitchFamily="34" charset="0"/>
                          <a:ea typeface="Meiryo" pitchFamily="34" charset="-122"/>
                          <a:cs typeface="Meiryo" pitchFamily="34" charset="-120"/>
                        </a:rPr>
                        <a:t>12</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乱数で作った初期配列</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整合化</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UGUCGUUUUUCCCCAAGAGCGACG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000" dirty="0">
                          <a:solidFill>
                            <a:srgbClr val="1F2A30"/>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位置 24,2,3,5,17,9,10 を対合できる文字に</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更新1</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UGUCGUUUUUCCCCAAGAGCGACA</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000" dirty="0">
                          <a:solidFill>
                            <a:srgbClr val="1F2A30"/>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ペア(1,24): UG→UA</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更新2</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UGUCGUAUUUCCCCAAGAGCGACA</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000" dirty="0">
                          <a:solidFill>
                            <a:srgbClr val="1F2A30"/>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位置7: U→A</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更新3</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UGUCGAAUUUCCCCAAGAGCGACA</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000" b="1" dirty="0">
                          <a:solidFill>
                            <a:srgbClr val="1F2A30"/>
                          </a:solidFill>
                          <a:latin typeface="Meiryo" pitchFamily="34" charset="0"/>
                          <a:ea typeface="Meiryo" pitchFamily="34" charset="-122"/>
                          <a:cs typeface="Meiryo" pitchFamily="34" charset="-120"/>
                        </a:rPr>
                        <a:t>0</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位置6: U→A</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32" name="Text 28"/>
          <p:cNvSpPr txBox="1"/>
          <p:nvPr/>
        </p:nvSpPr>
        <p:spPr>
          <a:xfrm>
            <a:off x="4937760" y="4572000"/>
            <a:ext cx="6766560" cy="5486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d = 目標との塩基対距離（次のスライド）。1 回の更新で 1〜2 文字が変わり、d が単調に減って 0 に達している</a:t>
            </a:r>
            <a:endParaRPr lang="en-US" sz="1200" dirty="0"/>
          </a:p>
        </p:txBody>
      </p:sp>
      <p:sp>
        <p:nvSpPr>
          <p:cNvPr id="33" name="Shape 29"/>
          <p:cNvSpPr/>
          <p:nvPr/>
        </p:nvSpPr>
        <p:spPr>
          <a:xfrm>
            <a:off x="4937760" y="5120640"/>
            <a:ext cx="6766560" cy="1005840"/>
          </a:xfrm>
          <a:prstGeom prst="roundRect">
            <a:avLst>
              <a:gd name="adj" fmla="val 10909"/>
            </a:avLst>
          </a:prstGeom>
          <a:solidFill>
            <a:srgbClr val="FBE9DC"/>
          </a:solidFill>
          <a:ln w="12700">
            <a:solidFill>
              <a:srgbClr val="FBE9DC"/>
            </a:solidFill>
            <a:prstDash val="solid"/>
          </a:ln>
        </p:spPr>
      </p:sp>
      <p:sp>
        <p:nvSpPr>
          <p:cNvPr id="34" name="Text 30"/>
          <p:cNvSpPr txBox="1"/>
          <p:nvPr/>
        </p:nvSpPr>
        <p:spPr>
          <a:xfrm>
            <a:off x="5120640" y="5257800"/>
            <a:ext cx="6400800" cy="73152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1F2A30"/>
                </a:solidFill>
                <a:latin typeface="Meiryo" pitchFamily="34" charset="0"/>
                <a:ea typeface="Meiryo" pitchFamily="34" charset="-122"/>
                <a:cs typeface="Meiryo" pitchFamily="34" charset="-120"/>
              </a:rPr>
              <a:t>実装も論文どおり、目標をヘアピン側の部分構造から順に解く。成功しても「目標構造の確率が高い」とは限らない（スライド 25）。</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目標への近さ：塩基対距離の具体例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28</a:t>
            </a:r>
            <a:endParaRPr lang="en-US" sz="1100" dirty="0"/>
          </a:p>
        </p:txBody>
      </p:sp>
      <p:pic>
        <p:nvPicPr>
          <p:cNvPr id="6" name="Image 0" descr="/Users/sumishunsuke/Desktop/RNA/Course_RNAinverse/build/fig/eq_bpd.png">    </p:cNvPr>
          <p:cNvPicPr>
            <a:picLocks noChangeAspect="1"/>
          </p:cNvPicPr>
          <p:nvPr/>
        </p:nvPicPr>
        <p:blipFill>
          <a:blip r:embed="rId1"/>
          <a:stretch>
            <a:fillRect/>
          </a:stretch>
        </p:blipFill>
        <p:spPr>
          <a:xfrm>
            <a:off x="502920" y="1188720"/>
            <a:ext cx="4440455" cy="548640"/>
          </a:xfrm>
          <a:prstGeom prst="rect">
            <a:avLst/>
          </a:prstGeom>
        </p:spPr>
      </p:pic>
      <p:sp>
        <p:nvSpPr>
          <p:cNvPr id="7" name="Text 3"/>
          <p:cNvSpPr txBox="1"/>
          <p:nvPr/>
        </p:nvSpPr>
        <p:spPr>
          <a:xfrm>
            <a:off x="5760720" y="1188720"/>
            <a:ext cx="5943600" cy="548640"/>
          </a:xfrm>
          <a:prstGeom prst="rect">
            <a:avLst/>
          </a:prstGeom>
          <a:noFill/>
          <a:ln/>
        </p:spPr>
        <p:txBody>
          <a:bodyPr wrap="square" lIns="0" tIns="0" rIns="0" bIns="0" rtlCol="0" anchor="ctr"/>
          <a:lstStyle/>
          <a:p>
            <a:pPr indent="0" marL="0">
              <a:buNone/>
            </a:pPr>
            <a:r>
              <a:rPr lang="en-US" sz="1500" dirty="0">
                <a:solidFill>
                  <a:srgbClr val="5C6B73"/>
                </a:solidFill>
                <a:latin typeface="Meiryo" pitchFamily="34" charset="0"/>
                <a:ea typeface="Meiryo" pitchFamily="34" charset="-122"/>
                <a:cs typeface="Meiryo" pitchFamily="34" charset="-120"/>
              </a:rPr>
              <a:t>目標 T に対し、構造 S の「片方にだけある塩基対」の数。RNA.bp_distance(S, T)</a:t>
            </a:r>
            <a:endParaRPr lang="en-US" sz="1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949440" cy="914400"/>
        </p:xfrm>
        <a:graphic>
          <a:graphicData uri="http://schemas.openxmlformats.org/drawingml/2006/table">
            <a:tbl>
              <a:tblPr/>
              <a:tblGrid>
                <a:gridCol w="2651760"/>
                <a:gridCol w="731520"/>
                <a:gridCol w="1280160"/>
                <a:gridCol w="2286000"/>
              </a:tblGrid>
              <a:tr h="0">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構造 S</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塩基対</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d_bp(S, T)</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メモ</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目標そのもの</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末端の1対が外れた</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4番と13番の対が外れた（内部ループ）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末端の2対が外れた</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ループ側の1対が外れた</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開いた鎖</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9" name="Shape 4"/>
          <p:cNvSpPr/>
          <p:nvPr/>
        </p:nvSpPr>
        <p:spPr>
          <a:xfrm>
            <a:off x="7772400" y="1920240"/>
            <a:ext cx="3931920" cy="4114800"/>
          </a:xfrm>
          <a:prstGeom prst="roundRect">
            <a:avLst>
              <a:gd name="adj" fmla="val 2791"/>
            </a:avLst>
          </a:prstGeom>
          <a:solidFill>
            <a:srgbClr val="EEF3F4"/>
          </a:solidFill>
          <a:ln w="12700">
            <a:solidFill>
              <a:srgbClr val="EEF3F4"/>
            </a:solidFill>
            <a:prstDash val="solid"/>
          </a:ln>
        </p:spPr>
      </p:sp>
      <p:sp>
        <p:nvSpPr>
          <p:cNvPr id="10" name="Text 5"/>
          <p:cNvSpPr txBox="1"/>
          <p:nvPr/>
        </p:nvSpPr>
        <p:spPr>
          <a:xfrm>
            <a:off x="7955280" y="2029968"/>
            <a:ext cx="35661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Hamming 距離（配列の差）</a:t>
            </a:r>
            <a:endParaRPr lang="en-US" sz="2000" dirty="0"/>
          </a:p>
        </p:txBody>
      </p:sp>
      <p:sp>
        <p:nvSpPr>
          <p:cNvPr id="11" name="Text 6"/>
          <p:cNvSpPr txBox="1"/>
          <p:nvPr/>
        </p:nvSpPr>
        <p:spPr>
          <a:xfrm>
            <a:off x="7955280" y="2606040"/>
            <a:ext cx="1950720" cy="285750"/>
          </a:xfrm>
          <a:prstGeom prst="rect">
            <a:avLst/>
          </a:prstGeom>
          <a:noFill/>
          <a:ln/>
        </p:spPr>
        <p:txBody>
          <a:bodyPr wrap="square" lIns="0" tIns="0" rIns="0" bIns="0" rtlCol="0" anchor="ctr"/>
          <a:lstStyle/>
          <a:p>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U</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C</a:t>
            </a:r>
            <a:endParaRPr lang="en-US" sz="1500" dirty="0"/>
          </a:p>
        </p:txBody>
      </p:sp>
      <p:sp>
        <p:nvSpPr>
          <p:cNvPr id="12" name="Text 7"/>
          <p:cNvSpPr txBox="1"/>
          <p:nvPr/>
        </p:nvSpPr>
        <p:spPr>
          <a:xfrm>
            <a:off x="7955280" y="2926080"/>
            <a:ext cx="1950720" cy="285750"/>
          </a:xfrm>
          <a:prstGeom prst="rect">
            <a:avLst/>
          </a:prstGeom>
          <a:noFill/>
          <a:ln/>
        </p:spPr>
        <p:txBody>
          <a:bodyPr wrap="square" lIns="0" tIns="0" rIns="0" bIns="0" rtlCol="0" anchor="ctr"/>
          <a:lstStyle/>
          <a:p>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U</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C</a:t>
            </a:r>
            <a:endParaRPr lang="en-US" sz="1500" dirty="0"/>
          </a:p>
        </p:txBody>
      </p:sp>
      <p:sp>
        <p:nvSpPr>
          <p:cNvPr id="13" name="Text 8"/>
          <p:cNvSpPr txBox="1"/>
          <p:nvPr/>
        </p:nvSpPr>
        <p:spPr>
          <a:xfrm>
            <a:off x="7955280" y="3291840"/>
            <a:ext cx="3566160" cy="320040"/>
          </a:xfrm>
          <a:prstGeom prst="rect">
            <a:avLst/>
          </a:prstGeom>
          <a:noFill/>
          <a:ln/>
        </p:spPr>
        <p:txBody>
          <a:bodyPr wrap="square" lIns="0" tIns="0" rIns="0" bIns="0" rtlCol="0" anchor="t"/>
          <a:lstStyle/>
          <a:p>
            <a:pPr indent="0" marL="0">
              <a:buNone/>
            </a:pPr>
            <a:r>
              <a:rPr lang="en-US" sz="1400" dirty="0">
                <a:solidFill>
                  <a:srgbClr val="E36414"/>
                </a:solidFill>
                <a:latin typeface="Meiryo" pitchFamily="34" charset="0"/>
                <a:ea typeface="Meiryo" pitchFamily="34" charset="-122"/>
                <a:cs typeface="Meiryo" pitchFamily="34" charset="-120"/>
              </a:rPr>
              <a:t>Hamming 距離 = 1</a:t>
            </a:r>
            <a:endParaRPr lang="en-US" sz="1400" dirty="0"/>
          </a:p>
        </p:txBody>
      </p:sp>
      <p:sp>
        <p:nvSpPr>
          <p:cNvPr id="14" name="Text 9"/>
          <p:cNvSpPr txBox="1"/>
          <p:nvPr/>
        </p:nvSpPr>
        <p:spPr>
          <a:xfrm>
            <a:off x="7955280" y="3977640"/>
            <a:ext cx="1950720" cy="285750"/>
          </a:xfrm>
          <a:prstGeom prst="rect">
            <a:avLst/>
          </a:prstGeom>
          <a:noFill/>
          <a:ln/>
        </p:spPr>
        <p:txBody>
          <a:bodyPr wrap="square" lIns="0" tIns="0" rIns="0" bIns="0" rtlCol="0" anchor="ctr"/>
          <a:lstStyle/>
          <a:p>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U</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C</a:t>
            </a:r>
            <a:endParaRPr lang="en-US" sz="1500" dirty="0"/>
          </a:p>
        </p:txBody>
      </p:sp>
      <p:sp>
        <p:nvSpPr>
          <p:cNvPr id="15" name="Text 10"/>
          <p:cNvSpPr txBox="1"/>
          <p:nvPr/>
        </p:nvSpPr>
        <p:spPr>
          <a:xfrm>
            <a:off x="7955280" y="4297680"/>
            <a:ext cx="1950720" cy="285750"/>
          </a:xfrm>
          <a:prstGeom prst="rect">
            <a:avLst/>
          </a:prstGeom>
          <a:noFill/>
          <a:ln/>
        </p:spPr>
        <p:txBody>
          <a:bodyPr wrap="square" lIns="0" tIns="0" rIns="0" bIns="0" rtlCol="0" anchor="ctr"/>
          <a:lstStyle/>
          <a:p>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C</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U</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U</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U</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G</a:t>
            </a:r>
            <a:endParaRPr lang="en-US" sz="1500" dirty="0"/>
          </a:p>
        </p:txBody>
      </p:sp>
      <p:sp>
        <p:nvSpPr>
          <p:cNvPr id="16" name="Text 11"/>
          <p:cNvSpPr txBox="1"/>
          <p:nvPr/>
        </p:nvSpPr>
        <p:spPr>
          <a:xfrm>
            <a:off x="7955280" y="4663440"/>
            <a:ext cx="3566160" cy="320040"/>
          </a:xfrm>
          <a:prstGeom prst="rect">
            <a:avLst/>
          </a:prstGeom>
          <a:noFill/>
          <a:ln/>
        </p:spPr>
        <p:txBody>
          <a:bodyPr wrap="square" lIns="0" tIns="0" rIns="0" bIns="0" rtlCol="0" anchor="t"/>
          <a:lstStyle/>
          <a:p>
            <a:pPr indent="0" marL="0">
              <a:buNone/>
            </a:pPr>
            <a:r>
              <a:rPr lang="en-US" sz="1400" dirty="0">
                <a:solidFill>
                  <a:srgbClr val="E36414"/>
                </a:solidFill>
                <a:latin typeface="Meiryo" pitchFamily="34" charset="0"/>
                <a:ea typeface="Meiryo" pitchFamily="34" charset="-122"/>
                <a:cs typeface="Meiryo" pitchFamily="34" charset="-120"/>
              </a:rPr>
              <a:t>Hamming 距離 = 8</a:t>
            </a:r>
            <a:endParaRPr lang="en-US" sz="1400" dirty="0"/>
          </a:p>
        </p:txBody>
      </p:sp>
      <p:sp>
        <p:nvSpPr>
          <p:cNvPr id="17" name="Text 12"/>
          <p:cNvSpPr txBox="1"/>
          <p:nvPr/>
        </p:nvSpPr>
        <p:spPr>
          <a:xfrm>
            <a:off x="7955280" y="5394960"/>
            <a:ext cx="3566160" cy="5486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文字が違う位置の数。構造の差（塩基対距離）とは別に数える</a:t>
            </a:r>
            <a:endParaRPr lang="en-US" sz="1200" dirty="0"/>
          </a:p>
        </p:txBody>
      </p:sp>
      <p:sp>
        <p:nvSpPr>
          <p:cNvPr id="18" name="Text 13"/>
          <p:cNvSpPr txBox="1"/>
          <p:nvPr/>
        </p:nvSpPr>
        <p:spPr>
          <a:xfrm>
            <a:off x="502920" y="5394960"/>
            <a:ext cx="6949440" cy="73152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設計の評価は「構造の距離」。RNAinverse の出力に添えられる数値は「初期配列からの Hamming 距離」なので混同しない</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探索結果の読み方：成功判定、失敗、初期値依存</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29</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640080"/>
                <a:gridCol w="2286000"/>
                <a:gridCol w="2286000"/>
                <a:gridCol w="1188720"/>
                <a:gridCol w="2286000"/>
                <a:gridCol w="548640"/>
                <a:gridCol w="1920240"/>
              </a:tblGrid>
              <a:tr h="0">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seed</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初期配列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設計配列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Hamming</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再予測</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d</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P(T)</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UCCAGAAACGAUCAUU</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CGCGGAAACGUUCGUG</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0.62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GUGAGCUUCUAAUGAG</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CUCAGUUUCUAUUGAG</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0.86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3</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CCACUGUGCACACCGC</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CCAGUGUGCACACUGG</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3</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0.94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AUCCAGUCACCCUUUC</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AUGCGGUCACCCGUGU</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E36414"/>
                          </a:solidFill>
                          <a:latin typeface="Meiryo" pitchFamily="34" charset="0"/>
                          <a:ea typeface="Meiryo" pitchFamily="34" charset="-122"/>
                          <a:cs typeface="Meiryo" pitchFamily="34" charset="-120"/>
                        </a:rPr>
                        <a:t>0.51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UCGCAUUUAGCCCCAA</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UCGGAUUUAGGUCCGA</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E36414"/>
                          </a:solidFill>
                          <a:latin typeface="Meiryo" pitchFamily="34" charset="0"/>
                          <a:ea typeface="Meiryo" pitchFamily="34" charset="-122"/>
                          <a:cs typeface="Meiryo" pitchFamily="34" charset="-120"/>
                        </a:rPr>
                        <a:t>0.57</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7" name="Shape 3"/>
          <p:cNvSpPr/>
          <p:nvPr/>
        </p:nvSpPr>
        <p:spPr>
          <a:xfrm>
            <a:off x="502920" y="3703320"/>
            <a:ext cx="5486400" cy="2423160"/>
          </a:xfrm>
          <a:prstGeom prst="roundRect">
            <a:avLst>
              <a:gd name="adj" fmla="val 4528"/>
            </a:avLst>
          </a:prstGeom>
          <a:solidFill>
            <a:srgbClr val="EEF3F4"/>
          </a:solidFill>
          <a:ln w="12700">
            <a:solidFill>
              <a:srgbClr val="EEF3F4"/>
            </a:solidFill>
            <a:prstDash val="solid"/>
          </a:ln>
        </p:spPr>
      </p:sp>
      <p:sp>
        <p:nvSpPr>
          <p:cNvPr id="8" name="Text 4"/>
          <p:cNvSpPr txBox="1"/>
          <p:nvPr/>
        </p:nvSpPr>
        <p:spPr>
          <a:xfrm>
            <a:off x="685800" y="38130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失敗の例（別の目標構造）</a:t>
            </a:r>
            <a:endParaRPr lang="en-US" sz="2000" dirty="0"/>
          </a:p>
        </p:txBody>
      </p:sp>
      <p:sp>
        <p:nvSpPr>
          <p:cNvPr id="9" name="Text 5"/>
          <p:cNvSpPr txBox="1"/>
          <p:nvPr/>
        </p:nvSpPr>
        <p:spPr>
          <a:xfrm>
            <a:off x="685800" y="4270248"/>
            <a:ext cx="5120640" cy="17373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Consolas" pitchFamily="34" charset="0"/>
                <a:ea typeface="Consolas" pitchFamily="34" charset="-122"/>
                <a:cs typeface="Consolas" pitchFamily="34" charset="-120"/>
              </a:rPr>
              <a:t>目標 (((.(((....))).)))</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返り値 d = 1（40 回中 2 回失敗）</a:t>
            </a:r>
            <a:endParaRPr lang="en-US" sz="1300" dirty="0"/>
          </a:p>
          <a:p>
            <a:pPr marL="342900" indent="-342900">
              <a:spcAft>
                <a:spcPts val="400"/>
              </a:spcAft>
              <a:buSzPct val="100000"/>
              <a:buChar char="•"/>
            </a:pPr>
            <a:r>
              <a:rPr lang="en-US" sz="1300" dirty="0">
                <a:solidFill>
                  <a:srgbClr val="1F2A30"/>
                </a:solidFill>
                <a:latin typeface="Consolas" pitchFamily="34" charset="0"/>
                <a:ea typeface="Consolas" pitchFamily="34" charset="-122"/>
                <a:cs typeface="Consolas" pitchFamily="34" charset="-120"/>
              </a:rPr>
              <a:t>UUUCGUGAUUUUAUGGGA</a:t>
            </a:r>
            <a:endParaRPr lang="en-US" sz="1300" dirty="0"/>
          </a:p>
          <a:p>
            <a:pPr marL="342900" indent="-342900">
              <a:spcAft>
                <a:spcPts val="400"/>
              </a:spcAft>
              <a:buSzPct val="100000"/>
              <a:buChar char="•"/>
            </a:pPr>
            <a:r>
              <a:rPr lang="en-US" sz="1300" dirty="0">
                <a:solidFill>
                  <a:srgbClr val="1F2A30"/>
                </a:solidFill>
                <a:latin typeface="Consolas" pitchFamily="34" charset="0"/>
                <a:ea typeface="Consolas" pitchFamily="34" charset="-122"/>
                <a:cs typeface="Consolas" pitchFamily="34" charset="-120"/>
              </a:rPr>
              <a:t>(((((((....)))))))  ← 再予測は目標と 1 対違う</a:t>
            </a:r>
            <a:endParaRPr lang="en-US" sz="1300" dirty="0"/>
          </a:p>
        </p:txBody>
      </p:sp>
      <p:sp>
        <p:nvSpPr>
          <p:cNvPr id="10" name="Shape 6"/>
          <p:cNvSpPr/>
          <p:nvPr/>
        </p:nvSpPr>
        <p:spPr>
          <a:xfrm>
            <a:off x="6217920" y="3703320"/>
            <a:ext cx="5486400" cy="2423160"/>
          </a:xfrm>
          <a:prstGeom prst="roundRect">
            <a:avLst>
              <a:gd name="adj" fmla="val 4528"/>
            </a:avLst>
          </a:prstGeom>
          <a:solidFill>
            <a:srgbClr val="EEF3F4"/>
          </a:solidFill>
          <a:ln w="12700">
            <a:solidFill>
              <a:srgbClr val="EEF3F4"/>
            </a:solidFill>
            <a:prstDash val="solid"/>
          </a:ln>
        </p:spPr>
      </p:sp>
      <p:sp>
        <p:nvSpPr>
          <p:cNvPr id="11" name="Text 7"/>
          <p:cNvSpPr txBox="1"/>
          <p:nvPr/>
        </p:nvSpPr>
        <p:spPr>
          <a:xfrm>
            <a:off x="6400800" y="38130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読み方</a:t>
            </a:r>
            <a:endParaRPr lang="en-US" sz="2000" dirty="0"/>
          </a:p>
        </p:txBody>
      </p:sp>
      <p:sp>
        <p:nvSpPr>
          <p:cNvPr id="12" name="Text 8"/>
          <p:cNvSpPr txBox="1"/>
          <p:nvPr/>
        </p:nvSpPr>
        <p:spPr>
          <a:xfrm>
            <a:off x="6400800" y="4270248"/>
            <a:ext cx="5120640" cy="17373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d = 0：成功。ただし P(T) は 0.5〜0.94 とばらつく</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d &gt; 0：失敗。配列は返るが MFE 構造は目標と異なる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seed（初期配列）で結果が変わる → 複数回試して候補を集める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同じ seed でも Windows と macOS で配列が変わる</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E36414"/>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録画を停止します：演習2（40分）</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20:00–20:40　配列設計、再予測、候補比較（グループ演習）</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必須：2A→2B→2C（ここまで届けば十分）</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時間があれば：2D　／　発展問題：グループの裁量で</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各スクリプトは単独で動くので、途中からでも再開できます。</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演習2A：目標構造を指定し、RNA.inverse_fold を動かす</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31</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7498080" cy="2926080"/>
          </a:xfrm>
          <a:prstGeom prst="rect">
            <a:avLst/>
          </a:prstGeom>
          <a:solidFill>
            <a:srgbClr val="F6F8F9"/>
          </a:solidFill>
          <a:ln w="9525">
            <a:solidFill>
              <a:srgbClr val="C9D3D6"/>
            </a:solidFill>
            <a:prstDash val="solid"/>
          </a:ln>
        </p:spPr>
      </p:sp>
      <p:sp>
        <p:nvSpPr>
          <p:cNvPr id="8" name="Text 5"/>
          <p:cNvSpPr txBox="1"/>
          <p:nvPr/>
        </p:nvSpPr>
        <p:spPr>
          <a:xfrm>
            <a:off x="612648" y="1261872"/>
            <a:ext cx="7278624" cy="277977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import RNA</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target = "((((((....))))))"          # 目標構造（例題RNAと同じ形）</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seed = 1                             # ← 変えると別の初期配列になる</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RNA.init_rand(seed)</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start = RNA.random_string(len(target), "ACGU")   # A/C/G/U の乱数配列</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start_copy = start.encode().decode() # inverse_fold は start を上書きするので控え</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seq, d = RNA.inverse_fold(start, target)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print("初期配列:", start_copy)</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print("設計配列:", seq, " 残り距離 d =", d)</a:t>
            </a:r>
            <a:endParaRPr lang="en-US" sz="1300" dirty="0"/>
          </a:p>
        </p:txBody>
      </p:sp>
      <p:sp>
        <p:nvSpPr>
          <p:cNvPr id="9" name="Text 6"/>
          <p:cNvSpPr txBox="1"/>
          <p:nvPr/>
        </p:nvSpPr>
        <p:spPr>
          <a:xfrm>
            <a:off x="8229600" y="1188720"/>
            <a:ext cx="3474720" cy="320040"/>
          </a:xfrm>
          <a:prstGeom prst="rect">
            <a:avLst/>
          </a:prstGeom>
          <a:noFill/>
          <a:ln/>
        </p:spPr>
        <p:txBody>
          <a:bodyPr wrap="square" lIns="0" tIns="0" rIns="0" bIns="0" rtlCol="0" anchor="t"/>
          <a:lstStyle/>
          <a:p>
            <a:pPr indent="0" marL="0">
              <a:buNone/>
            </a:pPr>
            <a:r>
              <a:rPr lang="en-US" sz="1300" dirty="0">
                <a:solidFill>
                  <a:srgbClr val="5C6B73"/>
                </a:solidFill>
                <a:latin typeface="Meiryo" pitchFamily="34" charset="0"/>
                <a:ea typeface="Meiryo" pitchFamily="34" charset="-122"/>
                <a:cs typeface="Meiryo" pitchFamily="34" charset="-120"/>
              </a:rPr>
              <a:t>期待する出力（seed=1、macOS）</a:t>
            </a:r>
            <a:endParaRPr lang="en-US" sz="1300" dirty="0"/>
          </a:p>
        </p:txBody>
      </p:sp>
      <p:sp>
        <p:nvSpPr>
          <p:cNvPr id="10" name="Shape 7"/>
          <p:cNvSpPr/>
          <p:nvPr/>
        </p:nvSpPr>
        <p:spPr>
          <a:xfrm>
            <a:off x="8229600" y="1508760"/>
            <a:ext cx="3474720" cy="1097280"/>
          </a:xfrm>
          <a:prstGeom prst="rect">
            <a:avLst/>
          </a:prstGeom>
          <a:solidFill>
            <a:srgbClr val="F6F8F9"/>
          </a:solidFill>
          <a:ln w="9525">
            <a:solidFill>
              <a:srgbClr val="C9D3D6"/>
            </a:solidFill>
            <a:prstDash val="solid"/>
          </a:ln>
        </p:spPr>
      </p:sp>
      <p:sp>
        <p:nvSpPr>
          <p:cNvPr id="11" name="Text 8"/>
          <p:cNvSpPr txBox="1"/>
          <p:nvPr/>
        </p:nvSpPr>
        <p:spPr>
          <a:xfrm>
            <a:off x="8339328" y="1581912"/>
            <a:ext cx="3255264" cy="95097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初期配列: UCCAGAAACGAUCAUU</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設計配列: CGCGGAAACGUUCGUG  残り距離 d = 0.0</a:t>
            </a:r>
            <a:endParaRPr lang="en-US" sz="1200" dirty="0"/>
          </a:p>
        </p:txBody>
      </p:sp>
      <p:sp>
        <p:nvSpPr>
          <p:cNvPr id="12" name="Text 9"/>
          <p:cNvSpPr txBox="1"/>
          <p:nvPr/>
        </p:nvSpPr>
        <p:spPr>
          <a:xfrm>
            <a:off x="8229600" y="2651760"/>
            <a:ext cx="3474720" cy="36576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配布スクリプト：exercises/ex2a_inverse.py</a:t>
            </a:r>
            <a:endParaRPr lang="en-US" sz="1200" dirty="0"/>
          </a:p>
        </p:txBody>
      </p:sp>
      <p:sp>
        <p:nvSpPr>
          <p:cNvPr id="13" name="Shape 10"/>
          <p:cNvSpPr/>
          <p:nvPr/>
        </p:nvSpPr>
        <p:spPr>
          <a:xfrm>
            <a:off x="8229600" y="3063240"/>
            <a:ext cx="3474720" cy="1051560"/>
          </a:xfrm>
          <a:prstGeom prst="roundRect">
            <a:avLst>
              <a:gd name="adj" fmla="val 10435"/>
            </a:avLst>
          </a:prstGeom>
          <a:solidFill>
            <a:srgbClr val="FBE9DC"/>
          </a:solidFill>
          <a:ln w="12700">
            <a:solidFill>
              <a:srgbClr val="FBE9DC"/>
            </a:solidFill>
            <a:prstDash val="solid"/>
          </a:ln>
        </p:spPr>
      </p:sp>
      <p:sp>
        <p:nvSpPr>
          <p:cNvPr id="14" name="Text 11"/>
          <p:cNvSpPr txBox="1"/>
          <p:nvPr/>
        </p:nvSpPr>
        <p:spPr>
          <a:xfrm>
            <a:off x="8412480" y="3200400"/>
            <a:ext cx="3108960" cy="777240"/>
          </a:xfrm>
          <a:prstGeom prst="rect">
            <a:avLst/>
          </a:prstGeom>
          <a:noFill/>
          <a:ln/>
        </p:spPr>
        <p:txBody>
          <a:bodyPr wrap="square" lIns="0" tIns="0" rIns="0" bIns="0" rtlCol="0" anchor="t">
            <a:normAutofit/>
          </a:bodyPr>
          <a:lstStyle/>
          <a:p>
            <a:pPr indent="0" marL="0">
              <a:spcAft>
                <a:spcPts val="400"/>
              </a:spcAft>
              <a:buNone/>
            </a:pPr>
            <a:r>
              <a:rPr lang="en-US" sz="1200" dirty="0">
                <a:solidFill>
                  <a:srgbClr val="E36414"/>
                </a:solidFill>
                <a:latin typeface="Meiryo" pitchFamily="34" charset="0"/>
                <a:ea typeface="Meiryo" pitchFamily="34" charset="-122"/>
                <a:cs typeface="Meiryo" pitchFamily="34" charset="-120"/>
              </a:rPr>
              <a:t>start は関数呼び出しで上書きされる。控え（start_copy）を必ず取る</a:t>
            </a:r>
            <a:endParaRPr lang="en-US" sz="1200" dirty="0"/>
          </a:p>
        </p:txBody>
      </p:sp>
      <p:sp>
        <p:nvSpPr>
          <p:cNvPr id="15" name="Shape 12"/>
          <p:cNvSpPr/>
          <p:nvPr/>
        </p:nvSpPr>
        <p:spPr>
          <a:xfrm>
            <a:off x="502920" y="4297680"/>
            <a:ext cx="2697480" cy="1691640"/>
          </a:xfrm>
          <a:prstGeom prst="roundRect">
            <a:avLst>
              <a:gd name="adj" fmla="val 6486"/>
            </a:avLst>
          </a:prstGeom>
          <a:solidFill>
            <a:srgbClr val="EEF3F4"/>
          </a:solidFill>
          <a:ln w="12700">
            <a:solidFill>
              <a:srgbClr val="EEF3F4"/>
            </a:solidFill>
            <a:prstDash val="solid"/>
          </a:ln>
        </p:spPr>
      </p:sp>
      <p:sp>
        <p:nvSpPr>
          <p:cNvPr id="16" name="Text 13"/>
          <p:cNvSpPr txBox="1"/>
          <p:nvPr/>
        </p:nvSpPr>
        <p:spPr>
          <a:xfrm>
            <a:off x="685800" y="44074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7" name="Text 14"/>
          <p:cNvSpPr txBox="1"/>
          <p:nvPr/>
        </p:nvSpPr>
        <p:spPr>
          <a:xfrm>
            <a:off x="685800" y="4864608"/>
            <a:ext cx="23317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target（目標構造）</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seed（1 から）</a:t>
            </a:r>
            <a:endParaRPr lang="en-US" sz="1400" dirty="0"/>
          </a:p>
        </p:txBody>
      </p:sp>
      <p:sp>
        <p:nvSpPr>
          <p:cNvPr id="18" name="Shape 15"/>
          <p:cNvSpPr/>
          <p:nvPr/>
        </p:nvSpPr>
        <p:spPr>
          <a:xfrm>
            <a:off x="3310128" y="4297680"/>
            <a:ext cx="2697480" cy="1691640"/>
          </a:xfrm>
          <a:prstGeom prst="roundRect">
            <a:avLst>
              <a:gd name="adj" fmla="val 6486"/>
            </a:avLst>
          </a:prstGeom>
          <a:solidFill>
            <a:srgbClr val="EEF3F4"/>
          </a:solidFill>
          <a:ln w="12700">
            <a:solidFill>
              <a:srgbClr val="EEF3F4"/>
            </a:solidFill>
            <a:prstDash val="solid"/>
          </a:ln>
        </p:spPr>
      </p:sp>
      <p:sp>
        <p:nvSpPr>
          <p:cNvPr id="19" name="Text 16"/>
          <p:cNvSpPr txBox="1"/>
          <p:nvPr/>
        </p:nvSpPr>
        <p:spPr>
          <a:xfrm>
            <a:off x="3493008" y="44074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20" name="Text 17"/>
          <p:cNvSpPr txBox="1"/>
          <p:nvPr/>
        </p:nvSpPr>
        <p:spPr>
          <a:xfrm>
            <a:off x="3493008" y="4864608"/>
            <a:ext cx="23317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初期配列を乱数で作る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RNA.inverse_fold を実行</a:t>
            </a:r>
            <a:endParaRPr lang="en-US" sz="1400" dirty="0"/>
          </a:p>
        </p:txBody>
      </p:sp>
      <p:sp>
        <p:nvSpPr>
          <p:cNvPr id="21" name="Shape 18"/>
          <p:cNvSpPr/>
          <p:nvPr/>
        </p:nvSpPr>
        <p:spPr>
          <a:xfrm>
            <a:off x="6117336" y="4297680"/>
            <a:ext cx="2697480" cy="1691640"/>
          </a:xfrm>
          <a:prstGeom prst="roundRect">
            <a:avLst>
              <a:gd name="adj" fmla="val 6486"/>
            </a:avLst>
          </a:prstGeom>
          <a:solidFill>
            <a:srgbClr val="EEF3F4"/>
          </a:solidFill>
          <a:ln w="12700">
            <a:solidFill>
              <a:srgbClr val="EEF3F4"/>
            </a:solidFill>
            <a:prstDash val="solid"/>
          </a:ln>
        </p:spPr>
      </p:sp>
      <p:sp>
        <p:nvSpPr>
          <p:cNvPr id="22" name="Text 19"/>
          <p:cNvSpPr txBox="1"/>
          <p:nvPr/>
        </p:nvSpPr>
        <p:spPr>
          <a:xfrm>
            <a:off x="6300216" y="44074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23" name="Text 20"/>
          <p:cNvSpPr txBox="1"/>
          <p:nvPr/>
        </p:nvSpPr>
        <p:spPr>
          <a:xfrm>
            <a:off x="6300216" y="4864608"/>
            <a:ext cx="23317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設計配列</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残り距離 d（0 なら成功）</a:t>
            </a:r>
            <a:endParaRPr lang="en-US" sz="1400" dirty="0"/>
          </a:p>
        </p:txBody>
      </p:sp>
      <p:sp>
        <p:nvSpPr>
          <p:cNvPr id="24" name="Shape 21"/>
          <p:cNvSpPr/>
          <p:nvPr/>
        </p:nvSpPr>
        <p:spPr>
          <a:xfrm>
            <a:off x="8924544" y="4297680"/>
            <a:ext cx="2697480" cy="1691640"/>
          </a:xfrm>
          <a:prstGeom prst="roundRect">
            <a:avLst>
              <a:gd name="adj" fmla="val 6486"/>
            </a:avLst>
          </a:prstGeom>
          <a:solidFill>
            <a:srgbClr val="FBE9DC"/>
          </a:solidFill>
          <a:ln w="12700">
            <a:solidFill>
              <a:srgbClr val="FBE9DC"/>
            </a:solidFill>
            <a:prstDash val="solid"/>
          </a:ln>
        </p:spPr>
      </p:sp>
      <p:sp>
        <p:nvSpPr>
          <p:cNvPr id="25" name="Text 22"/>
          <p:cNvSpPr txBox="1"/>
          <p:nvPr/>
        </p:nvSpPr>
        <p:spPr>
          <a:xfrm>
            <a:off x="9107424" y="440740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6" name="Text 23"/>
          <p:cNvSpPr txBox="1"/>
          <p:nvPr/>
        </p:nvSpPr>
        <p:spPr>
          <a:xfrm>
            <a:off x="9107424" y="4864608"/>
            <a:ext cx="23317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初期配列と何文字違う？</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d = 0 は何を保証する？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隣の人と同じ配列になった？</a:t>
            </a:r>
            <a:endParaRPr lang="en-US" sz="1400" dirty="0"/>
          </a:p>
        </p:txBody>
      </p:sp>
      <p:sp>
        <p:nvSpPr>
          <p:cNvPr id="27" name="Text 24"/>
          <p:cNvSpPr txBox="1"/>
          <p:nvPr/>
        </p:nvSpPr>
        <p:spPr>
          <a:xfrm>
            <a:off x="502920" y="6053328"/>
            <a:ext cx="11155680" cy="32004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Windows では同じ seed でも配列・ΔG・P(T) が上の値と異なります（例 seed=1：UGAUGUCUUGAUGUCA）。d = 0 なら成功です</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演習2B：設計配列を再び fold し、目標と比較する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32</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6949440" cy="2286000"/>
          </a:xfrm>
          <a:prstGeom prst="rect">
            <a:avLst/>
          </a:prstGeom>
          <a:solidFill>
            <a:srgbClr val="F6F8F9"/>
          </a:solidFill>
          <a:ln w="9525">
            <a:solidFill>
              <a:srgbClr val="C9D3D6"/>
            </a:solidFill>
            <a:prstDash val="solid"/>
          </a:ln>
        </p:spPr>
      </p:sp>
      <p:sp>
        <p:nvSpPr>
          <p:cNvPr id="8" name="Text 5"/>
          <p:cNvSpPr txBox="1"/>
          <p:nvPr/>
        </p:nvSpPr>
        <p:spPr>
          <a:xfrm>
            <a:off x="612648" y="1261872"/>
            <a:ext cx="6729984" cy="2139696"/>
          </a:xfrm>
          <a:prstGeom prst="rect">
            <a:avLst/>
          </a:prstGeom>
          <a:noFill/>
          <a:ln/>
        </p:spPr>
        <p:txBody>
          <a:bodyPr wrap="square" lIns="0" tIns="0" rIns="0" bIns="0" rtlCol="0" anchor="t"/>
          <a:lstStyle/>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ss, mfe = RNA.fold(seq)                 # 設計配列を再予測</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print(seq)</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print(ss, f"{mfe:.2f}")</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print(target, "← 目標")</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print("目標との塩基対距離 =", RNA.bp_distance(ss, target))</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print("初期配列からの Hamming 距離 =",</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sum(a != b for a, b in zip(start_copy, seq)))</a:t>
            </a:r>
            <a:endParaRPr lang="en-US" sz="1400" dirty="0"/>
          </a:p>
        </p:txBody>
      </p:sp>
      <p:sp>
        <p:nvSpPr>
          <p:cNvPr id="9" name="Text 6"/>
          <p:cNvSpPr txBox="1"/>
          <p:nvPr/>
        </p:nvSpPr>
        <p:spPr>
          <a:xfrm>
            <a:off x="7680960" y="1188720"/>
            <a:ext cx="4023360" cy="320040"/>
          </a:xfrm>
          <a:prstGeom prst="rect">
            <a:avLst/>
          </a:prstGeom>
          <a:noFill/>
          <a:ln/>
        </p:spPr>
        <p:txBody>
          <a:bodyPr wrap="square" lIns="0" tIns="0" rIns="0" bIns="0" rtlCol="0" anchor="t"/>
          <a:lstStyle/>
          <a:p>
            <a:pPr indent="0" marL="0">
              <a:buNone/>
            </a:pPr>
            <a:r>
              <a:rPr lang="en-US" sz="1300" dirty="0">
                <a:solidFill>
                  <a:srgbClr val="5C6B73"/>
                </a:solidFill>
                <a:latin typeface="Meiryo" pitchFamily="34" charset="0"/>
                <a:ea typeface="Meiryo" pitchFamily="34" charset="-122"/>
                <a:cs typeface="Meiryo" pitchFamily="34" charset="-120"/>
              </a:rPr>
              <a:t>期待する出力（seed=1、macOS）</a:t>
            </a:r>
            <a:endParaRPr lang="en-US" sz="1300" dirty="0"/>
          </a:p>
        </p:txBody>
      </p:sp>
      <p:sp>
        <p:nvSpPr>
          <p:cNvPr id="10" name="Shape 7"/>
          <p:cNvSpPr/>
          <p:nvPr/>
        </p:nvSpPr>
        <p:spPr>
          <a:xfrm>
            <a:off x="7680960" y="1508760"/>
            <a:ext cx="4023360" cy="1737360"/>
          </a:xfrm>
          <a:prstGeom prst="rect">
            <a:avLst/>
          </a:prstGeom>
          <a:solidFill>
            <a:srgbClr val="F6F8F9"/>
          </a:solidFill>
          <a:ln w="9525">
            <a:solidFill>
              <a:srgbClr val="C9D3D6"/>
            </a:solidFill>
            <a:prstDash val="solid"/>
          </a:ln>
        </p:spPr>
      </p:sp>
      <p:sp>
        <p:nvSpPr>
          <p:cNvPr id="11" name="Text 8"/>
          <p:cNvSpPr txBox="1"/>
          <p:nvPr/>
        </p:nvSpPr>
        <p:spPr>
          <a:xfrm>
            <a:off x="7790688" y="1581912"/>
            <a:ext cx="3803904" cy="159105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CGCGGAAACGUUCGUG</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 -3.80</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 ← 目標</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目標との塩基対距離 = 0</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初期配列からの Hamming 距離 = 6</a:t>
            </a:r>
            <a:endParaRPr lang="en-US" sz="1200" dirty="0"/>
          </a:p>
        </p:txBody>
      </p:sp>
      <p:sp>
        <p:nvSpPr>
          <p:cNvPr id="12" name="Text 9"/>
          <p:cNvSpPr txBox="1"/>
          <p:nvPr/>
        </p:nvSpPr>
        <p:spPr>
          <a:xfrm>
            <a:off x="7680960" y="3291840"/>
            <a:ext cx="4023360" cy="36576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配布スクリプト：exercises/ex2b_refold.py（単独で実行可。2A の計算も中でやり直す）</a:t>
            </a:r>
            <a:endParaRPr lang="en-US" sz="1200" dirty="0"/>
          </a:p>
        </p:txBody>
      </p:sp>
      <p:sp>
        <p:nvSpPr>
          <p:cNvPr id="13" name="Shape 10"/>
          <p:cNvSpPr/>
          <p:nvPr/>
        </p:nvSpPr>
        <p:spPr>
          <a:xfrm>
            <a:off x="502920" y="3931920"/>
            <a:ext cx="2697480" cy="2057400"/>
          </a:xfrm>
          <a:prstGeom prst="roundRect">
            <a:avLst>
              <a:gd name="adj" fmla="val 5333"/>
            </a:avLst>
          </a:prstGeom>
          <a:solidFill>
            <a:srgbClr val="EEF3F4"/>
          </a:solidFill>
          <a:ln w="12700">
            <a:solidFill>
              <a:srgbClr val="EEF3F4"/>
            </a:solidFill>
            <a:prstDash val="solid"/>
          </a:ln>
        </p:spPr>
      </p:sp>
      <p:sp>
        <p:nvSpPr>
          <p:cNvPr id="14" name="Text 11"/>
          <p:cNvSpPr txBox="1"/>
          <p:nvPr/>
        </p:nvSpPr>
        <p:spPr>
          <a:xfrm>
            <a:off x="685800"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5" name="Text 12"/>
          <p:cNvSpPr txBox="1"/>
          <p:nvPr/>
        </p:nvSpPr>
        <p:spPr>
          <a:xfrm>
            <a:off x="685800" y="4498848"/>
            <a:ext cx="2331720" cy="13716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2A で得た seq と target</a:t>
            </a:r>
            <a:endParaRPr lang="en-US" sz="1400" dirty="0"/>
          </a:p>
        </p:txBody>
      </p:sp>
      <p:sp>
        <p:nvSpPr>
          <p:cNvPr id="16" name="Shape 13"/>
          <p:cNvSpPr/>
          <p:nvPr/>
        </p:nvSpPr>
        <p:spPr>
          <a:xfrm>
            <a:off x="3310128" y="3931920"/>
            <a:ext cx="2697480" cy="2057400"/>
          </a:xfrm>
          <a:prstGeom prst="roundRect">
            <a:avLst>
              <a:gd name="adj" fmla="val 5333"/>
            </a:avLst>
          </a:prstGeom>
          <a:solidFill>
            <a:srgbClr val="EEF3F4"/>
          </a:solidFill>
          <a:ln w="12700">
            <a:solidFill>
              <a:srgbClr val="EEF3F4"/>
            </a:solidFill>
            <a:prstDash val="solid"/>
          </a:ln>
        </p:spPr>
      </p:sp>
      <p:sp>
        <p:nvSpPr>
          <p:cNvPr id="17" name="Text 14"/>
          <p:cNvSpPr txBox="1"/>
          <p:nvPr/>
        </p:nvSpPr>
        <p:spPr>
          <a:xfrm>
            <a:off x="3493008"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8" name="Text 15"/>
          <p:cNvSpPr txBox="1"/>
          <p:nvPr/>
        </p:nvSpPr>
        <p:spPr>
          <a:xfrm>
            <a:off x="3493008" y="4498848"/>
            <a:ext cx="2331720" cy="13716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RNA.fold(seq)</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RNA.bp_distance(ss, target)</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Hamming 距離を数える</a:t>
            </a:r>
            <a:endParaRPr lang="en-US" sz="1400" dirty="0"/>
          </a:p>
        </p:txBody>
      </p:sp>
      <p:sp>
        <p:nvSpPr>
          <p:cNvPr id="19" name="Shape 16"/>
          <p:cNvSpPr/>
          <p:nvPr/>
        </p:nvSpPr>
        <p:spPr>
          <a:xfrm>
            <a:off x="6117336" y="3931920"/>
            <a:ext cx="2697480" cy="2057400"/>
          </a:xfrm>
          <a:prstGeom prst="roundRect">
            <a:avLst>
              <a:gd name="adj" fmla="val 5333"/>
            </a:avLst>
          </a:prstGeom>
          <a:solidFill>
            <a:srgbClr val="EEF3F4"/>
          </a:solidFill>
          <a:ln w="12700">
            <a:solidFill>
              <a:srgbClr val="EEF3F4"/>
            </a:solidFill>
            <a:prstDash val="solid"/>
          </a:ln>
        </p:spPr>
      </p:sp>
      <p:sp>
        <p:nvSpPr>
          <p:cNvPr id="20" name="Text 17"/>
          <p:cNvSpPr txBox="1"/>
          <p:nvPr/>
        </p:nvSpPr>
        <p:spPr>
          <a:xfrm>
            <a:off x="6300216"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21" name="Text 18"/>
          <p:cNvSpPr txBox="1"/>
          <p:nvPr/>
        </p:nvSpPr>
        <p:spPr>
          <a:xfrm>
            <a:off x="6300216" y="4498848"/>
            <a:ext cx="2331720" cy="13716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再予測の構造と ΔG</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塩基対距離（0 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Hamming 距離</a:t>
            </a:r>
            <a:endParaRPr lang="en-US" sz="1400" dirty="0"/>
          </a:p>
        </p:txBody>
      </p:sp>
      <p:sp>
        <p:nvSpPr>
          <p:cNvPr id="22" name="Shape 19"/>
          <p:cNvSpPr/>
          <p:nvPr/>
        </p:nvSpPr>
        <p:spPr>
          <a:xfrm>
            <a:off x="8924544" y="3931920"/>
            <a:ext cx="2697480" cy="2057400"/>
          </a:xfrm>
          <a:prstGeom prst="roundRect">
            <a:avLst>
              <a:gd name="adj" fmla="val 5333"/>
            </a:avLst>
          </a:prstGeom>
          <a:solidFill>
            <a:srgbClr val="FBE9DC"/>
          </a:solidFill>
          <a:ln w="12700">
            <a:solidFill>
              <a:srgbClr val="FBE9DC"/>
            </a:solidFill>
            <a:prstDash val="solid"/>
          </a:ln>
        </p:spPr>
      </p:sp>
      <p:sp>
        <p:nvSpPr>
          <p:cNvPr id="23" name="Text 20"/>
          <p:cNvSpPr txBox="1"/>
          <p:nvPr/>
        </p:nvSpPr>
        <p:spPr>
          <a:xfrm>
            <a:off x="9107424" y="404164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4" name="Text 21"/>
          <p:cNvSpPr txBox="1"/>
          <p:nvPr/>
        </p:nvSpPr>
        <p:spPr>
          <a:xfrm>
            <a:off x="9107424" y="4498848"/>
            <a:ext cx="2331720" cy="13716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ΔG は例題RNAの −10.2 と比べてどうか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「成功」の基準に安定さは入っている？</a:t>
            </a:r>
            <a:endParaRPr lang="en-US" sz="1400" dirty="0"/>
          </a:p>
        </p:txBody>
      </p:sp>
      <p:sp>
        <p:nvSpPr>
          <p:cNvPr id="25" name="Text 22"/>
          <p:cNvSpPr txBox="1"/>
          <p:nvPr/>
        </p:nvSpPr>
        <p:spPr>
          <a:xfrm>
            <a:off x="502920" y="6053328"/>
            <a:ext cx="11155680" cy="32004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Windows では同じ seed でも配列・ΔG・P(T) が上の値と異なります（例 seed=1：UGAUGUCUUGAUGUCA）。d = 0 なら成功です</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演習2C：複数回設計し、異なる配列の候補を集める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33</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6949440" cy="2743200"/>
          </a:xfrm>
          <a:prstGeom prst="rect">
            <a:avLst/>
          </a:prstGeom>
          <a:solidFill>
            <a:srgbClr val="F6F8F9"/>
          </a:solidFill>
          <a:ln w="9525">
            <a:solidFill>
              <a:srgbClr val="C9D3D6"/>
            </a:solidFill>
            <a:prstDash val="solid"/>
          </a:ln>
        </p:spPr>
      </p:sp>
      <p:sp>
        <p:nvSpPr>
          <p:cNvPr id="8" name="Text 5"/>
          <p:cNvSpPr txBox="1"/>
          <p:nvPr/>
        </p:nvSpPr>
        <p:spPr>
          <a:xfrm>
            <a:off x="612648" y="1261872"/>
            <a:ext cx="6729984" cy="259689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results = []</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for seed in range(1, 6):                       # 5 回だけ</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RNA.init_rand(seed)</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start = RNA.random_string(len(target), "ACGU")</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seq, d = RNA.inverse_fold(start, target)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ss, mfe = RNA.fold(seq)</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results.append((seed, seq, ss, mfe, RNA.bp_distance(ss, target)))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for r in results:</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print(r[0], r[1], r[2], f"{r[3]:.2f}", "d =", r[4])</a:t>
            </a:r>
            <a:endParaRPr lang="en-US" sz="13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680960" y="1188720"/>
          <a:ext cx="4023360" cy="914400"/>
        </p:xfrm>
        <a:graphic>
          <a:graphicData uri="http://schemas.openxmlformats.org/drawingml/2006/table">
            <a:tbl>
              <a:tblPr/>
              <a:tblGrid>
                <a:gridCol w="548640"/>
                <a:gridCol w="2194560"/>
                <a:gridCol w="731520"/>
                <a:gridCol w="54864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seed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設計配列</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ΔG</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CGCGGAAACGUUCGUG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-3.80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CUCAGUUUCUAUUGAG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-3.90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CCAGUGUGCACACUGG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-7.30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AUGCGGUCACCCGUGU</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-4.20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UCGGAUUUAGGUCCGA</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-6.00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10" name="Text 6"/>
          <p:cNvSpPr txBox="1"/>
          <p:nvPr/>
        </p:nvSpPr>
        <p:spPr>
          <a:xfrm>
            <a:off x="7680960" y="3063240"/>
            <a:ext cx="4023360" cy="73152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期待する出力（macOS。再予測はすべて目標と一致）　配布：exercises/ex2c_repeat.py</a:t>
            </a:r>
            <a:endParaRPr lang="en-US" sz="1100" dirty="0"/>
          </a:p>
        </p:txBody>
      </p:sp>
      <p:sp>
        <p:nvSpPr>
          <p:cNvPr id="11" name="Shape 7"/>
          <p:cNvSpPr/>
          <p:nvPr/>
        </p:nvSpPr>
        <p:spPr>
          <a:xfrm>
            <a:off x="502920" y="4069080"/>
            <a:ext cx="2697480" cy="1920240"/>
          </a:xfrm>
          <a:prstGeom prst="roundRect">
            <a:avLst>
              <a:gd name="adj" fmla="val 5714"/>
            </a:avLst>
          </a:prstGeom>
          <a:solidFill>
            <a:srgbClr val="EEF3F4"/>
          </a:solidFill>
          <a:ln w="12700">
            <a:solidFill>
              <a:srgbClr val="EEF3F4"/>
            </a:solidFill>
            <a:prstDash val="solid"/>
          </a:ln>
        </p:spPr>
      </p:sp>
      <p:sp>
        <p:nvSpPr>
          <p:cNvPr id="12" name="Text 8"/>
          <p:cNvSpPr txBox="1"/>
          <p:nvPr/>
        </p:nvSpPr>
        <p:spPr>
          <a:xfrm>
            <a:off x="685800" y="41788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3" name="Text 9"/>
          <p:cNvSpPr txBox="1"/>
          <p:nvPr/>
        </p:nvSpPr>
        <p:spPr>
          <a:xfrm>
            <a:off x="685800" y="4636008"/>
            <a:ext cx="23317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seed の範囲（1〜5）</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余裕があれば 6〜10</a:t>
            </a:r>
            <a:endParaRPr lang="en-US" sz="1400" dirty="0"/>
          </a:p>
        </p:txBody>
      </p:sp>
      <p:sp>
        <p:nvSpPr>
          <p:cNvPr id="14" name="Shape 10"/>
          <p:cNvSpPr/>
          <p:nvPr/>
        </p:nvSpPr>
        <p:spPr>
          <a:xfrm>
            <a:off x="3310128" y="4069080"/>
            <a:ext cx="2697480" cy="1920240"/>
          </a:xfrm>
          <a:prstGeom prst="roundRect">
            <a:avLst>
              <a:gd name="adj" fmla="val 5714"/>
            </a:avLst>
          </a:prstGeom>
          <a:solidFill>
            <a:srgbClr val="EEF3F4"/>
          </a:solidFill>
          <a:ln w="12700">
            <a:solidFill>
              <a:srgbClr val="EEF3F4"/>
            </a:solidFill>
            <a:prstDash val="solid"/>
          </a:ln>
        </p:spPr>
      </p:sp>
      <p:sp>
        <p:nvSpPr>
          <p:cNvPr id="15" name="Text 11"/>
          <p:cNvSpPr txBox="1"/>
          <p:nvPr/>
        </p:nvSpPr>
        <p:spPr>
          <a:xfrm>
            <a:off x="3493008" y="41788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6" name="Text 12"/>
          <p:cNvSpPr txBox="1"/>
          <p:nvPr/>
        </p:nvSpPr>
        <p:spPr>
          <a:xfrm>
            <a:off x="3493008" y="4636008"/>
            <a:ext cx="23317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for ループで 5 回設計</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各回を再予測して記録</a:t>
            </a:r>
            <a:endParaRPr lang="en-US" sz="1400" dirty="0"/>
          </a:p>
        </p:txBody>
      </p:sp>
      <p:sp>
        <p:nvSpPr>
          <p:cNvPr id="17" name="Shape 13"/>
          <p:cNvSpPr/>
          <p:nvPr/>
        </p:nvSpPr>
        <p:spPr>
          <a:xfrm>
            <a:off x="6117336" y="4069080"/>
            <a:ext cx="2697480" cy="1920240"/>
          </a:xfrm>
          <a:prstGeom prst="roundRect">
            <a:avLst>
              <a:gd name="adj" fmla="val 5714"/>
            </a:avLst>
          </a:prstGeom>
          <a:solidFill>
            <a:srgbClr val="EEF3F4"/>
          </a:solidFill>
          <a:ln w="12700">
            <a:solidFill>
              <a:srgbClr val="EEF3F4"/>
            </a:solidFill>
            <a:prstDash val="solid"/>
          </a:ln>
        </p:spPr>
      </p:sp>
      <p:sp>
        <p:nvSpPr>
          <p:cNvPr id="18" name="Text 14"/>
          <p:cNvSpPr txBox="1"/>
          <p:nvPr/>
        </p:nvSpPr>
        <p:spPr>
          <a:xfrm>
            <a:off x="6300216" y="41788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19" name="Text 15"/>
          <p:cNvSpPr txBox="1"/>
          <p:nvPr/>
        </p:nvSpPr>
        <p:spPr>
          <a:xfrm>
            <a:off x="6300216" y="4636008"/>
            <a:ext cx="23317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5 つの配列（全部違う）</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ΔG のばらつき</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d（失敗があれば &gt; 0）</a:t>
            </a:r>
            <a:endParaRPr lang="en-US" sz="1400" dirty="0"/>
          </a:p>
        </p:txBody>
      </p:sp>
      <p:sp>
        <p:nvSpPr>
          <p:cNvPr id="20" name="Shape 16"/>
          <p:cNvSpPr/>
          <p:nvPr/>
        </p:nvSpPr>
        <p:spPr>
          <a:xfrm>
            <a:off x="8924544" y="4069080"/>
            <a:ext cx="2697480" cy="1920240"/>
          </a:xfrm>
          <a:prstGeom prst="roundRect">
            <a:avLst>
              <a:gd name="adj" fmla="val 5714"/>
            </a:avLst>
          </a:prstGeom>
          <a:solidFill>
            <a:srgbClr val="FBE9DC"/>
          </a:solidFill>
          <a:ln w="12700">
            <a:solidFill>
              <a:srgbClr val="FBE9DC"/>
            </a:solidFill>
            <a:prstDash val="solid"/>
          </a:ln>
        </p:spPr>
      </p:sp>
      <p:sp>
        <p:nvSpPr>
          <p:cNvPr id="21" name="Text 17"/>
          <p:cNvSpPr txBox="1"/>
          <p:nvPr/>
        </p:nvSpPr>
        <p:spPr>
          <a:xfrm>
            <a:off x="9107424" y="417880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2" name="Text 18"/>
          <p:cNvSpPr txBox="1"/>
          <p:nvPr/>
        </p:nvSpPr>
        <p:spPr>
          <a:xfrm>
            <a:off x="9107424" y="4636008"/>
            <a:ext cx="23317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どの候補が「良い」？</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ΔG が低い＝良い、と言える？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失敗候補は何が違う？</a:t>
            </a:r>
            <a:endParaRPr lang="en-US" sz="1400" dirty="0"/>
          </a:p>
        </p:txBody>
      </p:sp>
      <p:sp>
        <p:nvSpPr>
          <p:cNvPr id="23" name="Text 19"/>
          <p:cNvSpPr txBox="1"/>
          <p:nvPr/>
        </p:nvSpPr>
        <p:spPr>
          <a:xfrm>
            <a:off x="502920" y="6053328"/>
            <a:ext cx="11155680" cy="32004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Windows では同じ seed でも配列・ΔG・P(T) が上の値と異なります（例 seed=1：UGAUGUCUUGAUGUCA）。d = 0 なら成功です</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演習2D：目標構造の確率を計算し、候補を比較する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34</a:t>
            </a:r>
            <a:endParaRPr lang="en-US" sz="1100" dirty="0"/>
          </a:p>
        </p:txBody>
      </p:sp>
      <p:sp>
        <p:nvSpPr>
          <p:cNvPr id="6" name="Text 3"/>
          <p:cNvSpPr txBox="1"/>
          <p:nvPr/>
        </p:nvSpPr>
        <p:spPr>
          <a:xfrm>
            <a:off x="9951415" y="54864"/>
            <a:ext cx="1737360" cy="274320"/>
          </a:xfrm>
          <a:prstGeom prst="roundRect">
            <a:avLst>
              <a:gd name="adj" fmla="val 26667"/>
            </a:avLst>
          </a:prstGeom>
          <a:solidFill>
            <a:srgbClr val="0F4C5C"/>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時間があれば</a:t>
            </a:r>
            <a:endParaRPr lang="en-US" sz="1200" dirty="0"/>
          </a:p>
        </p:txBody>
      </p:sp>
      <p:sp>
        <p:nvSpPr>
          <p:cNvPr id="7" name="Shape 4"/>
          <p:cNvSpPr/>
          <p:nvPr/>
        </p:nvSpPr>
        <p:spPr>
          <a:xfrm>
            <a:off x="502920" y="1188720"/>
            <a:ext cx="6949440" cy="2834640"/>
          </a:xfrm>
          <a:prstGeom prst="rect">
            <a:avLst/>
          </a:prstGeom>
          <a:solidFill>
            <a:srgbClr val="F6F8F9"/>
          </a:solidFill>
          <a:ln w="9525">
            <a:solidFill>
              <a:srgbClr val="C9D3D6"/>
            </a:solidFill>
            <a:prstDash val="solid"/>
          </a:ln>
        </p:spPr>
      </p:sp>
      <p:sp>
        <p:nvSpPr>
          <p:cNvPr id="8" name="Text 5"/>
          <p:cNvSpPr txBox="1"/>
          <p:nvPr/>
        </p:nvSpPr>
        <p:spPr>
          <a:xfrm>
            <a:off x="612648" y="1261872"/>
            <a:ext cx="6729984" cy="268833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def target_probability(seq, target):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fc = RNA.fold_compound(seq)          # 同じモデル条件（37 ℃）</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ss, mfe = fc.mfe()</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fc.exp_params_rescale(mfe)</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fc.pf()                              # 分配関数</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return fc.pr_structure(target)       # 目標構造の確率 P(T)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for seed, seq, ss, mfe, d in results:</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print(seed, seq, f"P(目標) = {target_probability(seq, target):.3f}")</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680960" y="1188720"/>
          <a:ext cx="4023360" cy="914400"/>
        </p:xfrm>
        <a:graphic>
          <a:graphicData uri="http://schemas.openxmlformats.org/drawingml/2006/table">
            <a:tbl>
              <a:tblPr/>
              <a:tblGrid>
                <a:gridCol w="548640"/>
                <a:gridCol w="2011680"/>
                <a:gridCol w="457200"/>
                <a:gridCol w="1005840"/>
              </a:tblGrid>
              <a:tr h="0">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seed</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設計配列</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d</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P(T)</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CGCGGAAACGUUCGUG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b="1" dirty="0">
                          <a:solidFill>
                            <a:srgbClr val="1F2A30"/>
                          </a:solidFill>
                          <a:latin typeface="Meiryo" pitchFamily="34" charset="0"/>
                          <a:ea typeface="Meiryo" pitchFamily="34" charset="-122"/>
                          <a:cs typeface="Meiryo" pitchFamily="34" charset="-120"/>
                        </a:rPr>
                        <a:t>0.616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CUCAGUUUCUAUUGAG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b="1" dirty="0">
                          <a:solidFill>
                            <a:srgbClr val="1F2A30"/>
                          </a:solidFill>
                          <a:latin typeface="Meiryo" pitchFamily="34" charset="0"/>
                          <a:ea typeface="Meiryo" pitchFamily="34" charset="-122"/>
                          <a:cs typeface="Meiryo" pitchFamily="34" charset="-120"/>
                        </a:rPr>
                        <a:t>0.863</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CCAGUGUGCACACUGG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b="1" dirty="0">
                          <a:solidFill>
                            <a:srgbClr val="1F2A30"/>
                          </a:solidFill>
                          <a:latin typeface="Meiryo" pitchFamily="34" charset="0"/>
                          <a:ea typeface="Meiryo" pitchFamily="34" charset="-122"/>
                          <a:cs typeface="Meiryo" pitchFamily="34" charset="-120"/>
                        </a:rPr>
                        <a:t>0.935</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AUGCGGUCACCCGUGU</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b="1" dirty="0">
                          <a:solidFill>
                            <a:srgbClr val="E36414"/>
                          </a:solidFill>
                          <a:latin typeface="Meiryo" pitchFamily="34" charset="0"/>
                          <a:ea typeface="Meiryo" pitchFamily="34" charset="-122"/>
                          <a:cs typeface="Meiryo" pitchFamily="34" charset="-120"/>
                        </a:rPr>
                        <a:t>0.506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UCGGAUUUAGGUCCGA</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b="1" dirty="0">
                          <a:solidFill>
                            <a:srgbClr val="E36414"/>
                          </a:solidFill>
                          <a:latin typeface="Meiryo" pitchFamily="34" charset="0"/>
                          <a:ea typeface="Meiryo" pitchFamily="34" charset="-122"/>
                          <a:cs typeface="Meiryo" pitchFamily="34" charset="-120"/>
                        </a:rPr>
                        <a:t>0.570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100" dirty="0">
                          <a:solidFill>
                            <a:srgbClr val="1F2A30"/>
                          </a:solidFill>
                          <a:latin typeface="Meiryo" pitchFamily="34" charset="0"/>
                          <a:ea typeface="Meiryo" pitchFamily="34" charset="-122"/>
                          <a:cs typeface="Meiryo" pitchFamily="34" charset="-120"/>
                        </a:rPr>
                        <a:t>-Fp</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GGCGGCGCAGGCCGCC</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b="1" dirty="0">
                          <a:solidFill>
                            <a:srgbClr val="009E73"/>
                          </a:solidFill>
                          <a:latin typeface="Meiryo" pitchFamily="34" charset="0"/>
                          <a:ea typeface="Meiryo" pitchFamily="34" charset="-122"/>
                          <a:cs typeface="Meiryo" pitchFamily="34" charset="-120"/>
                        </a:rPr>
                        <a:t>0.976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10" name="Text 6"/>
          <p:cNvSpPr txBox="1"/>
          <p:nvPr/>
        </p:nvSpPr>
        <p:spPr>
          <a:xfrm>
            <a:off x="7680960" y="3383280"/>
            <a:ext cx="4023360" cy="64008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最終行：RNA.inverse_pf_fold（確率を最大化する版）の結果。配布：exercises/ex2d_probability.py</a:t>
            </a:r>
            <a:endParaRPr lang="en-US" sz="1100" dirty="0"/>
          </a:p>
        </p:txBody>
      </p:sp>
      <p:sp>
        <p:nvSpPr>
          <p:cNvPr id="11" name="Shape 7"/>
          <p:cNvSpPr/>
          <p:nvPr/>
        </p:nvSpPr>
        <p:spPr>
          <a:xfrm>
            <a:off x="502920" y="4114800"/>
            <a:ext cx="2697480" cy="1874520"/>
          </a:xfrm>
          <a:prstGeom prst="roundRect">
            <a:avLst>
              <a:gd name="adj" fmla="val 5854"/>
            </a:avLst>
          </a:prstGeom>
          <a:solidFill>
            <a:srgbClr val="EEF3F4"/>
          </a:solidFill>
          <a:ln w="12700">
            <a:solidFill>
              <a:srgbClr val="EEF3F4"/>
            </a:solidFill>
            <a:prstDash val="solid"/>
          </a:ln>
        </p:spPr>
      </p:sp>
      <p:sp>
        <p:nvSpPr>
          <p:cNvPr id="12" name="Text 8"/>
          <p:cNvSpPr txBox="1"/>
          <p:nvPr/>
        </p:nvSpPr>
        <p:spPr>
          <a:xfrm>
            <a:off x="685800" y="422452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3" name="Text 9"/>
          <p:cNvSpPr txBox="1"/>
          <p:nvPr/>
        </p:nvSpPr>
        <p:spPr>
          <a:xfrm>
            <a:off x="685800" y="4681728"/>
            <a:ext cx="23317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2C の results</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（発展）inverse_pf_fold も試す</a:t>
            </a:r>
            <a:endParaRPr lang="en-US" sz="1300" dirty="0"/>
          </a:p>
        </p:txBody>
      </p:sp>
      <p:sp>
        <p:nvSpPr>
          <p:cNvPr id="14" name="Shape 10"/>
          <p:cNvSpPr/>
          <p:nvPr/>
        </p:nvSpPr>
        <p:spPr>
          <a:xfrm>
            <a:off x="3310128" y="4114800"/>
            <a:ext cx="2697480" cy="1874520"/>
          </a:xfrm>
          <a:prstGeom prst="roundRect">
            <a:avLst>
              <a:gd name="adj" fmla="val 5854"/>
            </a:avLst>
          </a:prstGeom>
          <a:solidFill>
            <a:srgbClr val="EEF3F4"/>
          </a:solidFill>
          <a:ln w="12700">
            <a:solidFill>
              <a:srgbClr val="EEF3F4"/>
            </a:solidFill>
            <a:prstDash val="solid"/>
          </a:ln>
        </p:spPr>
      </p:sp>
      <p:sp>
        <p:nvSpPr>
          <p:cNvPr id="15" name="Text 11"/>
          <p:cNvSpPr txBox="1"/>
          <p:nvPr/>
        </p:nvSpPr>
        <p:spPr>
          <a:xfrm>
            <a:off x="3493008" y="422452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6" name="Text 12"/>
          <p:cNvSpPr txBox="1"/>
          <p:nvPr/>
        </p:nvSpPr>
        <p:spPr>
          <a:xfrm>
            <a:off x="3493008" y="4681728"/>
            <a:ext cx="23317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target_probability で各候補の P(T)</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表にして並べる</a:t>
            </a:r>
            <a:endParaRPr lang="en-US" sz="1300" dirty="0"/>
          </a:p>
        </p:txBody>
      </p:sp>
      <p:sp>
        <p:nvSpPr>
          <p:cNvPr id="17" name="Shape 13"/>
          <p:cNvSpPr/>
          <p:nvPr/>
        </p:nvSpPr>
        <p:spPr>
          <a:xfrm>
            <a:off x="6117336" y="4114800"/>
            <a:ext cx="2697480" cy="1874520"/>
          </a:xfrm>
          <a:prstGeom prst="roundRect">
            <a:avLst>
              <a:gd name="adj" fmla="val 5854"/>
            </a:avLst>
          </a:prstGeom>
          <a:solidFill>
            <a:srgbClr val="EEF3F4"/>
          </a:solidFill>
          <a:ln w="12700">
            <a:solidFill>
              <a:srgbClr val="EEF3F4"/>
            </a:solidFill>
            <a:prstDash val="solid"/>
          </a:ln>
        </p:spPr>
      </p:sp>
      <p:sp>
        <p:nvSpPr>
          <p:cNvPr id="18" name="Text 14"/>
          <p:cNvSpPr txBox="1"/>
          <p:nvPr/>
        </p:nvSpPr>
        <p:spPr>
          <a:xfrm>
            <a:off x="6300216" y="422452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19" name="Text 15"/>
          <p:cNvSpPr txBox="1"/>
          <p:nvPr/>
        </p:nvSpPr>
        <p:spPr>
          <a:xfrm>
            <a:off x="6300216" y="4681728"/>
            <a:ext cx="23317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P(T)：0.5〜0.94 とばらつく</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d = 0 でも低い候補がある</a:t>
            </a:r>
            <a:endParaRPr lang="en-US" sz="1300" dirty="0"/>
          </a:p>
        </p:txBody>
      </p:sp>
      <p:sp>
        <p:nvSpPr>
          <p:cNvPr id="20" name="Shape 16"/>
          <p:cNvSpPr/>
          <p:nvPr/>
        </p:nvSpPr>
        <p:spPr>
          <a:xfrm>
            <a:off x="8924544" y="4114800"/>
            <a:ext cx="2697480" cy="1874520"/>
          </a:xfrm>
          <a:prstGeom prst="roundRect">
            <a:avLst>
              <a:gd name="adj" fmla="val 5854"/>
            </a:avLst>
          </a:prstGeom>
          <a:solidFill>
            <a:srgbClr val="FBE9DC"/>
          </a:solidFill>
          <a:ln w="12700">
            <a:solidFill>
              <a:srgbClr val="FBE9DC"/>
            </a:solidFill>
            <a:prstDash val="solid"/>
          </a:ln>
        </p:spPr>
      </p:sp>
      <p:sp>
        <p:nvSpPr>
          <p:cNvPr id="21" name="Text 17"/>
          <p:cNvSpPr txBox="1"/>
          <p:nvPr/>
        </p:nvSpPr>
        <p:spPr>
          <a:xfrm>
            <a:off x="9107424" y="422452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2" name="Text 18"/>
          <p:cNvSpPr txBox="1"/>
          <p:nvPr/>
        </p:nvSpPr>
        <p:spPr>
          <a:xfrm>
            <a:off x="9107424" y="4681728"/>
            <a:ext cx="23317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MFE 一致と高い P(T) は同じ条件？</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P(T) が高い配列の特徴は？</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GC が多い配列の懸念は？</a:t>
            </a:r>
            <a:endParaRPr lang="en-US" sz="1300" dirty="0"/>
          </a:p>
        </p:txBody>
      </p:sp>
      <p:sp>
        <p:nvSpPr>
          <p:cNvPr id="23" name="Text 19"/>
          <p:cNvSpPr txBox="1"/>
          <p:nvPr/>
        </p:nvSpPr>
        <p:spPr>
          <a:xfrm>
            <a:off x="502920" y="6053328"/>
            <a:ext cx="11155680" cy="32004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Windows では候補の配列と P(T) が上の値と異なります。inverse_pf_fold の P(T) = 0.976 は共通です</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グループで試す発展問題：目標や配列条件を一つ変えて比較する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35</a:t>
            </a:r>
            <a:endParaRPr lang="en-US" sz="1100" dirty="0"/>
          </a:p>
        </p:txBody>
      </p:sp>
      <p:sp>
        <p:nvSpPr>
          <p:cNvPr id="6" name="Text 3"/>
          <p:cNvSpPr txBox="1"/>
          <p:nvPr/>
        </p:nvSpPr>
        <p:spPr>
          <a:xfrm>
            <a:off x="9677095" y="54864"/>
            <a:ext cx="2011680" cy="274320"/>
          </a:xfrm>
          <a:prstGeom prst="roundRect">
            <a:avLst>
              <a:gd name="adj" fmla="val 26667"/>
            </a:avLst>
          </a:prstGeom>
          <a:solidFill>
            <a:srgbClr val="0F4C5C"/>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グループの裁量で</a:t>
            </a:r>
            <a:endParaRPr lang="en-US" sz="1200" dirty="0"/>
          </a:p>
        </p:txBody>
      </p:sp>
      <p:sp>
        <p:nvSpPr>
          <p:cNvPr id="7" name="Shape 4"/>
          <p:cNvSpPr/>
          <p:nvPr/>
        </p:nvSpPr>
        <p:spPr>
          <a:xfrm>
            <a:off x="502920" y="1188720"/>
            <a:ext cx="3566160" cy="3840480"/>
          </a:xfrm>
          <a:prstGeom prst="roundRect">
            <a:avLst>
              <a:gd name="adj" fmla="val 3077"/>
            </a:avLst>
          </a:prstGeom>
          <a:solidFill>
            <a:srgbClr val="EEF3F4"/>
          </a:solidFill>
          <a:ln w="12700">
            <a:solidFill>
              <a:srgbClr val="EEF3F4"/>
            </a:solidFill>
            <a:prstDash val="solid"/>
          </a:ln>
        </p:spPr>
      </p:sp>
      <p:sp>
        <p:nvSpPr>
          <p:cNvPr id="8" name="Text 5"/>
          <p:cNvSpPr txBox="1"/>
          <p:nvPr/>
        </p:nvSpPr>
        <p:spPr>
          <a:xfrm>
            <a:off x="685800" y="1298448"/>
            <a:ext cx="32004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A. 目標構造を変える</a:t>
            </a:r>
            <a:endParaRPr lang="en-US" sz="2000" dirty="0"/>
          </a:p>
        </p:txBody>
      </p:sp>
      <p:sp>
        <p:nvSpPr>
          <p:cNvPr id="9" name="Text 6"/>
          <p:cNvSpPr txBox="1"/>
          <p:nvPr/>
        </p:nvSpPr>
        <p:spPr>
          <a:xfrm>
            <a:off x="685800" y="1755648"/>
            <a:ext cx="3200400" cy="31546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内部ループ入り（24）</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2 ヘアピン（26）</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3 分岐（53 塩基、難しい）</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 ex3_group.py のコメント参照</a:t>
            </a:r>
            <a:endParaRPr lang="en-US" sz="1200" dirty="0"/>
          </a:p>
        </p:txBody>
      </p:sp>
      <p:sp>
        <p:nvSpPr>
          <p:cNvPr id="10" name="Text 7"/>
          <p:cNvSpPr txBox="1"/>
          <p:nvPr/>
        </p:nvSpPr>
        <p:spPr>
          <a:xfrm>
            <a:off x="685800" y="4526280"/>
            <a:ext cx="3200400" cy="457200"/>
          </a:xfrm>
          <a:prstGeom prst="rect">
            <a:avLst/>
          </a:prstGeom>
          <a:noFill/>
          <a:ln/>
        </p:spPr>
        <p:txBody>
          <a:bodyPr wrap="square" lIns="0" tIns="0" rIns="0" bIns="0" rtlCol="0" anchor="t"/>
          <a:lstStyle/>
          <a:p>
            <a:pPr indent="0" marL="0">
              <a:buNone/>
            </a:pPr>
            <a:r>
              <a:rPr lang="en-US" sz="1300" dirty="0">
                <a:solidFill>
                  <a:srgbClr val="E36414"/>
                </a:solidFill>
                <a:latin typeface="Meiryo" pitchFamily="34" charset="0"/>
                <a:ea typeface="Meiryo" pitchFamily="34" charset="-122"/>
                <a:cs typeface="Meiryo" pitchFamily="34" charset="-120"/>
              </a:rPr>
              <a:t>問い：成功率と P(T) はどう変わるか</a:t>
            </a:r>
            <a:endParaRPr lang="en-US" sz="1300" dirty="0"/>
          </a:p>
        </p:txBody>
      </p:sp>
      <p:sp>
        <p:nvSpPr>
          <p:cNvPr id="11" name="Shape 8"/>
          <p:cNvSpPr/>
          <p:nvPr/>
        </p:nvSpPr>
        <p:spPr>
          <a:xfrm>
            <a:off x="4251960" y="1188720"/>
            <a:ext cx="3566160" cy="3840480"/>
          </a:xfrm>
          <a:prstGeom prst="roundRect">
            <a:avLst>
              <a:gd name="adj" fmla="val 3077"/>
            </a:avLst>
          </a:prstGeom>
          <a:solidFill>
            <a:srgbClr val="EEF3F4"/>
          </a:solidFill>
          <a:ln w="12700">
            <a:solidFill>
              <a:srgbClr val="EEF3F4"/>
            </a:solidFill>
            <a:prstDash val="solid"/>
          </a:ln>
        </p:spPr>
      </p:sp>
      <p:sp>
        <p:nvSpPr>
          <p:cNvPr id="12" name="Text 9"/>
          <p:cNvSpPr txBox="1"/>
          <p:nvPr/>
        </p:nvSpPr>
        <p:spPr>
          <a:xfrm>
            <a:off x="4434840" y="1298448"/>
            <a:ext cx="32004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B. 塩基を固定する</a:t>
            </a:r>
            <a:endParaRPr lang="en-US" sz="2000" dirty="0"/>
          </a:p>
        </p:txBody>
      </p:sp>
      <p:sp>
        <p:nvSpPr>
          <p:cNvPr id="13" name="Text 10"/>
          <p:cNvSpPr txBox="1"/>
          <p:nvPr/>
        </p:nvSpPr>
        <p:spPr>
          <a:xfrm>
            <a:off x="4434840" y="1755648"/>
            <a:ext cx="3200400" cy="31546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初期配列の一部を小文字にすると固定される</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start = start[:6] + "gaaa" + start[10:]</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ループを GAAA に固定して 5 回設計</a:t>
            </a:r>
            <a:endParaRPr lang="en-US" sz="1200" dirty="0"/>
          </a:p>
        </p:txBody>
      </p:sp>
      <p:sp>
        <p:nvSpPr>
          <p:cNvPr id="14" name="Text 11"/>
          <p:cNvSpPr txBox="1"/>
          <p:nvPr/>
        </p:nvSpPr>
        <p:spPr>
          <a:xfrm>
            <a:off x="4434840" y="4526280"/>
            <a:ext cx="3200400" cy="457200"/>
          </a:xfrm>
          <a:prstGeom prst="rect">
            <a:avLst/>
          </a:prstGeom>
          <a:noFill/>
          <a:ln/>
        </p:spPr>
        <p:txBody>
          <a:bodyPr wrap="square" lIns="0" tIns="0" rIns="0" bIns="0" rtlCol="0" anchor="t"/>
          <a:lstStyle/>
          <a:p>
            <a:pPr indent="0" marL="0">
              <a:buNone/>
            </a:pPr>
            <a:r>
              <a:rPr lang="en-US" sz="1300" dirty="0">
                <a:solidFill>
                  <a:srgbClr val="E36414"/>
                </a:solidFill>
                <a:latin typeface="Meiryo" pitchFamily="34" charset="0"/>
                <a:ea typeface="Meiryo" pitchFamily="34" charset="-122"/>
                <a:cs typeface="Meiryo" pitchFamily="34" charset="-120"/>
              </a:rPr>
              <a:t>問い：固定しても成功するか。P(T) は？</a:t>
            </a:r>
            <a:endParaRPr lang="en-US" sz="1300" dirty="0"/>
          </a:p>
        </p:txBody>
      </p:sp>
      <p:sp>
        <p:nvSpPr>
          <p:cNvPr id="15" name="Shape 12"/>
          <p:cNvSpPr/>
          <p:nvPr/>
        </p:nvSpPr>
        <p:spPr>
          <a:xfrm>
            <a:off x="8001000" y="1188720"/>
            <a:ext cx="3566160" cy="3840480"/>
          </a:xfrm>
          <a:prstGeom prst="roundRect">
            <a:avLst>
              <a:gd name="adj" fmla="val 3077"/>
            </a:avLst>
          </a:prstGeom>
          <a:solidFill>
            <a:srgbClr val="EEF3F4"/>
          </a:solidFill>
          <a:ln w="12700">
            <a:solidFill>
              <a:srgbClr val="EEF3F4"/>
            </a:solidFill>
            <a:prstDash val="solid"/>
          </a:ln>
        </p:spPr>
      </p:sp>
      <p:sp>
        <p:nvSpPr>
          <p:cNvPr id="16" name="Text 13"/>
          <p:cNvSpPr txBox="1"/>
          <p:nvPr/>
        </p:nvSpPr>
        <p:spPr>
          <a:xfrm>
            <a:off x="8183880" y="1298448"/>
            <a:ext cx="32004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C. 温度を変える</a:t>
            </a:r>
            <a:endParaRPr lang="en-US" sz="2000" dirty="0"/>
          </a:p>
        </p:txBody>
      </p:sp>
      <p:sp>
        <p:nvSpPr>
          <p:cNvPr id="17" name="Text 14"/>
          <p:cNvSpPr txBox="1"/>
          <p:nvPr/>
        </p:nvSpPr>
        <p:spPr>
          <a:xfrm>
            <a:off x="8183880" y="1755648"/>
            <a:ext cx="3200400" cy="31546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RNA.md() の temperature を 25 / 60 に</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同じ候補の P(T) を再計算</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（設計を別温度で行うなら RNA.cvar.temperature）</a:t>
            </a:r>
            <a:endParaRPr lang="en-US" sz="1200" dirty="0"/>
          </a:p>
        </p:txBody>
      </p:sp>
      <p:sp>
        <p:nvSpPr>
          <p:cNvPr id="18" name="Text 15"/>
          <p:cNvSpPr txBox="1"/>
          <p:nvPr/>
        </p:nvSpPr>
        <p:spPr>
          <a:xfrm>
            <a:off x="8183880" y="4526280"/>
            <a:ext cx="3200400" cy="457200"/>
          </a:xfrm>
          <a:prstGeom prst="rect">
            <a:avLst/>
          </a:prstGeom>
          <a:noFill/>
          <a:ln/>
        </p:spPr>
        <p:txBody>
          <a:bodyPr wrap="square" lIns="0" tIns="0" rIns="0" bIns="0" rtlCol="0" anchor="t"/>
          <a:lstStyle/>
          <a:p>
            <a:pPr indent="0" marL="0">
              <a:buNone/>
            </a:pPr>
            <a:r>
              <a:rPr lang="en-US" sz="1300" dirty="0">
                <a:solidFill>
                  <a:srgbClr val="E36414"/>
                </a:solidFill>
                <a:latin typeface="Meiryo" pitchFamily="34" charset="0"/>
                <a:ea typeface="Meiryo" pitchFamily="34" charset="-122"/>
                <a:cs typeface="Meiryo" pitchFamily="34" charset="-120"/>
              </a:rPr>
              <a:t>問い：温度で目標構造の確率はどう変わるか</a:t>
            </a:r>
            <a:endParaRPr lang="en-US" sz="1300" dirty="0"/>
          </a:p>
        </p:txBody>
      </p:sp>
      <p:sp>
        <p:nvSpPr>
          <p:cNvPr id="19" name="Shape 16"/>
          <p:cNvSpPr/>
          <p:nvPr/>
        </p:nvSpPr>
        <p:spPr>
          <a:xfrm>
            <a:off x="502920" y="5166360"/>
            <a:ext cx="11155680" cy="960120"/>
          </a:xfrm>
          <a:prstGeom prst="roundRect">
            <a:avLst>
              <a:gd name="adj" fmla="val 11429"/>
            </a:avLst>
          </a:prstGeom>
          <a:solidFill>
            <a:srgbClr val="EEF3F4"/>
          </a:solidFill>
          <a:ln w="12700">
            <a:solidFill>
              <a:srgbClr val="EEF3F4"/>
            </a:solidFill>
            <a:prstDash val="solid"/>
          </a:ln>
        </p:spPr>
      </p:sp>
      <p:sp>
        <p:nvSpPr>
          <p:cNvPr id="20" name="Text 17"/>
          <p:cNvSpPr txBox="1"/>
          <p:nvPr/>
        </p:nvSpPr>
        <p:spPr>
          <a:xfrm>
            <a:off x="685800" y="5276088"/>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記録すること（提出課題の材料）</a:t>
            </a:r>
            <a:endParaRPr lang="en-US" sz="2000" dirty="0"/>
          </a:p>
        </p:txBody>
      </p:sp>
      <p:sp>
        <p:nvSpPr>
          <p:cNvPr id="21" name="Text 18"/>
          <p:cNvSpPr txBox="1"/>
          <p:nvPr/>
        </p:nvSpPr>
        <p:spPr>
          <a:xfrm>
            <a:off x="685800" y="5733288"/>
            <a:ext cx="10789920" cy="2743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変えた条件／目標構造／設計配列（複数）／再予測結果／P(T)／気づいたこと</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2E8B57"/>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録画を再開します：まとめ</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20:40–20:50　応用への展開、まとめ、提出課題</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グループの結果は録画停止中に共有してもらいました。ここからは本日の内容を整理します。</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実際の応用で追加する条件：複数状態、相互作用、実験検証</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37</a:t>
            </a:r>
            <a:endParaRPr lang="en-US" sz="1100" dirty="0"/>
          </a:p>
        </p:txBody>
      </p:sp>
      <p:sp>
        <p:nvSpPr>
          <p:cNvPr id="6" name="Shape 3"/>
          <p:cNvSpPr/>
          <p:nvPr/>
        </p:nvSpPr>
        <p:spPr>
          <a:xfrm>
            <a:off x="502920" y="1188720"/>
            <a:ext cx="5486400" cy="1965960"/>
          </a:xfrm>
          <a:prstGeom prst="roundRect">
            <a:avLst>
              <a:gd name="adj" fmla="val 5581"/>
            </a:avLst>
          </a:prstGeom>
          <a:solidFill>
            <a:srgbClr val="EEF3F4"/>
          </a:solidFill>
          <a:ln w="12700">
            <a:solidFill>
              <a:srgbClr val="EEF3F4"/>
            </a:solidFill>
            <a:prstDash val="solid"/>
          </a:ln>
        </p:spPr>
      </p:sp>
      <p:sp>
        <p:nvSpPr>
          <p:cNvPr id="7" name="Text 4"/>
          <p:cNvSpPr txBox="1"/>
          <p:nvPr/>
        </p:nvSpPr>
        <p:spPr>
          <a:xfrm>
            <a:off x="685800" y="1298448"/>
            <a:ext cx="512064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複数状態</a:t>
            </a:r>
            <a:endParaRPr lang="en-US" sz="2000" dirty="0"/>
          </a:p>
        </p:txBody>
      </p:sp>
      <p:sp>
        <p:nvSpPr>
          <p:cNvPr id="8" name="Text 5"/>
          <p:cNvSpPr txBox="1"/>
          <p:nvPr/>
        </p:nvSpPr>
        <p:spPr>
          <a:xfrm>
            <a:off x="685800" y="1755648"/>
            <a:ext cx="512064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スイッチは OFF/ON の両構造を評価</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複数目標の設計（RNAblueprint など）</a:t>
            </a:r>
            <a:endParaRPr lang="en-US" sz="1600" dirty="0"/>
          </a:p>
        </p:txBody>
      </p:sp>
      <p:sp>
        <p:nvSpPr>
          <p:cNvPr id="9" name="Shape 6"/>
          <p:cNvSpPr/>
          <p:nvPr/>
        </p:nvSpPr>
        <p:spPr>
          <a:xfrm>
            <a:off x="6172200" y="1188720"/>
            <a:ext cx="5486400" cy="1965960"/>
          </a:xfrm>
          <a:prstGeom prst="roundRect">
            <a:avLst>
              <a:gd name="adj" fmla="val 5581"/>
            </a:avLst>
          </a:prstGeom>
          <a:solidFill>
            <a:srgbClr val="EEF3F4"/>
          </a:solidFill>
          <a:ln w="12700">
            <a:solidFill>
              <a:srgbClr val="EEF3F4"/>
            </a:solidFill>
            <a:prstDash val="solid"/>
          </a:ln>
        </p:spPr>
      </p:sp>
      <p:sp>
        <p:nvSpPr>
          <p:cNvPr id="10" name="Text 7"/>
          <p:cNvSpPr txBox="1"/>
          <p:nvPr/>
        </p:nvSpPr>
        <p:spPr>
          <a:xfrm>
            <a:off x="6355080" y="12984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相互作用</a:t>
            </a:r>
            <a:endParaRPr lang="en-US" sz="2000" dirty="0"/>
          </a:p>
        </p:txBody>
      </p:sp>
      <p:sp>
        <p:nvSpPr>
          <p:cNvPr id="11" name="Text 8"/>
          <p:cNvSpPr txBox="1"/>
          <p:nvPr/>
        </p:nvSpPr>
        <p:spPr>
          <a:xfrm>
            <a:off x="6355080" y="1755648"/>
            <a:ext cx="512064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トリガーとの二本鎖形成を評価</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RNAcofold / RNAup、NUPACK</a:t>
            </a:r>
            <a:endParaRPr lang="en-US" sz="1600" dirty="0"/>
          </a:p>
        </p:txBody>
      </p:sp>
      <p:sp>
        <p:nvSpPr>
          <p:cNvPr id="12" name="Shape 9"/>
          <p:cNvSpPr/>
          <p:nvPr/>
        </p:nvSpPr>
        <p:spPr>
          <a:xfrm>
            <a:off x="502920" y="3337560"/>
            <a:ext cx="5486400" cy="1965960"/>
          </a:xfrm>
          <a:prstGeom prst="roundRect">
            <a:avLst>
              <a:gd name="adj" fmla="val 5581"/>
            </a:avLst>
          </a:prstGeom>
          <a:solidFill>
            <a:srgbClr val="EEF3F4"/>
          </a:solidFill>
          <a:ln w="12700">
            <a:solidFill>
              <a:srgbClr val="EEF3F4"/>
            </a:solidFill>
            <a:prstDash val="solid"/>
          </a:ln>
        </p:spPr>
      </p:sp>
      <p:sp>
        <p:nvSpPr>
          <p:cNvPr id="13" name="Text 10"/>
          <p:cNvSpPr txBox="1"/>
          <p:nvPr/>
        </p:nvSpPr>
        <p:spPr>
          <a:xfrm>
            <a:off x="685800" y="3447288"/>
            <a:ext cx="5120640" cy="411480"/>
          </a:xfrm>
          <a:prstGeom prst="rect">
            <a:avLst/>
          </a:prstGeom>
          <a:noFill/>
          <a:ln/>
        </p:spPr>
        <p:txBody>
          <a:bodyPr wrap="square" lIns="0" tIns="0" rIns="0" bIns="0" rtlCol="0" anchor="ctr"/>
          <a:lstStyle/>
          <a:p>
            <a:pPr indent="0" marL="0">
              <a:buNone/>
            </a:pPr>
            <a:r>
              <a:rPr lang="en-US" sz="2000" b="1" dirty="0">
                <a:solidFill>
                  <a:srgbClr val="009E73"/>
                </a:solidFill>
                <a:latin typeface="Meiryo" pitchFamily="34" charset="0"/>
                <a:ea typeface="Meiryo" pitchFamily="34" charset="-122"/>
                <a:cs typeface="Meiryo" pitchFamily="34" charset="-120"/>
              </a:rPr>
              <a:t>配列制約</a:t>
            </a:r>
            <a:endParaRPr lang="en-US" sz="2000" dirty="0"/>
          </a:p>
        </p:txBody>
      </p:sp>
      <p:sp>
        <p:nvSpPr>
          <p:cNvPr id="14" name="Text 11"/>
          <p:cNvSpPr txBox="1"/>
          <p:nvPr/>
        </p:nvSpPr>
        <p:spPr>
          <a:xfrm>
            <a:off x="685800" y="3904488"/>
            <a:ext cx="512064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RBS・AUG・プロモーターの固定</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GC 含量、反復配列や制限部位の回避</a:t>
            </a:r>
            <a:endParaRPr lang="en-US" sz="1600" dirty="0"/>
          </a:p>
        </p:txBody>
      </p:sp>
      <p:sp>
        <p:nvSpPr>
          <p:cNvPr id="15" name="Shape 12"/>
          <p:cNvSpPr/>
          <p:nvPr/>
        </p:nvSpPr>
        <p:spPr>
          <a:xfrm>
            <a:off x="6172200" y="3337560"/>
            <a:ext cx="5486400" cy="1965960"/>
          </a:xfrm>
          <a:prstGeom prst="roundRect">
            <a:avLst>
              <a:gd name="adj" fmla="val 5581"/>
            </a:avLst>
          </a:prstGeom>
          <a:solidFill>
            <a:srgbClr val="EEF3F4"/>
          </a:solidFill>
          <a:ln w="12700">
            <a:solidFill>
              <a:srgbClr val="EEF3F4"/>
            </a:solidFill>
            <a:prstDash val="solid"/>
          </a:ln>
        </p:spPr>
      </p:sp>
      <p:sp>
        <p:nvSpPr>
          <p:cNvPr id="16" name="Text 13"/>
          <p:cNvSpPr txBox="1"/>
          <p:nvPr/>
        </p:nvSpPr>
        <p:spPr>
          <a:xfrm>
            <a:off x="6355080" y="3447288"/>
            <a:ext cx="5120640" cy="411480"/>
          </a:xfrm>
          <a:prstGeom prst="rect">
            <a:avLst/>
          </a:prstGeom>
          <a:noFill/>
          <a:ln/>
        </p:spPr>
        <p:txBody>
          <a:bodyPr wrap="square" lIns="0" tIns="0" rIns="0" bIns="0" rtlCol="0" anchor="ctr"/>
          <a:lstStyle/>
          <a:p>
            <a:pPr indent="0" marL="0">
              <a:buNone/>
            </a:pPr>
            <a:r>
              <a:rPr lang="en-US" sz="2000" b="1" dirty="0">
                <a:solidFill>
                  <a:srgbClr val="7570B3"/>
                </a:solidFill>
                <a:latin typeface="Meiryo" pitchFamily="34" charset="0"/>
                <a:ea typeface="Meiryo" pitchFamily="34" charset="-122"/>
                <a:cs typeface="Meiryo" pitchFamily="34" charset="-120"/>
              </a:rPr>
              <a:t>実験検証</a:t>
            </a:r>
            <a:endParaRPr lang="en-US" sz="2000" dirty="0"/>
          </a:p>
        </p:txBody>
      </p:sp>
      <p:sp>
        <p:nvSpPr>
          <p:cNvPr id="17" name="Text 14"/>
          <p:cNvSpPr txBox="1"/>
          <p:nvPr/>
        </p:nvSpPr>
        <p:spPr>
          <a:xfrm>
            <a:off x="6355080" y="3904488"/>
            <a:ext cx="512064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予測 = 機能ではない</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多数設計して実測で選抜（Green 2014 は 646 設計）</a:t>
            </a:r>
            <a:endParaRPr lang="en-US" sz="1600" dirty="0"/>
          </a:p>
        </p:txBody>
      </p:sp>
      <p:sp>
        <p:nvSpPr>
          <p:cNvPr id="18" name="Shape 15"/>
          <p:cNvSpPr/>
          <p:nvPr/>
        </p:nvSpPr>
        <p:spPr>
          <a:xfrm>
            <a:off x="502920" y="5486400"/>
            <a:ext cx="11155680" cy="685800"/>
          </a:xfrm>
          <a:prstGeom prst="roundRect">
            <a:avLst>
              <a:gd name="adj" fmla="val 16000"/>
            </a:avLst>
          </a:prstGeom>
          <a:solidFill>
            <a:srgbClr val="FBE9DC"/>
          </a:solidFill>
          <a:ln w="12700">
            <a:solidFill>
              <a:srgbClr val="FBE9DC"/>
            </a:solidFill>
            <a:prstDash val="solid"/>
          </a:ln>
        </p:spPr>
      </p:sp>
      <p:sp>
        <p:nvSpPr>
          <p:cNvPr id="19" name="Text 16"/>
          <p:cNvSpPr txBox="1"/>
          <p:nvPr/>
        </p:nvSpPr>
        <p:spPr>
          <a:xfrm>
            <a:off x="685800" y="5623560"/>
            <a:ext cx="10789920" cy="411480"/>
          </a:xfrm>
          <a:prstGeom prst="rect">
            <a:avLst/>
          </a:prstGeom>
          <a:noFill/>
          <a:ln/>
        </p:spPr>
        <p:txBody>
          <a:bodyPr wrap="square" lIns="0" tIns="0" rIns="0" bIns="0" rtlCol="0" anchor="t">
            <a:normAutofit/>
          </a:bodyPr>
          <a:lstStyle/>
          <a:p>
            <a:pPr indent="0" marL="0">
              <a:spcAft>
                <a:spcPts val="400"/>
              </a:spcAft>
              <a:buNone/>
            </a:pPr>
            <a:r>
              <a:rPr lang="en-US" sz="1500" dirty="0">
                <a:solidFill>
                  <a:srgbClr val="E36414"/>
                </a:solidFill>
                <a:latin typeface="Meiryo" pitchFamily="34" charset="0"/>
                <a:ea typeface="Meiryo" pitchFamily="34" charset="-122"/>
                <a:cs typeface="Meiryo" pitchFamily="34" charset="-120"/>
              </a:rPr>
              <a:t>今日の道具（単一状態・二次構造・MFE と確率）は出発点。「MFE 構造が一致すれば実験でも機能する」とは言えない。</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今日のまとめ：何を入力し、何を計算し、何がまだ分からないか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38</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1920240"/>
                <a:gridCol w="1828800"/>
                <a:gridCol w="2926080"/>
                <a:gridCol w="2194560"/>
                <a:gridCol w="2286000"/>
              </a:tblGrid>
              <a:tr h="0">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操作</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入力</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計算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出力</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まだ分からないこと</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RNA.fold</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ループ単位のエネルギー和を DP で最小化</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MFE 構造、ΔG</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他の構造がどれだけ存在するか</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pf / pr_structure</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配列（＋目標構造）</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全構造のボルツマン和（分配関数）</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構造確率 P(S)、塩基対確率 p_ij</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モデル外の相互作用・三次構造</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RNA.inverse_fold</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目標構造（＋初期配列）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変異と再予測を繰り返す探索</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配列と残り距離 d</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初期値依存、P(T) の高さ、実験での機能</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inverse_pf_fold</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目標構造</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目標構造の確率を最大化する探索</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GC の多い安定配列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実験・細胞内での扱いやすさ</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7" name="Shape 3"/>
          <p:cNvSpPr/>
          <p:nvPr/>
        </p:nvSpPr>
        <p:spPr>
          <a:xfrm>
            <a:off x="502920" y="3840480"/>
            <a:ext cx="11155680" cy="2286000"/>
          </a:xfrm>
          <a:prstGeom prst="roundRect">
            <a:avLst>
              <a:gd name="adj" fmla="val 4800"/>
            </a:avLst>
          </a:prstGeom>
          <a:solidFill>
            <a:srgbClr val="EEF3F4"/>
          </a:solidFill>
          <a:ln w="12700">
            <a:solidFill>
              <a:srgbClr val="EEF3F4"/>
            </a:solidFill>
            <a:prstDash val="solid"/>
          </a:ln>
        </p:spPr>
      </p:sp>
      <p:sp>
        <p:nvSpPr>
          <p:cNvPr id="8" name="Text 4"/>
          <p:cNvSpPr txBox="1"/>
          <p:nvPr/>
        </p:nvSpPr>
        <p:spPr>
          <a:xfrm>
            <a:off x="685800" y="3950208"/>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覚えて帰ること</a:t>
            </a:r>
            <a:endParaRPr lang="en-US" sz="2000" dirty="0"/>
          </a:p>
        </p:txBody>
      </p:sp>
      <p:sp>
        <p:nvSpPr>
          <p:cNvPr id="9" name="Text 5"/>
          <p:cNvSpPr txBox="1"/>
          <p:nvPr/>
        </p:nvSpPr>
        <p:spPr>
          <a:xfrm>
            <a:off x="685800" y="4407408"/>
            <a:ext cx="107899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配列 → 構造は一意に予測できるが、分子は構造集団として揺らぐ（MFE と確率を区別）</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構造 → 配列は探索で、答えは複数・初期値依存・失敗もある</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成功の基準（d = 0）と良さの基準（P(T)、実験）は別</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資料と演習スクリプトは github.com/Shunsuke-1994/Course_RNAinverse に置いてあります。講習後も自分の PC で試せます</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グループ提出課題：設計結果と比較、限界の考察</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39</a:t>
            </a:r>
            <a:endParaRPr lang="en-US" sz="1100" dirty="0"/>
          </a:p>
        </p:txBody>
      </p:sp>
      <p:sp>
        <p:nvSpPr>
          <p:cNvPr id="6" name="Shape 3"/>
          <p:cNvSpPr/>
          <p:nvPr/>
        </p:nvSpPr>
        <p:spPr>
          <a:xfrm>
            <a:off x="502920" y="1188720"/>
            <a:ext cx="6766560" cy="4937760"/>
          </a:xfrm>
          <a:prstGeom prst="roundRect">
            <a:avLst>
              <a:gd name="adj" fmla="val 2222"/>
            </a:avLst>
          </a:prstGeom>
          <a:solidFill>
            <a:srgbClr val="EEF3F4"/>
          </a:solidFill>
          <a:ln w="12700">
            <a:solidFill>
              <a:srgbClr val="EEF3F4"/>
            </a:solidFill>
            <a:prstDash val="solid"/>
          </a:ln>
        </p:spPr>
      </p:sp>
      <p:sp>
        <p:nvSpPr>
          <p:cNvPr id="7" name="Text 4"/>
          <p:cNvSpPr txBox="1"/>
          <p:nvPr/>
        </p:nvSpPr>
        <p:spPr>
          <a:xfrm>
            <a:off x="685800" y="1298448"/>
            <a:ext cx="64008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内容（各項目 2〜4 行で十分）</a:t>
            </a:r>
            <a:endParaRPr lang="en-US" sz="2000" dirty="0"/>
          </a:p>
        </p:txBody>
      </p:sp>
      <p:sp>
        <p:nvSpPr>
          <p:cNvPr id="8" name="Text 5"/>
          <p:cNvSpPr txBox="1"/>
          <p:nvPr/>
        </p:nvSpPr>
        <p:spPr>
          <a:xfrm>
            <a:off x="685800" y="1755648"/>
            <a:ext cx="6400800" cy="42519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目標構造（dot-bracket）と、選んだ理由</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設計配列（複数可）と再予測結果（構造・ΔG・塩基対距離）</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比較した条件（seed、目標の変更、固定塩基、温度など）と P(T)</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考察：うまくいった点、失敗や低確率の候補、今日の方法の限界</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記録：ViennaRNA のバージョン、温度、seed、OS</a:t>
            </a:r>
            <a:endParaRPr lang="en-US" sz="1700" dirty="0"/>
          </a:p>
        </p:txBody>
      </p:sp>
      <p:sp>
        <p:nvSpPr>
          <p:cNvPr id="9" name="Shape 6"/>
          <p:cNvSpPr/>
          <p:nvPr/>
        </p:nvSpPr>
        <p:spPr>
          <a:xfrm>
            <a:off x="7498080" y="1188720"/>
            <a:ext cx="4206240" cy="2286000"/>
          </a:xfrm>
          <a:prstGeom prst="roundRect">
            <a:avLst>
              <a:gd name="adj" fmla="val 4800"/>
            </a:avLst>
          </a:prstGeom>
          <a:solidFill>
            <a:srgbClr val="EEF3F4"/>
          </a:solidFill>
          <a:ln w="12700">
            <a:solidFill>
              <a:srgbClr val="EEF3F4"/>
            </a:solidFill>
            <a:prstDash val="solid"/>
          </a:ln>
        </p:spPr>
      </p:sp>
      <p:sp>
        <p:nvSpPr>
          <p:cNvPr id="10" name="Text 7"/>
          <p:cNvSpPr txBox="1"/>
          <p:nvPr/>
        </p:nvSpPr>
        <p:spPr>
          <a:xfrm>
            <a:off x="7680960" y="1298448"/>
            <a:ext cx="38404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形式（提案）</a:t>
            </a:r>
            <a:endParaRPr lang="en-US" sz="2000" dirty="0"/>
          </a:p>
        </p:txBody>
      </p:sp>
      <p:sp>
        <p:nvSpPr>
          <p:cNvPr id="11" name="Text 8"/>
          <p:cNvSpPr txBox="1"/>
          <p:nvPr/>
        </p:nvSpPr>
        <p:spPr>
          <a:xfrm>
            <a:off x="7680960" y="1755648"/>
            <a:ext cx="384048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A4 1 枚 または スライド 2 枚</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PDF で 1 グループ 1 件</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グループ名と参加者名を記載</a:t>
            </a:r>
            <a:endParaRPr lang="en-US" sz="1600" dirty="0"/>
          </a:p>
        </p:txBody>
      </p:sp>
      <p:sp>
        <p:nvSpPr>
          <p:cNvPr id="12" name="Shape 9"/>
          <p:cNvSpPr/>
          <p:nvPr/>
        </p:nvSpPr>
        <p:spPr>
          <a:xfrm>
            <a:off x="7498080" y="3657600"/>
            <a:ext cx="4206240" cy="2468880"/>
          </a:xfrm>
          <a:prstGeom prst="roundRect">
            <a:avLst>
              <a:gd name="adj" fmla="val 4444"/>
            </a:avLst>
          </a:prstGeom>
          <a:solidFill>
            <a:srgbClr val="FBE9DC"/>
          </a:solidFill>
          <a:ln w="12700">
            <a:solidFill>
              <a:srgbClr val="FBE9DC"/>
            </a:solidFill>
            <a:prstDash val="solid"/>
          </a:ln>
        </p:spPr>
      </p:sp>
      <p:sp>
        <p:nvSpPr>
          <p:cNvPr id="13" name="Text 10"/>
          <p:cNvSpPr txBox="1"/>
          <p:nvPr/>
        </p:nvSpPr>
        <p:spPr>
          <a:xfrm>
            <a:off x="7680960" y="3767328"/>
            <a:ext cx="384048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期限・提出先</a:t>
            </a:r>
            <a:endParaRPr lang="en-US" sz="2000" dirty="0"/>
          </a:p>
        </p:txBody>
      </p:sp>
      <p:sp>
        <p:nvSpPr>
          <p:cNvPr id="14" name="Text 11"/>
          <p:cNvSpPr txBox="1"/>
          <p:nvPr/>
        </p:nvSpPr>
        <p:spPr>
          <a:xfrm>
            <a:off x="7680960" y="4224528"/>
            <a:ext cx="3840480" cy="17830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期限：講習の約 2 週間後、10 月 22 日（案）</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提出先・方法：未確定。決まり次第、主催者から案内</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質問は当日の質疑またはグループの TA へ</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E36414"/>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録画を停止します：質疑応答（10分）</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20:50–21:00　質疑応答</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本日の内容への質問のほか、「自分ならどのようなRNAを設計したいか」を話してください。</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質疑応答：自分ならどのようなRNAを設計したいか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41</a:t>
            </a:r>
            <a:endParaRPr lang="en-US" sz="1100" dirty="0"/>
          </a:p>
        </p:txBody>
      </p:sp>
      <p:sp>
        <p:nvSpPr>
          <p:cNvPr id="6" name="Shape 3"/>
          <p:cNvSpPr/>
          <p:nvPr/>
        </p:nvSpPr>
        <p:spPr>
          <a:xfrm>
            <a:off x="502920" y="1188720"/>
            <a:ext cx="5486400" cy="1920240"/>
          </a:xfrm>
          <a:prstGeom prst="roundRect">
            <a:avLst>
              <a:gd name="adj" fmla="val 5714"/>
            </a:avLst>
          </a:prstGeom>
          <a:solidFill>
            <a:srgbClr val="EEF3F4"/>
          </a:solidFill>
          <a:ln w="12700">
            <a:solidFill>
              <a:srgbClr val="EEF3F4"/>
            </a:solidFill>
            <a:prstDash val="solid"/>
          </a:ln>
        </p:spPr>
      </p:sp>
      <p:sp>
        <p:nvSpPr>
          <p:cNvPr id="7" name="Text 4"/>
          <p:cNvSpPr txBox="1"/>
          <p:nvPr/>
        </p:nvSpPr>
        <p:spPr>
          <a:xfrm>
            <a:off x="685800" y="1298448"/>
            <a:ext cx="512064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目標は何か</a:t>
            </a:r>
            <a:endParaRPr lang="en-US" sz="2200" dirty="0"/>
          </a:p>
        </p:txBody>
      </p:sp>
      <p:sp>
        <p:nvSpPr>
          <p:cNvPr id="8" name="Text 5"/>
          <p:cNvSpPr txBox="1"/>
          <p:nvPr/>
        </p:nvSpPr>
        <p:spPr>
          <a:xfrm>
            <a:off x="685800" y="1755648"/>
            <a:ext cx="512064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結合・切替・触媒・形。目標二次構造をどう決める？</a:t>
            </a:r>
            <a:endParaRPr lang="en-US" sz="1700" dirty="0"/>
          </a:p>
        </p:txBody>
      </p:sp>
      <p:sp>
        <p:nvSpPr>
          <p:cNvPr id="9" name="Shape 6"/>
          <p:cNvSpPr/>
          <p:nvPr/>
        </p:nvSpPr>
        <p:spPr>
          <a:xfrm>
            <a:off x="6172200" y="1188720"/>
            <a:ext cx="5486400" cy="1920240"/>
          </a:xfrm>
          <a:prstGeom prst="roundRect">
            <a:avLst>
              <a:gd name="adj" fmla="val 5714"/>
            </a:avLst>
          </a:prstGeom>
          <a:solidFill>
            <a:srgbClr val="EEF3F4"/>
          </a:solidFill>
          <a:ln w="12700">
            <a:solidFill>
              <a:srgbClr val="EEF3F4"/>
            </a:solidFill>
            <a:prstDash val="solid"/>
          </a:ln>
        </p:spPr>
      </p:sp>
      <p:sp>
        <p:nvSpPr>
          <p:cNvPr id="10" name="Text 7"/>
          <p:cNvSpPr txBox="1"/>
          <p:nvPr/>
        </p:nvSpPr>
        <p:spPr>
          <a:xfrm>
            <a:off x="6355080" y="1298448"/>
            <a:ext cx="512064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入力は何か</a:t>
            </a:r>
            <a:endParaRPr lang="en-US" sz="2200" dirty="0"/>
          </a:p>
        </p:txBody>
      </p:sp>
      <p:sp>
        <p:nvSpPr>
          <p:cNvPr id="11" name="Text 8"/>
          <p:cNvSpPr txBox="1"/>
          <p:nvPr/>
        </p:nvSpPr>
        <p:spPr>
          <a:xfrm>
            <a:off x="6355080" y="1755648"/>
            <a:ext cx="512064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トリガーRNA、小分子、温度。2 状態が要る？</a:t>
            </a:r>
            <a:endParaRPr lang="en-US" sz="1700" dirty="0"/>
          </a:p>
        </p:txBody>
      </p:sp>
      <p:sp>
        <p:nvSpPr>
          <p:cNvPr id="12" name="Shape 9"/>
          <p:cNvSpPr/>
          <p:nvPr/>
        </p:nvSpPr>
        <p:spPr>
          <a:xfrm>
            <a:off x="502920" y="3291840"/>
            <a:ext cx="5486400" cy="1920240"/>
          </a:xfrm>
          <a:prstGeom prst="roundRect">
            <a:avLst>
              <a:gd name="adj" fmla="val 5714"/>
            </a:avLst>
          </a:prstGeom>
          <a:solidFill>
            <a:srgbClr val="EEF3F4"/>
          </a:solidFill>
          <a:ln w="12700">
            <a:solidFill>
              <a:srgbClr val="EEF3F4"/>
            </a:solidFill>
            <a:prstDash val="solid"/>
          </a:ln>
        </p:spPr>
      </p:sp>
      <p:sp>
        <p:nvSpPr>
          <p:cNvPr id="13" name="Text 10"/>
          <p:cNvSpPr txBox="1"/>
          <p:nvPr/>
        </p:nvSpPr>
        <p:spPr>
          <a:xfrm>
            <a:off x="685800" y="3401568"/>
            <a:ext cx="512064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条件は何か</a:t>
            </a:r>
            <a:endParaRPr lang="en-US" sz="2200" dirty="0"/>
          </a:p>
        </p:txBody>
      </p:sp>
      <p:sp>
        <p:nvSpPr>
          <p:cNvPr id="14" name="Text 11"/>
          <p:cNvSpPr txBox="1"/>
          <p:nvPr/>
        </p:nvSpPr>
        <p:spPr>
          <a:xfrm>
            <a:off x="685800" y="3858768"/>
            <a:ext cx="512064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固定配列、GC 含量、長さ、他分子との相互作用</a:t>
            </a:r>
            <a:endParaRPr lang="en-US" sz="1700" dirty="0"/>
          </a:p>
        </p:txBody>
      </p:sp>
      <p:sp>
        <p:nvSpPr>
          <p:cNvPr id="15" name="Shape 12"/>
          <p:cNvSpPr/>
          <p:nvPr/>
        </p:nvSpPr>
        <p:spPr>
          <a:xfrm>
            <a:off x="6172200" y="3291840"/>
            <a:ext cx="5486400" cy="1920240"/>
          </a:xfrm>
          <a:prstGeom prst="roundRect">
            <a:avLst>
              <a:gd name="adj" fmla="val 5714"/>
            </a:avLst>
          </a:prstGeom>
          <a:solidFill>
            <a:srgbClr val="EEF3F4"/>
          </a:solidFill>
          <a:ln w="12700">
            <a:solidFill>
              <a:srgbClr val="EEF3F4"/>
            </a:solidFill>
            <a:prstDash val="solid"/>
          </a:ln>
        </p:spPr>
      </p:sp>
      <p:sp>
        <p:nvSpPr>
          <p:cNvPr id="16" name="Text 13"/>
          <p:cNvSpPr txBox="1"/>
          <p:nvPr/>
        </p:nvSpPr>
        <p:spPr>
          <a:xfrm>
            <a:off x="6355080" y="3401568"/>
            <a:ext cx="512064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どう確かめるか</a:t>
            </a:r>
            <a:endParaRPr lang="en-US" sz="2200" dirty="0"/>
          </a:p>
        </p:txBody>
      </p:sp>
      <p:sp>
        <p:nvSpPr>
          <p:cNvPr id="17" name="Text 14"/>
          <p:cNvSpPr txBox="1"/>
          <p:nvPr/>
        </p:nvSpPr>
        <p:spPr>
          <a:xfrm>
            <a:off x="6355080" y="3858768"/>
            <a:ext cx="512064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予測（P(T)）→ 実験（ゲル、蛍光、AFM）</a:t>
            </a:r>
            <a:endParaRPr lang="en-US" sz="1700" dirty="0"/>
          </a:p>
        </p:txBody>
      </p:sp>
      <p:sp>
        <p:nvSpPr>
          <p:cNvPr id="18" name="Text 15"/>
          <p:cNvSpPr txBox="1"/>
          <p:nvPr/>
        </p:nvSpPr>
        <p:spPr>
          <a:xfrm>
            <a:off x="502920" y="5440680"/>
            <a:ext cx="11155680" cy="731520"/>
          </a:xfrm>
          <a:prstGeom prst="rect">
            <a:avLst/>
          </a:prstGeom>
          <a:noFill/>
          <a:ln/>
        </p:spPr>
        <p:txBody>
          <a:bodyPr wrap="square" lIns="0" tIns="0" rIns="0" bIns="0" rtlCol="0" anchor="t"/>
          <a:lstStyle/>
          <a:p>
            <a:pPr indent="0" marL="0">
              <a:buNone/>
            </a:pPr>
            <a:r>
              <a:rPr lang="en-US" sz="1500" dirty="0">
                <a:solidFill>
                  <a:srgbClr val="5C6B73"/>
                </a:solidFill>
                <a:latin typeface="Meiryo" pitchFamily="34" charset="0"/>
                <a:ea typeface="Meiryo" pitchFamily="34" charset="-122"/>
                <a:cs typeface="Meiryo" pitchFamily="34" charset="-120"/>
              </a:rPr>
              <a:t>質問は口頭でもチャットでも。時間内に答えきれない質問はグループの TA と後日共有します。</a:t>
            </a:r>
            <a:endParaRPr lang="en-US" sz="1500" dirty="0"/>
          </a:p>
          <a:p>
            <a:pPr indent="0" marL="0">
              <a:buNone/>
            </a:pPr>
            <a:r>
              <a:rPr lang="en-US" sz="1500" dirty="0">
                <a:solidFill>
                  <a:srgbClr val="5C6B73"/>
                </a:solidFill>
                <a:latin typeface="Meiryo" pitchFamily="34" charset="0"/>
                <a:ea typeface="Meiryo" pitchFamily="34" charset="-122"/>
                <a:cs typeface="Meiryo" pitchFamily="34" charset="-120"/>
              </a:rPr>
              <a:t>資料・演習スクリプト：github.com/Shunsuke-1994/Course_RNAinverse（ダウンロードしてそのまま使えます）</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補足1：Nussinov 法（塩基対数の最大化）と熱力学モデルの違い</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42</a:t>
            </a:r>
            <a:endParaRPr lang="en-US" sz="1100" dirty="0"/>
          </a:p>
        </p:txBody>
      </p:sp>
      <p:pic>
        <p:nvPicPr>
          <p:cNvPr id="6" name="Image 0" descr="/Users/sumishunsuke/Desktop/RNA/Course_RNAinverse/build/fig/eq_nussinov.png">    </p:cNvPr>
          <p:cNvPicPr>
            <a:picLocks noChangeAspect="1"/>
          </p:cNvPicPr>
          <p:nvPr/>
        </p:nvPicPr>
        <p:blipFill>
          <a:blip r:embed="rId1"/>
          <a:stretch>
            <a:fillRect/>
          </a:stretch>
        </p:blipFill>
        <p:spPr>
          <a:xfrm>
            <a:off x="502920" y="1188720"/>
            <a:ext cx="8595360" cy="488095"/>
          </a:xfrm>
          <a:prstGeom prst="rect">
            <a:avLst/>
          </a:prstGeom>
        </p:spPr>
      </p:pic>
      <p:sp>
        <p:nvSpPr>
          <p:cNvPr id="7" name="Text 3"/>
          <p:cNvSpPr txBox="1"/>
          <p:nvPr/>
        </p:nvSpPr>
        <p:spPr>
          <a:xfrm>
            <a:off x="9235440" y="1188720"/>
            <a:ext cx="2468880" cy="54864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δ_ij = 1（i と j が対合できる、j−i&gt;3）、0（それ以外）</a:t>
            </a:r>
            <a:endParaRPr lang="en-US" sz="11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7589520" cy="914400"/>
        </p:xfrm>
        <a:graphic>
          <a:graphicData uri="http://schemas.openxmlformats.org/drawingml/2006/table">
            <a:tbl>
              <a:tblPr/>
              <a:tblGrid>
                <a:gridCol w="548640"/>
                <a:gridCol w="438912"/>
                <a:gridCol w="438912"/>
                <a:gridCol w="438912"/>
                <a:gridCol w="438912"/>
                <a:gridCol w="438912"/>
                <a:gridCol w="438912"/>
                <a:gridCol w="438912"/>
                <a:gridCol w="438912"/>
                <a:gridCol w="438912"/>
                <a:gridCol w="438912"/>
                <a:gridCol w="438912"/>
                <a:gridCol w="438912"/>
                <a:gridCol w="438912"/>
                <a:gridCol w="438912"/>
                <a:gridCol w="438912"/>
                <a:gridCol w="438912"/>
              </a:tblGrid>
              <a:tr h="219456">
                <a:tc>
                  <a:txBody>
                    <a:bodyPr/>
                    <a:lstStyle/>
                    <a:p>
                      <a:pPr algn="l"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U</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5</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69A3AE"/>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5</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69A3AE"/>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C5</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A6</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G7</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A8</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A9</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A10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CC79A7"/>
                          </a:solidFill>
                          <a:latin typeface="Meiryo" pitchFamily="34" charset="0"/>
                          <a:ea typeface="Meiryo" pitchFamily="34" charset="-122"/>
                          <a:cs typeface="Meiryo" pitchFamily="34" charset="-120"/>
                        </a:rPr>
                        <a:t>U11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G12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C13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G14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C15</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C16</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r>
            </a:tbl>
          </a:graphicData>
        </a:graphic>
      </p:graphicFrame>
      <p:sp>
        <p:nvSpPr>
          <p:cNvPr id="9" name="Shape 4"/>
          <p:cNvSpPr/>
          <p:nvPr/>
        </p:nvSpPr>
        <p:spPr>
          <a:xfrm>
            <a:off x="8321040" y="1828800"/>
            <a:ext cx="3383280" cy="4206240"/>
          </a:xfrm>
          <a:prstGeom prst="roundRect">
            <a:avLst>
              <a:gd name="adj" fmla="val 3243"/>
            </a:avLst>
          </a:prstGeom>
          <a:solidFill>
            <a:srgbClr val="EEF3F4"/>
          </a:solidFill>
          <a:ln w="12700">
            <a:solidFill>
              <a:srgbClr val="EEF3F4"/>
            </a:solidFill>
            <a:prstDash val="solid"/>
          </a:ln>
        </p:spPr>
      </p:sp>
      <p:sp>
        <p:nvSpPr>
          <p:cNvPr id="10" name="Text 5"/>
          <p:cNvSpPr txBox="1"/>
          <p:nvPr/>
        </p:nvSpPr>
        <p:spPr>
          <a:xfrm>
            <a:off x="8503920" y="1938528"/>
            <a:ext cx="30175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同じ配列で比べる</a:t>
            </a:r>
            <a:endParaRPr lang="en-US" sz="2000" dirty="0"/>
          </a:p>
        </p:txBody>
      </p:sp>
      <p:sp>
        <p:nvSpPr>
          <p:cNvPr id="11" name="Text 6"/>
          <p:cNvSpPr txBox="1"/>
          <p:nvPr/>
        </p:nvSpPr>
        <p:spPr>
          <a:xfrm>
            <a:off x="8503920" y="2395728"/>
            <a:ext cx="3017520" cy="3520440"/>
          </a:xfrm>
          <a:prstGeom prst="rect">
            <a:avLst/>
          </a:prstGeom>
          <a:noFill/>
          <a:ln/>
        </p:spPr>
        <p:txBody>
          <a:bodyPr wrap="square" lIns="0" tIns="0" rIns="0" bIns="0" rtlCol="0" anchor="t">
            <a:normAutofit/>
          </a:bodyPr>
          <a:lstStyle/>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GACGCAGAAAUGCGCC</a:t>
            </a:r>
            <a:endParaRPr lang="en-US" sz="1200" dirty="0"/>
          </a:p>
          <a:p>
            <a:pPr indent="0" marL="0">
              <a:spcAft>
                <a:spcPts val="400"/>
              </a:spcAft>
              <a:buNone/>
            </a:pPr>
            <a:r>
              <a:rPr lang="en-US" sz="1200" b="1" dirty="0">
                <a:solidFill>
                  <a:srgbClr val="1F2A30"/>
                </a:solidFill>
                <a:latin typeface="Meiryo" pitchFamily="34" charset="0"/>
                <a:ea typeface="Meiryo" pitchFamily="34" charset="-122"/>
                <a:cs typeface="Meiryo" pitchFamily="34" charset="-120"/>
              </a:rPr>
              <a:t>最大塩基対数の構造</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a:t>
            </a:r>
            <a:endParaRPr lang="en-US" sz="1200" dirty="0"/>
          </a:p>
          <a:p>
            <a:pPr indent="0" marL="0">
              <a:spcAft>
                <a:spcPts val="400"/>
              </a:spcAft>
              <a:buNone/>
            </a:pPr>
            <a:r>
              <a:rPr lang="en-US" sz="1200" dirty="0">
                <a:solidFill>
                  <a:srgbClr val="E36414"/>
                </a:solidFill>
                <a:latin typeface="Meiryo" pitchFamily="34" charset="0"/>
                <a:ea typeface="Meiryo" pitchFamily="34" charset="-122"/>
                <a:cs typeface="Meiryo" pitchFamily="34" charset="-120"/>
              </a:rPr>
              <a:t>5 対、ΔG = +2.1 kcal/mol（不安定）</a:t>
            </a:r>
            <a:endParaRPr lang="en-US" sz="1200" dirty="0"/>
          </a:p>
          <a:p>
            <a:pPr indent="0" marL="0">
              <a:spcAft>
                <a:spcPts val="400"/>
              </a:spcAft>
              <a:buNone/>
            </a:pPr>
            <a:r>
              <a:rPr lang="en-US" sz="1200" b="1" dirty="0">
                <a:solidFill>
                  <a:srgbClr val="1F2A30"/>
                </a:solidFill>
                <a:latin typeface="Meiryo" pitchFamily="34" charset="0"/>
                <a:ea typeface="Meiryo" pitchFamily="34" charset="-122"/>
                <a:cs typeface="Meiryo" pitchFamily="34" charset="-120"/>
              </a:rPr>
              <a:t>ViennaRNA の MFE 構造</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a:t>
            </a:r>
            <a:endParaRPr lang="en-US" sz="1200" dirty="0"/>
          </a:p>
          <a:p>
            <a:pPr indent="0" marL="0">
              <a:spcAft>
                <a:spcPts val="400"/>
              </a:spcAft>
              <a:buNone/>
            </a:pPr>
            <a:r>
              <a:rPr lang="en-US" sz="1200" dirty="0">
                <a:solidFill>
                  <a:srgbClr val="1F2A30"/>
                </a:solidFill>
                <a:latin typeface="Meiryo" pitchFamily="34" charset="0"/>
                <a:ea typeface="Meiryo" pitchFamily="34" charset="-122"/>
                <a:cs typeface="Meiryo" pitchFamily="34" charset="-120"/>
              </a:rPr>
              <a:t>4 対、ΔG = -4.6 kcal/mol</a:t>
            </a:r>
            <a:endParaRPr lang="en-US" sz="1200" dirty="0"/>
          </a:p>
          <a:p>
            <a:pPr indent="0" marL="0">
              <a:spcAft>
                <a:spcPts val="400"/>
              </a:spcAft>
              <a:buNone/>
            </a:pPr>
            <a:r>
              <a:rPr lang="en-US" sz="1200" dirty="0">
                <a:solidFill>
                  <a:srgbClr val="1F2A30"/>
                </a:solidFill>
                <a:latin typeface="Meiryo" pitchFamily="34" charset="0"/>
                <a:ea typeface="Meiryo" pitchFamily="34" charset="-122"/>
                <a:cs typeface="Meiryo" pitchFamily="34" charset="-120"/>
              </a:rPr>
              <a:t>本数が多い ≠ 安定。孤立した塩基対や小さいループはエネルギー的に不利</a:t>
            </a:r>
            <a:endParaRPr lang="en-US" sz="1200" dirty="0"/>
          </a:p>
        </p:txBody>
      </p:sp>
      <p:sp>
        <p:nvSpPr>
          <p:cNvPr id="12" name="Text 7"/>
          <p:cNvSpPr txBox="1"/>
          <p:nvPr/>
        </p:nvSpPr>
        <p:spPr>
          <a:xfrm>
            <a:off x="502920" y="5623560"/>
            <a:ext cx="7589520" cy="36576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表：N(i, j)（上三角）。右上 N(1,16) が全体の最大塩基対数</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補足2：ViennaRNA の熱力学的 DP（Zuker 型の漸化式）</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43</a:t>
            </a:r>
            <a:endParaRPr lang="en-US" sz="1100" dirty="0"/>
          </a:p>
        </p:txBody>
      </p:sp>
      <p:pic>
        <p:nvPicPr>
          <p:cNvPr id="6" name="Image 0" descr="/Users/sumishunsuke/Desktop/RNA/Course_RNAinverse/build/fig/eq_zuker_F.png">    </p:cNvPr>
          <p:cNvPicPr>
            <a:picLocks noChangeAspect="1"/>
          </p:cNvPicPr>
          <p:nvPr/>
        </p:nvPicPr>
        <p:blipFill>
          <a:blip r:embed="rId1"/>
          <a:stretch>
            <a:fillRect/>
          </a:stretch>
        </p:blipFill>
        <p:spPr>
          <a:xfrm>
            <a:off x="502920" y="1188720"/>
            <a:ext cx="4820686" cy="548640"/>
          </a:xfrm>
          <a:prstGeom prst="rect">
            <a:avLst/>
          </a:prstGeom>
        </p:spPr>
      </p:pic>
      <p:sp>
        <p:nvSpPr>
          <p:cNvPr id="7" name="Text 3"/>
          <p:cNvSpPr txBox="1"/>
          <p:nvPr/>
        </p:nvSpPr>
        <p:spPr>
          <a:xfrm>
            <a:off x="8595360" y="1188720"/>
            <a:ext cx="3108960" cy="548640"/>
          </a:xfrm>
          <a:prstGeom prst="rect">
            <a:avLst/>
          </a:prstGeom>
          <a:noFill/>
          <a:ln/>
        </p:spPr>
        <p:txBody>
          <a:bodyPr wrap="square" lIns="0" tIns="0" rIns="0" bIns="0" rtlCol="0" anchor="ctr"/>
          <a:lstStyle/>
          <a:p>
            <a:pPr indent="0" marL="0">
              <a:buNone/>
            </a:pPr>
            <a:r>
              <a:rPr lang="en-US" sz="1200" dirty="0">
                <a:solidFill>
                  <a:srgbClr val="5C6B73"/>
                </a:solidFill>
                <a:latin typeface="Meiryo" pitchFamily="34" charset="0"/>
                <a:ea typeface="Meiryo" pitchFamily="34" charset="-122"/>
                <a:cs typeface="Meiryo" pitchFamily="34" charset="-120"/>
              </a:rPr>
              <a:t>外部ループ：i が非対合か、i–k の対合で分割</a:t>
            </a:r>
            <a:endParaRPr lang="en-US" sz="1200" dirty="0"/>
          </a:p>
        </p:txBody>
      </p:sp>
      <p:pic>
        <p:nvPicPr>
          <p:cNvPr id="8" name="Image 1" descr="/Users/sumishunsuke/Desktop/RNA/Course_RNAinverse/build/fig/eq_zuker_C.png">    </p:cNvPr>
          <p:cNvPicPr>
            <a:picLocks noChangeAspect="1"/>
          </p:cNvPicPr>
          <p:nvPr/>
        </p:nvPicPr>
        <p:blipFill>
          <a:blip r:embed="rId2"/>
          <a:stretch>
            <a:fillRect/>
          </a:stretch>
        </p:blipFill>
        <p:spPr>
          <a:xfrm>
            <a:off x="502920" y="2011680"/>
            <a:ext cx="7955280" cy="518150"/>
          </a:xfrm>
          <a:prstGeom prst="rect">
            <a:avLst/>
          </a:prstGeom>
        </p:spPr>
      </p:pic>
      <p:sp>
        <p:nvSpPr>
          <p:cNvPr id="9" name="Text 4"/>
          <p:cNvSpPr txBox="1"/>
          <p:nvPr/>
        </p:nvSpPr>
        <p:spPr>
          <a:xfrm>
            <a:off x="8595360" y="2011680"/>
            <a:ext cx="3108960" cy="518150"/>
          </a:xfrm>
          <a:prstGeom prst="rect">
            <a:avLst/>
          </a:prstGeom>
          <a:noFill/>
          <a:ln/>
        </p:spPr>
        <p:txBody>
          <a:bodyPr wrap="square" lIns="0" tIns="0" rIns="0" bIns="0" rtlCol="0" anchor="ctr"/>
          <a:lstStyle/>
          <a:p>
            <a:pPr indent="0" marL="0">
              <a:buNone/>
            </a:pPr>
            <a:r>
              <a:rPr lang="en-US" sz="1200" dirty="0">
                <a:solidFill>
                  <a:srgbClr val="5C6B73"/>
                </a:solidFill>
                <a:latin typeface="Meiryo" pitchFamily="34" charset="0"/>
                <a:ea typeface="Meiryo" pitchFamily="34" charset="-122"/>
                <a:cs typeface="Meiryo" pitchFamily="34" charset="-120"/>
              </a:rPr>
              <a:t>i–j が閉じるループ：ヘアピン／内部ループ（スタッキングを含む）／多分岐</a:t>
            </a:r>
            <a:endParaRPr lang="en-US" sz="1200" dirty="0"/>
          </a:p>
        </p:txBody>
      </p:sp>
      <p:pic>
        <p:nvPicPr>
          <p:cNvPr id="10" name="Image 2" descr="/Users/sumishunsuke/Desktop/RNA/Course_RNAinverse/build/fig/eq_zuker_M.png">    </p:cNvPr>
          <p:cNvPicPr>
            <a:picLocks noChangeAspect="1"/>
          </p:cNvPicPr>
          <p:nvPr/>
        </p:nvPicPr>
        <p:blipFill>
          <a:blip r:embed="rId3"/>
          <a:stretch>
            <a:fillRect/>
          </a:stretch>
        </p:blipFill>
        <p:spPr>
          <a:xfrm>
            <a:off x="502920" y="2804150"/>
            <a:ext cx="7498080" cy="465173"/>
          </a:xfrm>
          <a:prstGeom prst="rect">
            <a:avLst/>
          </a:prstGeom>
        </p:spPr>
      </p:pic>
      <p:sp>
        <p:nvSpPr>
          <p:cNvPr id="11" name="Text 5"/>
          <p:cNvSpPr txBox="1"/>
          <p:nvPr/>
        </p:nvSpPr>
        <p:spPr>
          <a:xfrm>
            <a:off x="8595360" y="2804150"/>
            <a:ext cx="3108960" cy="465173"/>
          </a:xfrm>
          <a:prstGeom prst="rect">
            <a:avLst/>
          </a:prstGeom>
          <a:noFill/>
          <a:ln/>
        </p:spPr>
        <p:txBody>
          <a:bodyPr wrap="square" lIns="0" tIns="0" rIns="0" bIns="0" rtlCol="0" anchor="ctr"/>
          <a:lstStyle/>
          <a:p>
            <a:pPr indent="0" marL="0">
              <a:buNone/>
            </a:pPr>
            <a:r>
              <a:rPr lang="en-US" sz="1200" dirty="0">
                <a:solidFill>
                  <a:srgbClr val="5C6B73"/>
                </a:solidFill>
                <a:latin typeface="Meiryo" pitchFamily="34" charset="0"/>
                <a:ea typeface="Meiryo" pitchFamily="34" charset="-122"/>
                <a:cs typeface="Meiryo" pitchFamily="34" charset="-120"/>
              </a:rPr>
              <a:t>多分岐ループの内部（最初の分岐を含む）</a:t>
            </a:r>
            <a:endParaRPr lang="en-US" sz="1200" dirty="0"/>
          </a:p>
        </p:txBody>
      </p:sp>
      <p:pic>
        <p:nvPicPr>
          <p:cNvPr id="12" name="Image 3" descr="/Users/sumishunsuke/Desktop/RNA/Course_RNAinverse/build/fig/eq_zuker_M1.png">    </p:cNvPr>
          <p:cNvPicPr>
            <a:picLocks noChangeAspect="1"/>
          </p:cNvPicPr>
          <p:nvPr/>
        </p:nvPicPr>
        <p:blipFill>
          <a:blip r:embed="rId4"/>
          <a:stretch>
            <a:fillRect/>
          </a:stretch>
        </p:blipFill>
        <p:spPr>
          <a:xfrm>
            <a:off x="502920" y="3543643"/>
            <a:ext cx="4545874" cy="548640"/>
          </a:xfrm>
          <a:prstGeom prst="rect">
            <a:avLst/>
          </a:prstGeom>
        </p:spPr>
      </p:pic>
      <p:sp>
        <p:nvSpPr>
          <p:cNvPr id="13" name="Text 6"/>
          <p:cNvSpPr txBox="1"/>
          <p:nvPr/>
        </p:nvSpPr>
        <p:spPr>
          <a:xfrm>
            <a:off x="8595360" y="3543643"/>
            <a:ext cx="3108960" cy="548640"/>
          </a:xfrm>
          <a:prstGeom prst="rect">
            <a:avLst/>
          </a:prstGeom>
          <a:noFill/>
          <a:ln/>
        </p:spPr>
        <p:txBody>
          <a:bodyPr wrap="square" lIns="0" tIns="0" rIns="0" bIns="0" rtlCol="0" anchor="ctr"/>
          <a:lstStyle/>
          <a:p>
            <a:pPr indent="0" marL="0">
              <a:buNone/>
            </a:pPr>
            <a:r>
              <a:rPr lang="en-US" sz="1200" dirty="0">
                <a:solidFill>
                  <a:srgbClr val="5C6B73"/>
                </a:solidFill>
                <a:latin typeface="Meiryo" pitchFamily="34" charset="0"/>
                <a:ea typeface="Meiryo" pitchFamily="34" charset="-122"/>
                <a:cs typeface="Meiryo" pitchFamily="34" charset="-120"/>
              </a:rPr>
              <a:t>多分岐ループの内部（ちょうど 1 本の分岐）</a:t>
            </a:r>
            <a:endParaRPr lang="en-US" sz="1200" dirty="0"/>
          </a:p>
        </p:txBody>
      </p:sp>
      <p:sp>
        <p:nvSpPr>
          <p:cNvPr id="14" name="Shape 7"/>
          <p:cNvSpPr/>
          <p:nvPr/>
        </p:nvSpPr>
        <p:spPr>
          <a:xfrm>
            <a:off x="502920" y="4412323"/>
            <a:ext cx="11155680" cy="1805597"/>
          </a:xfrm>
          <a:prstGeom prst="roundRect">
            <a:avLst>
              <a:gd name="adj" fmla="val 6077"/>
            </a:avLst>
          </a:prstGeom>
          <a:solidFill>
            <a:srgbClr val="EEF3F4"/>
          </a:solidFill>
          <a:ln w="12700">
            <a:solidFill>
              <a:srgbClr val="EEF3F4"/>
            </a:solidFill>
            <a:prstDash val="solid"/>
          </a:ln>
        </p:spPr>
      </p:sp>
      <p:sp>
        <p:nvSpPr>
          <p:cNvPr id="15" name="Text 8"/>
          <p:cNvSpPr txBox="1"/>
          <p:nvPr/>
        </p:nvSpPr>
        <p:spPr>
          <a:xfrm>
            <a:off x="685800" y="4522051"/>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読み方</a:t>
            </a:r>
            <a:endParaRPr lang="en-US" sz="2000" dirty="0"/>
          </a:p>
        </p:txBody>
      </p:sp>
      <p:sp>
        <p:nvSpPr>
          <p:cNvPr id="16" name="Text 9"/>
          <p:cNvSpPr txBox="1"/>
          <p:nvPr/>
        </p:nvSpPr>
        <p:spPr>
          <a:xfrm>
            <a:off x="685800" y="4979251"/>
            <a:ext cx="10789920" cy="1119797"/>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H(i,j)：ヘアピンのエネルギー、I(i,j;k,l)：内部ループ（k=i+1, l=j−1 ならスタッキング）、a, b, c：多分岐ループの定数</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短い区間から埋めていく点は Nussinov と同じ。違いは「何を最小化するか」（塩基対数ではなくループ単位の自由エネルギー）</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分配関数（確率）版は min→和、+→積（McCaskill 1990）</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補足3：分配関数と構造確率（McCaskill 1990）</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44</a:t>
            </a:r>
            <a:endParaRPr lang="en-US" sz="1100" dirty="0"/>
          </a:p>
        </p:txBody>
      </p:sp>
      <p:pic>
        <p:nvPicPr>
          <p:cNvPr id="6" name="Image 0" descr="/Users/sumishunsuke/Desktop/RNA/Course_RNAinverse/build/fig/eq_boltz.png">    </p:cNvPr>
          <p:cNvPicPr>
            <a:picLocks noChangeAspect="1"/>
          </p:cNvPicPr>
          <p:nvPr/>
        </p:nvPicPr>
        <p:blipFill>
          <a:blip r:embed="rId1"/>
          <a:stretch>
            <a:fillRect/>
          </a:stretch>
        </p:blipFill>
        <p:spPr>
          <a:xfrm>
            <a:off x="502920" y="1188720"/>
            <a:ext cx="3241118" cy="640080"/>
          </a:xfrm>
          <a:prstGeom prst="rect">
            <a:avLst/>
          </a:prstGeom>
        </p:spPr>
      </p:pic>
      <p:pic>
        <p:nvPicPr>
          <p:cNvPr id="7" name="Image 1" descr="/Users/sumishunsuke/Desktop/RNA/Course_RNAinverse/build/fig/eq_bpp.png">    </p:cNvPr>
          <p:cNvPicPr>
            <a:picLocks noChangeAspect="1"/>
          </p:cNvPicPr>
          <p:nvPr/>
        </p:nvPicPr>
        <p:blipFill>
          <a:blip r:embed="rId2"/>
          <a:stretch>
            <a:fillRect/>
          </a:stretch>
        </p:blipFill>
        <p:spPr>
          <a:xfrm>
            <a:off x="4754880" y="1188720"/>
            <a:ext cx="1543634" cy="502920"/>
          </a:xfrm>
          <a:prstGeom prst="rect">
            <a:avLst/>
          </a:prstGeom>
        </p:spPr>
      </p:pic>
      <p:pic>
        <p:nvPicPr>
          <p:cNvPr id="8" name="Image 2" descr="/Users/sumishunsuke/Desktop/RNA/Course_RNAinverse/build/fig/eq_G.png">    </p:cNvPr>
          <p:cNvPicPr>
            <a:picLocks noChangeAspect="1"/>
          </p:cNvPicPr>
          <p:nvPr/>
        </p:nvPicPr>
        <p:blipFill>
          <a:blip r:embed="rId3"/>
          <a:stretch>
            <a:fillRect/>
          </a:stretch>
        </p:blipFill>
        <p:spPr>
          <a:xfrm>
            <a:off x="7498080" y="1188720"/>
            <a:ext cx="2381367" cy="457200"/>
          </a:xfrm>
          <a:prstGeom prst="rect">
            <a:avLst/>
          </a:prstGeom>
        </p:spPr>
      </p:pic>
      <p:pic>
        <p:nvPicPr>
          <p:cNvPr id="9" name="Image 3" descr="/Users/sumishunsuke/Desktop/RNA/Course_RNAinverse/build/fig/eq_ed.png">    </p:cNvPr>
          <p:cNvPicPr>
            <a:picLocks noChangeAspect="1"/>
          </p:cNvPicPr>
          <p:nvPr/>
        </p:nvPicPr>
        <p:blipFill>
          <a:blip r:embed="rId4"/>
          <a:stretch>
            <a:fillRect/>
          </a:stretch>
        </p:blipFill>
        <p:spPr>
          <a:xfrm>
            <a:off x="502920" y="2011680"/>
            <a:ext cx="4064726" cy="548640"/>
          </a:xfrm>
          <a:prstGeom prst="rect">
            <a:avLst/>
          </a:prstGeom>
        </p:spPr>
      </p:pic>
      <p:sp>
        <p:nvSpPr>
          <p:cNvPr id="10" name="Text 3"/>
          <p:cNvSpPr txBox="1"/>
          <p:nvPr/>
        </p:nvSpPr>
        <p:spPr>
          <a:xfrm>
            <a:off x="5669280" y="2011680"/>
            <a:ext cx="5943600" cy="548640"/>
          </a:xfrm>
          <a:prstGeom prst="rect">
            <a:avLst/>
          </a:prstGeom>
          <a:noFill/>
          <a:ln/>
        </p:spPr>
        <p:txBody>
          <a:bodyPr wrap="square" lIns="0" tIns="0" rIns="0" bIns="0" rtlCol="0" anchor="ctr"/>
          <a:lstStyle/>
          <a:p>
            <a:pPr indent="0" marL="0">
              <a:buNone/>
            </a:pPr>
            <a:r>
              <a:rPr lang="en-US" sz="1300" dirty="0">
                <a:solidFill>
                  <a:srgbClr val="5C6B73"/>
                </a:solidFill>
                <a:latin typeface="Meiryo" pitchFamily="34" charset="0"/>
                <a:ea typeface="Meiryo" pitchFamily="34" charset="-122"/>
                <a:cs typeface="Meiryo" pitchFamily="34" charset="-120"/>
              </a:rPr>
              <a:t>集団欠陥（ensemble defect）：q_i は i が非対合である確率</a:t>
            </a:r>
            <a:endParaRPr lang="en-US" sz="1300" dirty="0"/>
          </a:p>
        </p:txBody>
      </p:sp>
      <p:sp>
        <p:nvSpPr>
          <p:cNvPr id="11" name="Text 4"/>
          <p:cNvSpPr txBox="1"/>
          <p:nvPr/>
        </p:nvSpPr>
        <p:spPr>
          <a:xfrm>
            <a:off x="502920" y="2606040"/>
            <a:ext cx="5486400" cy="27432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ドットプロット：GCCGCAGAAAUGCGCC（2番目を C に変えた配列）</a:t>
            </a:r>
            <a:endParaRPr lang="en-US" sz="1100" dirty="0"/>
          </a:p>
        </p:txBody>
      </p:sp>
      <p:sp>
        <p:nvSpPr>
          <p:cNvPr id="12" name="Text 5"/>
          <p:cNvSpPr txBox="1"/>
          <p:nvPr/>
        </p:nvSpPr>
        <p:spPr>
          <a:xfrm>
            <a:off x="91440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13" name="Text 6"/>
          <p:cNvSpPr txBox="1"/>
          <p:nvPr/>
        </p:nvSpPr>
        <p:spPr>
          <a:xfrm>
            <a:off x="640080" y="301752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14" name="Text 7"/>
          <p:cNvSpPr txBox="1"/>
          <p:nvPr/>
        </p:nvSpPr>
        <p:spPr>
          <a:xfrm>
            <a:off x="109728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15" name="Text 8"/>
          <p:cNvSpPr txBox="1"/>
          <p:nvPr/>
        </p:nvSpPr>
        <p:spPr>
          <a:xfrm>
            <a:off x="640080" y="320040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16" name="Text 9"/>
          <p:cNvSpPr txBox="1"/>
          <p:nvPr/>
        </p:nvSpPr>
        <p:spPr>
          <a:xfrm>
            <a:off x="128016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17" name="Text 10"/>
          <p:cNvSpPr txBox="1"/>
          <p:nvPr/>
        </p:nvSpPr>
        <p:spPr>
          <a:xfrm>
            <a:off x="640080" y="338328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18" name="Text 11"/>
          <p:cNvSpPr txBox="1"/>
          <p:nvPr/>
        </p:nvSpPr>
        <p:spPr>
          <a:xfrm>
            <a:off x="146304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19" name="Text 12"/>
          <p:cNvSpPr txBox="1"/>
          <p:nvPr/>
        </p:nvSpPr>
        <p:spPr>
          <a:xfrm>
            <a:off x="640080" y="356616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20" name="Text 13"/>
          <p:cNvSpPr txBox="1"/>
          <p:nvPr/>
        </p:nvSpPr>
        <p:spPr>
          <a:xfrm>
            <a:off x="164592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21" name="Text 14"/>
          <p:cNvSpPr txBox="1"/>
          <p:nvPr/>
        </p:nvSpPr>
        <p:spPr>
          <a:xfrm>
            <a:off x="640080" y="374904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22" name="Text 15"/>
          <p:cNvSpPr txBox="1"/>
          <p:nvPr/>
        </p:nvSpPr>
        <p:spPr>
          <a:xfrm>
            <a:off x="1828800" y="2788920"/>
            <a:ext cx="182880" cy="182880"/>
          </a:xfrm>
          <a:prstGeom prst="rect">
            <a:avLst/>
          </a:prstGeom>
          <a:noFill/>
          <a:ln/>
        </p:spPr>
        <p:txBody>
          <a:bodyPr wrap="square" lIns="0" tIns="0" rIns="0" bIns="0" rtlCol="0" anchor="t"/>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3" name="Text 16"/>
          <p:cNvSpPr txBox="1"/>
          <p:nvPr/>
        </p:nvSpPr>
        <p:spPr>
          <a:xfrm>
            <a:off x="640080" y="3931920"/>
            <a:ext cx="228600" cy="182880"/>
          </a:xfrm>
          <a:prstGeom prst="rect">
            <a:avLst/>
          </a:prstGeom>
          <a:noFill/>
          <a:ln/>
        </p:spPr>
        <p:txBody>
          <a:bodyPr wrap="square" lIns="0" tIns="0" rIns="0" bIns="0" rtlCol="0" anchor="ctr"/>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4" name="Text 17"/>
          <p:cNvSpPr txBox="1"/>
          <p:nvPr/>
        </p:nvSpPr>
        <p:spPr>
          <a:xfrm>
            <a:off x="201168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25" name="Text 18"/>
          <p:cNvSpPr txBox="1"/>
          <p:nvPr/>
        </p:nvSpPr>
        <p:spPr>
          <a:xfrm>
            <a:off x="640080" y="411480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26" name="Text 19"/>
          <p:cNvSpPr txBox="1"/>
          <p:nvPr/>
        </p:nvSpPr>
        <p:spPr>
          <a:xfrm>
            <a:off x="2194560" y="2788920"/>
            <a:ext cx="182880" cy="182880"/>
          </a:xfrm>
          <a:prstGeom prst="rect">
            <a:avLst/>
          </a:prstGeom>
          <a:noFill/>
          <a:ln/>
        </p:spPr>
        <p:txBody>
          <a:bodyPr wrap="square" lIns="0" tIns="0" rIns="0" bIns="0" rtlCol="0" anchor="t"/>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7" name="Text 20"/>
          <p:cNvSpPr txBox="1"/>
          <p:nvPr/>
        </p:nvSpPr>
        <p:spPr>
          <a:xfrm>
            <a:off x="640080" y="4297680"/>
            <a:ext cx="228600" cy="182880"/>
          </a:xfrm>
          <a:prstGeom prst="rect">
            <a:avLst/>
          </a:prstGeom>
          <a:noFill/>
          <a:ln/>
        </p:spPr>
        <p:txBody>
          <a:bodyPr wrap="square" lIns="0" tIns="0" rIns="0" bIns="0" rtlCol="0" anchor="ctr"/>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8" name="Text 21"/>
          <p:cNvSpPr txBox="1"/>
          <p:nvPr/>
        </p:nvSpPr>
        <p:spPr>
          <a:xfrm>
            <a:off x="2377440" y="2788920"/>
            <a:ext cx="182880" cy="182880"/>
          </a:xfrm>
          <a:prstGeom prst="rect">
            <a:avLst/>
          </a:prstGeom>
          <a:noFill/>
          <a:ln/>
        </p:spPr>
        <p:txBody>
          <a:bodyPr wrap="square" lIns="0" tIns="0" rIns="0" bIns="0" rtlCol="0" anchor="t"/>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9" name="Text 22"/>
          <p:cNvSpPr txBox="1"/>
          <p:nvPr/>
        </p:nvSpPr>
        <p:spPr>
          <a:xfrm>
            <a:off x="640080" y="4480560"/>
            <a:ext cx="228600" cy="182880"/>
          </a:xfrm>
          <a:prstGeom prst="rect">
            <a:avLst/>
          </a:prstGeom>
          <a:noFill/>
          <a:ln/>
        </p:spPr>
        <p:txBody>
          <a:bodyPr wrap="square" lIns="0" tIns="0" rIns="0" bIns="0" rtlCol="0" anchor="ctr"/>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30" name="Text 23"/>
          <p:cNvSpPr txBox="1"/>
          <p:nvPr/>
        </p:nvSpPr>
        <p:spPr>
          <a:xfrm>
            <a:off x="2560320" y="2788920"/>
            <a:ext cx="182880" cy="182880"/>
          </a:xfrm>
          <a:prstGeom prst="rect">
            <a:avLst/>
          </a:prstGeom>
          <a:noFill/>
          <a:ln/>
        </p:spPr>
        <p:txBody>
          <a:bodyPr wrap="square" lIns="0" tIns="0" rIns="0" bIns="0" rtlCol="0" anchor="t"/>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31" name="Text 24"/>
          <p:cNvSpPr txBox="1"/>
          <p:nvPr/>
        </p:nvSpPr>
        <p:spPr>
          <a:xfrm>
            <a:off x="640080" y="4663440"/>
            <a:ext cx="228600" cy="182880"/>
          </a:xfrm>
          <a:prstGeom prst="rect">
            <a:avLst/>
          </a:prstGeom>
          <a:noFill/>
          <a:ln/>
        </p:spPr>
        <p:txBody>
          <a:bodyPr wrap="square" lIns="0" tIns="0" rIns="0" bIns="0" rtlCol="0" anchor="ctr"/>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32" name="Text 25"/>
          <p:cNvSpPr txBox="1"/>
          <p:nvPr/>
        </p:nvSpPr>
        <p:spPr>
          <a:xfrm>
            <a:off x="2743200" y="2788920"/>
            <a:ext cx="182880" cy="182880"/>
          </a:xfrm>
          <a:prstGeom prst="rect">
            <a:avLst/>
          </a:prstGeom>
          <a:noFill/>
          <a:ln/>
        </p:spPr>
        <p:txBody>
          <a:bodyPr wrap="square" lIns="0" tIns="0" rIns="0" bIns="0" rtlCol="0" anchor="t"/>
          <a:lstStyle/>
          <a:p>
            <a:pPr algn="ctr" indent="0" marL="0">
              <a:buNone/>
            </a:pPr>
            <a:r>
              <a:rPr lang="en-US" sz="800" b="1" dirty="0">
                <a:solidFill>
                  <a:srgbClr val="CC79A7"/>
                </a:solidFill>
                <a:latin typeface="Consolas" pitchFamily="34" charset="0"/>
                <a:ea typeface="Consolas" pitchFamily="34" charset="-122"/>
                <a:cs typeface="Consolas" pitchFamily="34" charset="-120"/>
              </a:rPr>
              <a:t>U</a:t>
            </a:r>
            <a:endParaRPr lang="en-US" sz="800" dirty="0"/>
          </a:p>
        </p:txBody>
      </p:sp>
      <p:sp>
        <p:nvSpPr>
          <p:cNvPr id="33" name="Text 26"/>
          <p:cNvSpPr txBox="1"/>
          <p:nvPr/>
        </p:nvSpPr>
        <p:spPr>
          <a:xfrm>
            <a:off x="640080" y="4846320"/>
            <a:ext cx="228600" cy="182880"/>
          </a:xfrm>
          <a:prstGeom prst="rect">
            <a:avLst/>
          </a:prstGeom>
          <a:noFill/>
          <a:ln/>
        </p:spPr>
        <p:txBody>
          <a:bodyPr wrap="square" lIns="0" tIns="0" rIns="0" bIns="0" rtlCol="0" anchor="ctr"/>
          <a:lstStyle/>
          <a:p>
            <a:pPr algn="ctr" indent="0" marL="0">
              <a:buNone/>
            </a:pPr>
            <a:r>
              <a:rPr lang="en-US" sz="800" b="1" dirty="0">
                <a:solidFill>
                  <a:srgbClr val="CC79A7"/>
                </a:solidFill>
                <a:latin typeface="Consolas" pitchFamily="34" charset="0"/>
                <a:ea typeface="Consolas" pitchFamily="34" charset="-122"/>
                <a:cs typeface="Consolas" pitchFamily="34" charset="-120"/>
              </a:rPr>
              <a:t>U</a:t>
            </a:r>
            <a:endParaRPr lang="en-US" sz="800" dirty="0"/>
          </a:p>
        </p:txBody>
      </p:sp>
      <p:sp>
        <p:nvSpPr>
          <p:cNvPr id="34" name="Text 27"/>
          <p:cNvSpPr txBox="1"/>
          <p:nvPr/>
        </p:nvSpPr>
        <p:spPr>
          <a:xfrm>
            <a:off x="292608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35" name="Text 28"/>
          <p:cNvSpPr txBox="1"/>
          <p:nvPr/>
        </p:nvSpPr>
        <p:spPr>
          <a:xfrm>
            <a:off x="640080" y="502920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36" name="Text 29"/>
          <p:cNvSpPr txBox="1"/>
          <p:nvPr/>
        </p:nvSpPr>
        <p:spPr>
          <a:xfrm>
            <a:off x="310896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37" name="Text 30"/>
          <p:cNvSpPr txBox="1"/>
          <p:nvPr/>
        </p:nvSpPr>
        <p:spPr>
          <a:xfrm>
            <a:off x="640080" y="521208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38" name="Text 31"/>
          <p:cNvSpPr txBox="1"/>
          <p:nvPr/>
        </p:nvSpPr>
        <p:spPr>
          <a:xfrm>
            <a:off x="329184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39" name="Text 32"/>
          <p:cNvSpPr txBox="1"/>
          <p:nvPr/>
        </p:nvSpPr>
        <p:spPr>
          <a:xfrm>
            <a:off x="640080" y="539496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40" name="Text 33"/>
          <p:cNvSpPr txBox="1"/>
          <p:nvPr/>
        </p:nvSpPr>
        <p:spPr>
          <a:xfrm>
            <a:off x="347472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41" name="Text 34"/>
          <p:cNvSpPr txBox="1"/>
          <p:nvPr/>
        </p:nvSpPr>
        <p:spPr>
          <a:xfrm>
            <a:off x="640080" y="557784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42" name="Text 35"/>
          <p:cNvSpPr txBox="1"/>
          <p:nvPr/>
        </p:nvSpPr>
        <p:spPr>
          <a:xfrm>
            <a:off x="365760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43" name="Text 36"/>
          <p:cNvSpPr txBox="1"/>
          <p:nvPr/>
        </p:nvSpPr>
        <p:spPr>
          <a:xfrm>
            <a:off x="640080" y="576072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44" name="Shape 37"/>
          <p:cNvSpPr/>
          <p:nvPr/>
        </p:nvSpPr>
        <p:spPr>
          <a:xfrm>
            <a:off x="914400" y="3017520"/>
            <a:ext cx="2926080" cy="2926080"/>
          </a:xfrm>
          <a:prstGeom prst="rect">
            <a:avLst/>
          </a:prstGeom>
          <a:solidFill>
            <a:srgbClr val="FFFFFF"/>
          </a:solidFill>
          <a:ln w="9525">
            <a:solidFill>
              <a:srgbClr val="C9D3D6"/>
            </a:solidFill>
            <a:prstDash val="solid"/>
          </a:ln>
        </p:spPr>
      </p:sp>
      <p:sp>
        <p:nvSpPr>
          <p:cNvPr id="45" name="Shape 38"/>
          <p:cNvSpPr/>
          <p:nvPr/>
        </p:nvSpPr>
        <p:spPr>
          <a:xfrm>
            <a:off x="914400" y="3017520"/>
            <a:ext cx="2926080" cy="2926080"/>
          </a:xfrm>
          <a:prstGeom prst="line">
            <a:avLst/>
          </a:prstGeom>
          <a:noFill/>
          <a:ln w="6350">
            <a:solidFill>
              <a:srgbClr val="C9D3D6"/>
            </a:solidFill>
            <a:prstDash val="solid"/>
          </a:ln>
        </p:spPr>
      </p:sp>
      <p:sp>
        <p:nvSpPr>
          <p:cNvPr id="46" name="Shape 39"/>
          <p:cNvSpPr/>
          <p:nvPr/>
        </p:nvSpPr>
        <p:spPr>
          <a:xfrm>
            <a:off x="3507910" y="3050710"/>
            <a:ext cx="116500" cy="116500"/>
          </a:xfrm>
          <a:prstGeom prst="rect">
            <a:avLst/>
          </a:prstGeom>
          <a:solidFill>
            <a:srgbClr val="0F4C5C"/>
          </a:solidFill>
          <a:ln w="12700">
            <a:solidFill>
              <a:srgbClr val="0F4C5C"/>
            </a:solidFill>
            <a:prstDash val="solid"/>
          </a:ln>
        </p:spPr>
      </p:sp>
      <p:sp>
        <p:nvSpPr>
          <p:cNvPr id="47" name="Shape 40"/>
          <p:cNvSpPr/>
          <p:nvPr/>
        </p:nvSpPr>
        <p:spPr>
          <a:xfrm>
            <a:off x="3729220" y="3089140"/>
            <a:ext cx="39639" cy="39639"/>
          </a:xfrm>
          <a:prstGeom prst="rect">
            <a:avLst/>
          </a:prstGeom>
          <a:solidFill>
            <a:srgbClr val="0F4C5C"/>
          </a:solidFill>
          <a:ln w="12700">
            <a:solidFill>
              <a:srgbClr val="0F4C5C"/>
            </a:solidFill>
            <a:prstDash val="solid"/>
          </a:ln>
        </p:spPr>
      </p:sp>
      <p:sp>
        <p:nvSpPr>
          <p:cNvPr id="48" name="Shape 41"/>
          <p:cNvSpPr/>
          <p:nvPr/>
        </p:nvSpPr>
        <p:spPr>
          <a:xfrm>
            <a:off x="3341886" y="3250446"/>
            <a:ext cx="82788" cy="82788"/>
          </a:xfrm>
          <a:prstGeom prst="rect">
            <a:avLst/>
          </a:prstGeom>
          <a:solidFill>
            <a:srgbClr val="0F4C5C"/>
          </a:solidFill>
          <a:ln w="12700">
            <a:solidFill>
              <a:srgbClr val="0F4C5C"/>
            </a:solidFill>
            <a:prstDash val="solid"/>
          </a:ln>
        </p:spPr>
      </p:sp>
      <p:sp>
        <p:nvSpPr>
          <p:cNvPr id="49" name="Shape 42"/>
          <p:cNvSpPr/>
          <p:nvPr/>
        </p:nvSpPr>
        <p:spPr>
          <a:xfrm>
            <a:off x="3313692" y="3405132"/>
            <a:ext cx="139175" cy="139175"/>
          </a:xfrm>
          <a:prstGeom prst="rect">
            <a:avLst/>
          </a:prstGeom>
          <a:solidFill>
            <a:srgbClr val="0F4C5C"/>
          </a:solidFill>
          <a:ln w="12700">
            <a:solidFill>
              <a:srgbClr val="0F4C5C"/>
            </a:solidFill>
            <a:prstDash val="solid"/>
          </a:ln>
        </p:spPr>
      </p:sp>
      <p:sp>
        <p:nvSpPr>
          <p:cNvPr id="50" name="Shape 43"/>
          <p:cNvSpPr/>
          <p:nvPr/>
        </p:nvSpPr>
        <p:spPr>
          <a:xfrm>
            <a:off x="3118228" y="3575428"/>
            <a:ext cx="164345" cy="164345"/>
          </a:xfrm>
          <a:prstGeom prst="rect">
            <a:avLst/>
          </a:prstGeom>
          <a:solidFill>
            <a:srgbClr val="0F4C5C"/>
          </a:solidFill>
          <a:ln w="12700">
            <a:solidFill>
              <a:srgbClr val="0F4C5C"/>
            </a:solidFill>
            <a:prstDash val="solid"/>
          </a:ln>
        </p:spPr>
      </p:sp>
      <p:sp>
        <p:nvSpPr>
          <p:cNvPr id="51" name="Shape 44"/>
          <p:cNvSpPr/>
          <p:nvPr/>
        </p:nvSpPr>
        <p:spPr>
          <a:xfrm>
            <a:off x="2935306" y="3758266"/>
            <a:ext cx="164427" cy="164427"/>
          </a:xfrm>
          <a:prstGeom prst="rect">
            <a:avLst/>
          </a:prstGeom>
          <a:solidFill>
            <a:srgbClr val="0F4C5C"/>
          </a:solidFill>
          <a:ln w="12700">
            <a:solidFill>
              <a:srgbClr val="0F4C5C"/>
            </a:solidFill>
            <a:prstDash val="solid"/>
          </a:ln>
        </p:spPr>
      </p:sp>
      <p:sp>
        <p:nvSpPr>
          <p:cNvPr id="52" name="Shape 45"/>
          <p:cNvSpPr/>
          <p:nvPr/>
        </p:nvSpPr>
        <p:spPr>
          <a:xfrm>
            <a:off x="2755362" y="3944082"/>
            <a:ext cx="158556" cy="158556"/>
          </a:xfrm>
          <a:prstGeom prst="rect">
            <a:avLst/>
          </a:prstGeom>
          <a:solidFill>
            <a:srgbClr val="0F4C5C"/>
          </a:solidFill>
          <a:ln w="12700">
            <a:solidFill>
              <a:srgbClr val="0F4C5C"/>
            </a:solidFill>
            <a:prstDash val="solid"/>
          </a:ln>
        </p:spPr>
      </p:sp>
      <p:sp>
        <p:nvSpPr>
          <p:cNvPr id="53" name="Shape 46"/>
          <p:cNvSpPr/>
          <p:nvPr/>
        </p:nvSpPr>
        <p:spPr>
          <a:xfrm>
            <a:off x="1289304" y="5404104"/>
            <a:ext cx="164592" cy="164592"/>
          </a:xfrm>
          <a:prstGeom prst="rect">
            <a:avLst/>
          </a:prstGeom>
          <a:solidFill>
            <a:srgbClr val="E36414"/>
          </a:solidFill>
          <a:ln w="12700">
            <a:solidFill>
              <a:srgbClr val="E36414"/>
            </a:solidFill>
            <a:prstDash val="solid"/>
          </a:ln>
        </p:spPr>
      </p:sp>
      <p:sp>
        <p:nvSpPr>
          <p:cNvPr id="54" name="Shape 47"/>
          <p:cNvSpPr/>
          <p:nvPr/>
        </p:nvSpPr>
        <p:spPr>
          <a:xfrm>
            <a:off x="1472184" y="5221224"/>
            <a:ext cx="164592" cy="164592"/>
          </a:xfrm>
          <a:prstGeom prst="rect">
            <a:avLst/>
          </a:prstGeom>
          <a:solidFill>
            <a:srgbClr val="E36414"/>
          </a:solidFill>
          <a:ln w="12700">
            <a:solidFill>
              <a:srgbClr val="E36414"/>
            </a:solidFill>
            <a:prstDash val="solid"/>
          </a:ln>
        </p:spPr>
      </p:sp>
      <p:sp>
        <p:nvSpPr>
          <p:cNvPr id="55" name="Shape 48"/>
          <p:cNvSpPr/>
          <p:nvPr/>
        </p:nvSpPr>
        <p:spPr>
          <a:xfrm>
            <a:off x="1655064" y="5038344"/>
            <a:ext cx="164592" cy="164592"/>
          </a:xfrm>
          <a:prstGeom prst="rect">
            <a:avLst/>
          </a:prstGeom>
          <a:solidFill>
            <a:srgbClr val="E36414"/>
          </a:solidFill>
          <a:ln w="12700">
            <a:solidFill>
              <a:srgbClr val="E36414"/>
            </a:solidFill>
            <a:prstDash val="solid"/>
          </a:ln>
        </p:spPr>
      </p:sp>
      <p:sp>
        <p:nvSpPr>
          <p:cNvPr id="56" name="Shape 49"/>
          <p:cNvSpPr/>
          <p:nvPr/>
        </p:nvSpPr>
        <p:spPr>
          <a:xfrm>
            <a:off x="1837944" y="4855464"/>
            <a:ext cx="164592" cy="164592"/>
          </a:xfrm>
          <a:prstGeom prst="rect">
            <a:avLst/>
          </a:prstGeom>
          <a:solidFill>
            <a:srgbClr val="E36414"/>
          </a:solidFill>
          <a:ln w="12700">
            <a:solidFill>
              <a:srgbClr val="E36414"/>
            </a:solidFill>
            <a:prstDash val="solid"/>
          </a:ln>
        </p:spPr>
      </p:sp>
      <p:sp>
        <p:nvSpPr>
          <p:cNvPr id="57" name="Text 50"/>
          <p:cNvSpPr txBox="1"/>
          <p:nvPr/>
        </p:nvSpPr>
        <p:spPr>
          <a:xfrm>
            <a:off x="640080" y="5989320"/>
            <a:ext cx="3840480" cy="320040"/>
          </a:xfrm>
          <a:prstGeom prst="rect">
            <a:avLst/>
          </a:prstGeom>
          <a:noFill/>
          <a:ln/>
        </p:spPr>
        <p:txBody>
          <a:bodyPr wrap="square" lIns="0" tIns="0" rIns="0" bIns="0" rtlCol="0" anchor="t"/>
          <a:lstStyle/>
          <a:p>
            <a:pPr indent="0" marL="0">
              <a:buNone/>
            </a:pPr>
            <a:r>
              <a:rPr lang="en-US" sz="1000" dirty="0">
                <a:solidFill>
                  <a:srgbClr val="5C6B73"/>
                </a:solidFill>
                <a:latin typeface="Meiryo" pitchFamily="34" charset="0"/>
                <a:ea typeface="Meiryo" pitchFamily="34" charset="-122"/>
                <a:cs typeface="Meiryo" pitchFamily="34" charset="-120"/>
              </a:rPr>
              <a:t>右上：塩基対確率 p_ij（面積 ∝ p）　左下：MFE 構造の塩基対</a:t>
            </a:r>
            <a:endParaRPr lang="en-US" sz="1000" dirty="0"/>
          </a:p>
        </p:txBody>
      </p:sp>
      <p:sp>
        <p:nvSpPr>
          <p:cNvPr id="58" name="Shape 51"/>
          <p:cNvSpPr/>
          <p:nvPr/>
        </p:nvSpPr>
        <p:spPr>
          <a:xfrm>
            <a:off x="4754880" y="2743200"/>
            <a:ext cx="6949440" cy="3383280"/>
          </a:xfrm>
          <a:prstGeom prst="roundRect">
            <a:avLst>
              <a:gd name="adj" fmla="val 3243"/>
            </a:avLst>
          </a:prstGeom>
          <a:solidFill>
            <a:srgbClr val="EEF3F4"/>
          </a:solidFill>
          <a:ln w="12700">
            <a:solidFill>
              <a:srgbClr val="EEF3F4"/>
            </a:solidFill>
            <a:prstDash val="solid"/>
          </a:ln>
        </p:spPr>
      </p:sp>
      <p:sp>
        <p:nvSpPr>
          <p:cNvPr id="59" name="Text 52"/>
          <p:cNvSpPr txBox="1"/>
          <p:nvPr/>
        </p:nvSpPr>
        <p:spPr>
          <a:xfrm>
            <a:off x="4937760" y="2852928"/>
            <a:ext cx="65836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例題RNAと G2C 変異体の比較</a:t>
            </a:r>
            <a:endParaRPr lang="en-US" sz="2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937760" y="3337560"/>
          <a:ext cx="6583680" cy="914400"/>
        </p:xfrm>
        <a:graphic>
          <a:graphicData uri="http://schemas.openxmlformats.org/drawingml/2006/table">
            <a:tbl>
              <a:tblPr/>
              <a:tblGrid>
                <a:gridCol w="2194560"/>
                <a:gridCol w="2194560"/>
                <a:gridCol w="2194560"/>
              </a:tblGrid>
              <a:tr h="0">
                <a:tc>
                  <a:txBody>
                    <a:bodyPr/>
                    <a:lstStyle/>
                    <a:p>
                      <a:pPr algn="l" indent="0" marL="0">
                        <a:buNone/>
                      </a:pP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例題RNA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G2C 変異体</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 構造</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 (kcal/mol)</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-10.20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-4.20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G_ens = −RT ln Z</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-10.26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-4.80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P(MFE 構造)</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0.908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0.378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集団欠陥 ED(MFE構造)</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0.012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最大の p_ij</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1.000 (2,15)</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0.998 (5,12)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61" name="Text 53"/>
          <p:cNvSpPr txBox="1"/>
          <p:nvPr/>
        </p:nvSpPr>
        <p:spPr>
          <a:xfrm>
            <a:off x="4937760" y="5532120"/>
            <a:ext cx="6583680" cy="54864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ViennaRNA: fc.pf(), fc.bpp(), fc.pr_structure(T), fc.ensemble_defect(T)。RNAfold -p の出力（ドットプロット・mountain plot）は Lorenz et al. 2011 Fig. 1A を参照</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補足4：RNAinverse の実装詳細（v2.7.2 inverse.c）</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45</a:t>
            </a:r>
            <a:endParaRPr lang="en-US" sz="1100" dirty="0"/>
          </a:p>
        </p:txBody>
      </p:sp>
      <p:sp>
        <p:nvSpPr>
          <p:cNvPr id="6" name="Shape 3"/>
          <p:cNvSpPr/>
          <p:nvPr/>
        </p:nvSpPr>
        <p:spPr>
          <a:xfrm>
            <a:off x="502920" y="1188720"/>
            <a:ext cx="5486400" cy="3657600"/>
          </a:xfrm>
          <a:prstGeom prst="roundRect">
            <a:avLst>
              <a:gd name="adj" fmla="val 3000"/>
            </a:avLst>
          </a:prstGeom>
          <a:solidFill>
            <a:srgbClr val="EEF3F4"/>
          </a:solidFill>
          <a:ln w="12700">
            <a:solidFill>
              <a:srgbClr val="EEF3F4"/>
            </a:solidFill>
            <a:prstDash val="solid"/>
          </a:ln>
        </p:spPr>
      </p:sp>
      <p:sp>
        <p:nvSpPr>
          <p:cNvPr id="7" name="Text 4"/>
          <p:cNvSpPr txBox="1"/>
          <p:nvPr/>
        </p:nvSpPr>
        <p:spPr>
          <a:xfrm>
            <a:off x="685800" y="12984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MFE モード（inverse_fold）</a:t>
            </a:r>
            <a:endParaRPr lang="en-US" sz="2000" dirty="0"/>
          </a:p>
        </p:txBody>
      </p:sp>
      <p:sp>
        <p:nvSpPr>
          <p:cNvPr id="8" name="Text 5"/>
          <p:cNvSpPr txBox="1"/>
          <p:nvPr/>
        </p:nvSpPr>
        <p:spPr>
          <a:xfrm>
            <a:off x="685800" y="1755648"/>
            <a:ext cx="5120640" cy="29718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初期配列の整合化（make_start）：目標の各塩基対が対合できない文字なら片側を置換。小文字側は固定</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部分構造の利用（aux_struct / WALK）：ステム単位に分け、ヘアピン側から外側へ順に adaptive_walk。give_up=1 で早期打ち切り</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変異位置：予測と目標が食い違う位置（非対合または対の 3′ 側）→ その隣接位置の順。各リストは乱数で並べ替え</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変異の種類：非対合位置は AUGC の他の文字、対合位置は許される塩基対（AU/UA/GC/CG/GU/UG）をペアごとに置換</a:t>
            </a:r>
            <a:endParaRPr lang="en-US" sz="1300" dirty="0"/>
          </a:p>
        </p:txBody>
      </p:sp>
      <p:sp>
        <p:nvSpPr>
          <p:cNvPr id="9" name="Shape 6"/>
          <p:cNvSpPr/>
          <p:nvPr/>
        </p:nvSpPr>
        <p:spPr>
          <a:xfrm>
            <a:off x="6217920" y="1188720"/>
            <a:ext cx="5486400" cy="3657600"/>
          </a:xfrm>
          <a:prstGeom prst="roundRect">
            <a:avLst>
              <a:gd name="adj" fmla="val 3000"/>
            </a:avLst>
          </a:prstGeom>
          <a:solidFill>
            <a:srgbClr val="EEF3F4"/>
          </a:solidFill>
          <a:ln w="12700">
            <a:solidFill>
              <a:srgbClr val="EEF3F4"/>
            </a:solidFill>
            <a:prstDash val="solid"/>
          </a:ln>
        </p:spPr>
      </p:sp>
      <p:sp>
        <p:nvSpPr>
          <p:cNvPr id="10" name="Text 7"/>
          <p:cNvSpPr txBox="1"/>
          <p:nvPr/>
        </p:nvSpPr>
        <p:spPr>
          <a:xfrm>
            <a:off x="6400800" y="12984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評価・同点・停止・pf モード</a:t>
            </a:r>
            <a:endParaRPr lang="en-US" sz="2000" dirty="0"/>
          </a:p>
        </p:txBody>
      </p:sp>
      <p:sp>
        <p:nvSpPr>
          <p:cNvPr id="11" name="Text 8"/>
          <p:cNvSpPr txBox="1"/>
          <p:nvPr/>
        </p:nvSpPr>
        <p:spPr>
          <a:xfrm>
            <a:off x="6400800" y="1755648"/>
            <a:ext cx="5120640" cy="29718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評価：cost = 予測構造と目標の塩基対距離（bp_distance）。改善した最初の変異を採用（first improvement）</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同点時：cost2 = E(目標構造) − E_MFE が小さくなる変異を記憶し、改善がなければ採用</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停止：cost = 0 で成功。改善も同点改善も無ければ停止し、cost（&gt;0）を返す</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pf モード：cost = E(目標) − G_ens = −RT ln P(目標)。dangles=2 固定、分割探索なし、全非固定位置が候補</a:t>
            </a:r>
            <a:endParaRPr lang="en-US" sz="1300" dirty="0"/>
          </a:p>
        </p:txBody>
      </p:sp>
      <p:sp>
        <p:nvSpPr>
          <p:cNvPr id="12" name="Shape 9"/>
          <p:cNvSpPr/>
          <p:nvPr/>
        </p:nvSpPr>
        <p:spPr>
          <a:xfrm>
            <a:off x="502920" y="4983480"/>
            <a:ext cx="11155680" cy="1143000"/>
          </a:xfrm>
          <a:prstGeom prst="roundRect">
            <a:avLst>
              <a:gd name="adj" fmla="val 9600"/>
            </a:avLst>
          </a:prstGeom>
          <a:solidFill>
            <a:srgbClr val="FBE9DC"/>
          </a:solidFill>
          <a:ln w="12700">
            <a:solidFill>
              <a:srgbClr val="FBE9DC"/>
            </a:solidFill>
            <a:prstDash val="solid"/>
          </a:ln>
        </p:spPr>
      </p:sp>
      <p:sp>
        <p:nvSpPr>
          <p:cNvPr id="13" name="Text 10"/>
          <p:cNvSpPr txBox="1"/>
          <p:nvPr/>
        </p:nvSpPr>
        <p:spPr>
          <a:xfrm>
            <a:off x="685800" y="5093208"/>
            <a:ext cx="1078992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Python API の注意（2.7.2 で確認）</a:t>
            </a:r>
            <a:endParaRPr lang="en-US" sz="2000" dirty="0"/>
          </a:p>
        </p:txBody>
      </p:sp>
      <p:sp>
        <p:nvSpPr>
          <p:cNvPr id="14" name="Text 11"/>
          <p:cNvSpPr txBox="1"/>
          <p:nvPr/>
        </p:nvSpPr>
        <p:spPr>
          <a:xfrm>
            <a:off x="685800" y="5550408"/>
            <a:ext cx="10789920" cy="457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inverse_fold(start, target) → [配列, cost]。引数 start の文字列オブジェクトが C 側で上書きされる（控えを取る）</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N は置換されない（CLI のみの処理）。小文字は固定。RNA.cvar.give_up / symbolset / final_cost で挙動を変更可</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補足5：MFE 目的と確率目的の違い</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46</a:t>
            </a:r>
            <a:endParaRPr lang="en-US" sz="1100" dirty="0"/>
          </a:p>
        </p:txBody>
      </p:sp>
      <p:pic>
        <p:nvPicPr>
          <p:cNvPr id="6" name="Image 0" descr="/Users/sumishunsuke/Desktop/RNA/Course_RNAinverse/build/fig/eq_inverse.png">    </p:cNvPr>
          <p:cNvPicPr>
            <a:picLocks noChangeAspect="1"/>
          </p:cNvPicPr>
          <p:nvPr/>
        </p:nvPicPr>
        <p:blipFill>
          <a:blip r:embed="rId1"/>
          <a:stretch>
            <a:fillRect/>
          </a:stretch>
        </p:blipFill>
        <p:spPr>
          <a:xfrm>
            <a:off x="502920" y="1188720"/>
            <a:ext cx="3627050" cy="502920"/>
          </a:xfrm>
          <a:prstGeom prst="rect">
            <a:avLst/>
          </a:prstGeom>
        </p:spPr>
      </p:pic>
      <p:sp>
        <p:nvSpPr>
          <p:cNvPr id="7" name="Text 3"/>
          <p:cNvSpPr txBox="1"/>
          <p:nvPr/>
        </p:nvSpPr>
        <p:spPr>
          <a:xfrm>
            <a:off x="5120640" y="1188720"/>
            <a:ext cx="6400800" cy="50292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MFE 目的：予測構造と目標の距離を 0 にする</a:t>
            </a:r>
            <a:endParaRPr lang="en-US" sz="1400" dirty="0"/>
          </a:p>
        </p:txBody>
      </p:sp>
      <p:pic>
        <p:nvPicPr>
          <p:cNvPr id="8" name="Image 1" descr="/Users/sumishunsuke/Desktop/RNA/Course_RNAinverse/build/fig/eq_inverse_pf.png">    </p:cNvPr>
          <p:cNvPicPr>
            <a:picLocks noChangeAspect="1"/>
          </p:cNvPicPr>
          <p:nvPr/>
        </p:nvPicPr>
        <p:blipFill>
          <a:blip r:embed="rId2"/>
          <a:stretch>
            <a:fillRect/>
          </a:stretch>
        </p:blipFill>
        <p:spPr>
          <a:xfrm>
            <a:off x="502920" y="1828800"/>
            <a:ext cx="7030511" cy="548640"/>
          </a:xfrm>
          <a:prstGeom prst="rect">
            <a:avLst/>
          </a:prstGeom>
        </p:spPr>
      </p:pic>
      <p:sp>
        <p:nvSpPr>
          <p:cNvPr id="9" name="Text 4"/>
          <p:cNvSpPr txBox="1"/>
          <p:nvPr/>
        </p:nvSpPr>
        <p:spPr>
          <a:xfrm>
            <a:off x="8595360" y="1828800"/>
            <a:ext cx="3108960" cy="54864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確率目的：目標構造の確率を最大化</a:t>
            </a:r>
            <a:endParaRPr lang="en-US" sz="14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02920" y="2606040"/>
          <a:ext cx="7315200" cy="914400"/>
        </p:xfrm>
        <a:graphic>
          <a:graphicData uri="http://schemas.openxmlformats.org/drawingml/2006/table">
            <a:tbl>
              <a:tblPr/>
              <a:tblGrid>
                <a:gridCol w="822960"/>
                <a:gridCol w="640080"/>
                <a:gridCol w="2651760"/>
                <a:gridCol w="822960"/>
                <a:gridCol w="822960"/>
                <a:gridCol w="155448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目的</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seed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設計配列</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ΔG</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GC</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P(T)</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CGCGGAAACGUUCGUG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0.616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CUCAGUUUCUAUUGAG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-3.9</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0.863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CCAGUGUGCACACUGG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-7.3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0.935</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AUGCGGUCACCCGUGU</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-4.2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0.506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UCGGAUUUAGGUCCGA</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50%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0.570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確率</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GGCGGCGCAGGCCGCC</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-12.6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E36414"/>
                          </a:solidFill>
                          <a:latin typeface="Meiryo" pitchFamily="34" charset="0"/>
                          <a:ea typeface="Meiryo" pitchFamily="34" charset="-122"/>
                          <a:cs typeface="Meiryo" pitchFamily="34" charset="-120"/>
                        </a:rPr>
                        <a:t>94%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b="1" dirty="0">
                          <a:solidFill>
                            <a:srgbClr val="009E73"/>
                          </a:solidFill>
                          <a:latin typeface="Meiryo" pitchFamily="34" charset="0"/>
                          <a:ea typeface="Meiryo" pitchFamily="34" charset="-122"/>
                          <a:cs typeface="Meiryo" pitchFamily="34" charset="-120"/>
                        </a:rPr>
                        <a:t>0.976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確率</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GGCGGCUCCGGCCGCC</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-13.1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E36414"/>
                          </a:solidFill>
                          <a:latin typeface="Meiryo" pitchFamily="34" charset="0"/>
                          <a:ea typeface="Meiryo" pitchFamily="34" charset="-122"/>
                          <a:cs typeface="Meiryo" pitchFamily="34" charset="-120"/>
                        </a:rPr>
                        <a:t>94%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b="1" dirty="0">
                          <a:solidFill>
                            <a:srgbClr val="009E73"/>
                          </a:solidFill>
                          <a:latin typeface="Meiryo" pitchFamily="34" charset="0"/>
                          <a:ea typeface="Meiryo" pitchFamily="34" charset="-122"/>
                          <a:cs typeface="Meiryo" pitchFamily="34" charset="-120"/>
                        </a:rPr>
                        <a:t>0.976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確率</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GGCGGCUCCGGCCGCC</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-13.1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E36414"/>
                          </a:solidFill>
                          <a:latin typeface="Meiryo" pitchFamily="34" charset="0"/>
                          <a:ea typeface="Meiryo" pitchFamily="34" charset="-122"/>
                          <a:cs typeface="Meiryo" pitchFamily="34" charset="-120"/>
                        </a:rPr>
                        <a:t>94%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b="1" dirty="0">
                          <a:solidFill>
                            <a:srgbClr val="009E73"/>
                          </a:solidFill>
                          <a:latin typeface="Meiryo" pitchFamily="34" charset="0"/>
                          <a:ea typeface="Meiryo" pitchFamily="34" charset="-122"/>
                          <a:cs typeface="Meiryo" pitchFamily="34" charset="-120"/>
                        </a:rPr>
                        <a:t>0.976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11" name="Shape 5"/>
          <p:cNvSpPr/>
          <p:nvPr/>
        </p:nvSpPr>
        <p:spPr>
          <a:xfrm>
            <a:off x="8046720" y="2606040"/>
            <a:ext cx="3657600" cy="3520440"/>
          </a:xfrm>
          <a:prstGeom prst="roundRect">
            <a:avLst>
              <a:gd name="adj" fmla="val 3117"/>
            </a:avLst>
          </a:prstGeom>
          <a:solidFill>
            <a:srgbClr val="EEF3F4"/>
          </a:solidFill>
          <a:ln w="12700">
            <a:solidFill>
              <a:srgbClr val="EEF3F4"/>
            </a:solidFill>
            <a:prstDash val="solid"/>
          </a:ln>
        </p:spPr>
      </p:sp>
      <p:sp>
        <p:nvSpPr>
          <p:cNvPr id="12" name="Text 6"/>
          <p:cNvSpPr txBox="1"/>
          <p:nvPr/>
        </p:nvSpPr>
        <p:spPr>
          <a:xfrm>
            <a:off x="8229600" y="2715768"/>
            <a:ext cx="32918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読み方</a:t>
            </a:r>
            <a:endParaRPr lang="en-US" sz="2000" dirty="0"/>
          </a:p>
        </p:txBody>
      </p:sp>
      <p:sp>
        <p:nvSpPr>
          <p:cNvPr id="13" name="Text 7"/>
          <p:cNvSpPr txBox="1"/>
          <p:nvPr/>
        </p:nvSpPr>
        <p:spPr>
          <a:xfrm>
            <a:off x="8229600" y="3172968"/>
            <a:ext cx="3291840" cy="28346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MFE 目的は d = 0 で止まるため P(T) が低い候補も混じる</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確率目的は G–C を増やして P(T) ≈ 0.98 に到達（GC 94%）</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GC が多い配列は安定だが、合成・転写・二量体化で扱いにくいことがある</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目的関数の選択が設計結果を決める</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原論文 Fig. 7（tRNA-Phe）でも -Fm は 0.03〜0.09、-Fp は 0.84〜0.86 と同じ傾向</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補足6：固定塩基などの制約と温度</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47</a:t>
            </a:r>
            <a:endParaRPr lang="en-US" sz="1100" dirty="0"/>
          </a:p>
        </p:txBody>
      </p:sp>
      <p:sp>
        <p:nvSpPr>
          <p:cNvPr id="6" name="Text 3"/>
          <p:cNvSpPr txBox="1"/>
          <p:nvPr/>
        </p:nvSpPr>
        <p:spPr>
          <a:xfrm>
            <a:off x="502920" y="1143000"/>
            <a:ext cx="64008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A. 小文字で塩基を固定（ループを gaaa に）</a:t>
            </a:r>
            <a:endParaRPr lang="en-US" sz="15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6949440" cy="914400"/>
        </p:xfrm>
        <a:graphic>
          <a:graphicData uri="http://schemas.openxmlformats.org/drawingml/2006/table">
            <a:tbl>
              <a:tblPr/>
              <a:tblGrid>
                <a:gridCol w="548640"/>
                <a:gridCol w="2468880"/>
                <a:gridCol w="2468880"/>
                <a:gridCol w="457200"/>
                <a:gridCol w="100584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seed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初期配列（小文字 = 固定）</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設計配列</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P(T)</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UCCAGAgaaaAUCAUU</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CGCGGAgaaaUUCGUG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0.786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GUGAGCgaaaAAUGAG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CUCAGUgaaaAUUGAG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0.898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CCACUGgaaaCACCGC</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CCAGUGgaaaCACUGG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0.946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8" name="Text 4"/>
          <p:cNvSpPr txBox="1"/>
          <p:nvPr/>
        </p:nvSpPr>
        <p:spPr>
          <a:xfrm>
            <a:off x="502920" y="3063240"/>
            <a:ext cx="64008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B. N は置換されない（Python API）</a:t>
            </a:r>
            <a:endParaRPr lang="en-US" sz="1500" dirty="0"/>
          </a:p>
        </p:txBody>
      </p:sp>
      <p:sp>
        <p:nvSpPr>
          <p:cNvPr id="9" name="Shape 5"/>
          <p:cNvSpPr/>
          <p:nvPr/>
        </p:nvSpPr>
        <p:spPr>
          <a:xfrm>
            <a:off x="502920" y="3429000"/>
            <a:ext cx="6949440" cy="868680"/>
          </a:xfrm>
          <a:prstGeom prst="rect">
            <a:avLst/>
          </a:prstGeom>
          <a:solidFill>
            <a:srgbClr val="F6F8F9"/>
          </a:solidFill>
          <a:ln w="9525">
            <a:solidFill>
              <a:srgbClr val="C9D3D6"/>
            </a:solidFill>
            <a:prstDash val="solid"/>
          </a:ln>
        </p:spPr>
      </p:sp>
      <p:sp>
        <p:nvSpPr>
          <p:cNvPr id="10" name="Text 6"/>
          <p:cNvSpPr txBox="1"/>
          <p:nvPr/>
        </p:nvSpPr>
        <p:spPr>
          <a:xfrm>
            <a:off x="612648" y="3502152"/>
            <a:ext cx="6729984" cy="72237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RNA.inverse_fold("NNNNNNNNNNNNNNNN", target)</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 GGUAACNNNNGUUAUC   ループの N がそのまま残る</a:t>
            </a:r>
            <a:endParaRPr lang="en-US" sz="1200" dirty="0"/>
          </a:p>
        </p:txBody>
      </p:sp>
      <p:sp>
        <p:nvSpPr>
          <p:cNvPr id="11" name="Text 7"/>
          <p:cNvSpPr txBox="1"/>
          <p:nvPr/>
        </p:nvSpPr>
        <p:spPr>
          <a:xfrm>
            <a:off x="502920" y="4434840"/>
            <a:ext cx="64008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C. 温度と目標構造の確率 P(T)</a:t>
            </a:r>
            <a:endParaRPr lang="en-US" sz="1500" dirty="0"/>
          </a:p>
        </p:txBody>
      </p:sp>
      <p:graphicFrame>
        <p:nvGraphicFramePr>
          <p:cNvPr id="95" name="Table 1"/>
          <p:cNvGraphicFramePr>
            <a:graphicFrameLocks noGrp="1"/>
          </p:cNvGraphicFramePr>
          <p:nvPr>
            <p:extLst>
              <p:ext uri="{D42A27DB-BD31-4B8C-83A1-F6EECF244321}">
                <p14:modId xmlns:p14="http://schemas.microsoft.com/office/powerpoint/2010/main" val="1579011935"/>
              </p:ext>
            </p:extLst>
          </p:nvPr>
        </p:nvGraphicFramePr>
        <p:xfrm>
          <a:off x="502920" y="4800600"/>
          <a:ext cx="6949440" cy="914400"/>
        </p:xfrm>
        <a:graphic>
          <a:graphicData uri="http://schemas.openxmlformats.org/drawingml/2006/table">
            <a:tbl>
              <a:tblPr/>
              <a:tblGrid>
                <a:gridCol w="3291840"/>
                <a:gridCol w="914400"/>
                <a:gridCol w="914400"/>
                <a:gridCol w="914400"/>
                <a:gridCol w="914400"/>
              </a:tblGrid>
              <a:tr h="0">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配列</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100" b="1" dirty="0">
                          <a:solidFill>
                            <a:srgbClr val="0A3540"/>
                          </a:solidFill>
                          <a:latin typeface="Meiryo" pitchFamily="34" charset="0"/>
                          <a:ea typeface="Meiryo" pitchFamily="34" charset="-122"/>
                          <a:cs typeface="Meiryo" pitchFamily="34" charset="-120"/>
                        </a:rPr>
                        <a:t>25 ℃</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100" b="1" dirty="0">
                          <a:solidFill>
                            <a:srgbClr val="0A3540"/>
                          </a:solidFill>
                          <a:latin typeface="Meiryo" pitchFamily="34" charset="0"/>
                          <a:ea typeface="Meiryo" pitchFamily="34" charset="-122"/>
                          <a:cs typeface="Meiryo" pitchFamily="34" charset="-120"/>
                        </a:rPr>
                        <a:t>37 ℃</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100" b="1" dirty="0">
                          <a:solidFill>
                            <a:srgbClr val="0A3540"/>
                          </a:solidFill>
                          <a:latin typeface="Meiryo" pitchFamily="34" charset="0"/>
                          <a:ea typeface="Meiryo" pitchFamily="34" charset="-122"/>
                          <a:cs typeface="Meiryo" pitchFamily="34" charset="-120"/>
                        </a:rPr>
                        <a:t>50 ℃</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100" b="1" dirty="0">
                          <a:solidFill>
                            <a:srgbClr val="0A3540"/>
                          </a:solidFill>
                          <a:latin typeface="Meiryo" pitchFamily="34" charset="0"/>
                          <a:ea typeface="Meiryo" pitchFamily="34" charset="-122"/>
                          <a:cs typeface="Meiryo" pitchFamily="34" charset="-120"/>
                        </a:rPr>
                        <a:t>60 ℃</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GGCGCAGAAAUGCGCC（例題）</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0.84</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0.84</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CGCGGAAACGUUCGUG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0.73</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0.62</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0.43</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E36414"/>
                          </a:solidFill>
                          <a:latin typeface="Meiryo" pitchFamily="34" charset="0"/>
                          <a:ea typeface="Meiryo" pitchFamily="34" charset="-122"/>
                          <a:cs typeface="Meiryo" pitchFamily="34" charset="-120"/>
                        </a:rPr>
                        <a:t>0.28</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CUCAGUUUCUAUUGAG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0.86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0.68</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Meiryo" pitchFamily="34" charset="0"/>
                          <a:ea typeface="Meiryo" pitchFamily="34" charset="-122"/>
                          <a:cs typeface="Meiryo" pitchFamily="34" charset="-120"/>
                        </a:rPr>
                        <a:t>0.49</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CCAGUGUGCACACUGG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0.95</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0.94</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0.85</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Meiryo" pitchFamily="34" charset="0"/>
                          <a:ea typeface="Meiryo" pitchFamily="34" charset="-122"/>
                          <a:cs typeface="Meiryo" pitchFamily="34" charset="-120"/>
                        </a:rPr>
                        <a:t>0.80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AUGCGGUCACCCGUGU</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0.66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0.51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0.32</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E36414"/>
                          </a:solidFill>
                          <a:latin typeface="Meiryo" pitchFamily="34" charset="0"/>
                          <a:ea typeface="Meiryo" pitchFamily="34" charset="-122"/>
                          <a:cs typeface="Meiryo" pitchFamily="34" charset="-120"/>
                        </a:rPr>
                        <a:t>0.21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13" name="Shape 8"/>
          <p:cNvSpPr/>
          <p:nvPr/>
        </p:nvSpPr>
        <p:spPr>
          <a:xfrm>
            <a:off x="7772400" y="1143000"/>
            <a:ext cx="3931920" cy="4983480"/>
          </a:xfrm>
          <a:prstGeom prst="roundRect">
            <a:avLst>
              <a:gd name="adj" fmla="val 2791"/>
            </a:avLst>
          </a:prstGeom>
          <a:solidFill>
            <a:srgbClr val="EEF3F4"/>
          </a:solidFill>
          <a:ln w="12700">
            <a:solidFill>
              <a:srgbClr val="EEF3F4"/>
            </a:solidFill>
            <a:prstDash val="solid"/>
          </a:ln>
        </p:spPr>
      </p:sp>
      <p:sp>
        <p:nvSpPr>
          <p:cNvPr id="14" name="Text 9"/>
          <p:cNvSpPr txBox="1"/>
          <p:nvPr/>
        </p:nvSpPr>
        <p:spPr>
          <a:xfrm>
            <a:off x="7955280" y="1252728"/>
            <a:ext cx="35661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コード</a:t>
            </a:r>
            <a:endParaRPr lang="en-US" sz="2000" dirty="0"/>
          </a:p>
        </p:txBody>
      </p:sp>
      <p:sp>
        <p:nvSpPr>
          <p:cNvPr id="15" name="Text 10"/>
          <p:cNvSpPr txBox="1"/>
          <p:nvPr/>
        </p:nvSpPr>
        <p:spPr>
          <a:xfrm>
            <a:off x="7955280" y="1709928"/>
            <a:ext cx="3566160" cy="4297680"/>
          </a:xfrm>
          <a:prstGeom prst="rect">
            <a:avLst/>
          </a:prstGeom>
          <a:noFill/>
          <a:ln/>
        </p:spPr>
        <p:txBody>
          <a:bodyPr wrap="square" lIns="0" tIns="0" rIns="0" bIns="0" rtlCol="0" anchor="t">
            <a:normAutofit/>
          </a:bodyPr>
          <a:lstStyle/>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 固定：小文字</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start = start[:6]+"gaaa"+start[10:]</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 確率計算の温度</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md = RNA.md(); md.temperature = 60</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fc = RNA.fold_compound(seq, md)</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 設計の温度（旧APIのグローバル）</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RNA.cvar.temperature = 60</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 早期打ち切り</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RNA.cvar.give_up = 1</a:t>
            </a:r>
            <a:endParaRPr lang="en-US" sz="1100" dirty="0"/>
          </a:p>
          <a:p>
            <a:pPr indent="0" marL="0">
              <a:spcAft>
                <a:spcPts val="400"/>
              </a:spcAft>
              <a:buNone/>
            </a:pPr>
            <a:r>
              <a:rPr lang="en-US" sz="1100" dirty="0">
                <a:solidFill>
                  <a:srgbClr val="1F2A30"/>
                </a:solidFill>
                <a:latin typeface="Meiryo" pitchFamily="34" charset="0"/>
                <a:ea typeface="Meiryo" pitchFamily="34" charset="-122"/>
                <a:cs typeface="Meiryo" pitchFamily="34" charset="-120"/>
              </a:rPr>
              <a:t>GC 含量や反復回避などの制約は RNAinverse にはない。別ツール（NUPACK, RNAblueprint など）や自作の後処理で対応する</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補足7：実習環境とトラブル対応</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48</a:t>
            </a:r>
            <a:endParaRPr lang="en-US" sz="1100" dirty="0"/>
          </a:p>
        </p:txBody>
      </p:sp>
      <p:sp>
        <p:nvSpPr>
          <p:cNvPr id="6" name="Shape 3"/>
          <p:cNvSpPr/>
          <p:nvPr/>
        </p:nvSpPr>
        <p:spPr>
          <a:xfrm>
            <a:off x="502920" y="1188720"/>
            <a:ext cx="6583680" cy="2743200"/>
          </a:xfrm>
          <a:prstGeom prst="rect">
            <a:avLst/>
          </a:prstGeom>
          <a:solidFill>
            <a:srgbClr val="F6F8F9"/>
          </a:solidFill>
          <a:ln w="9525">
            <a:solidFill>
              <a:srgbClr val="C9D3D6"/>
            </a:solidFill>
            <a:prstDash val="solid"/>
          </a:ln>
        </p:spPr>
      </p:sp>
      <p:sp>
        <p:nvSpPr>
          <p:cNvPr id="7" name="Text 4"/>
          <p:cNvSpPr txBox="1"/>
          <p:nvPr/>
        </p:nvSpPr>
        <p:spPr>
          <a:xfrm>
            <a:off x="612648" y="1261872"/>
            <a:ext cx="6364224" cy="2596896"/>
          </a:xfrm>
          <a:prstGeom prst="rect">
            <a:avLst/>
          </a:prstGeom>
          <a:noFill/>
          <a:ln/>
        </p:spPr>
        <p:txBody>
          <a:bodyPr wrap="square" lIns="0" tIns="0" rIns="0" bIns="0" rtlCol="0" anchor="t"/>
          <a:lstStyle/>
          <a:p>
            <a:pPr indent="0" marL="0">
              <a:lnSpc>
                <a:spcPct val="105000"/>
              </a:lnSpc>
              <a:buNone/>
            </a:pPr>
            <a:r>
              <a:rPr lang="en-US" sz="1100" i="1" dirty="0">
                <a:solidFill>
                  <a:srgbClr val="5C6B73"/>
                </a:solidFill>
                <a:latin typeface="Consolas" pitchFamily="34" charset="0"/>
                <a:ea typeface="Consolas" pitchFamily="34" charset="-122"/>
                <a:cs typeface="Consolas" pitchFamily="34" charset="-120"/>
              </a:rPr>
              <a:t># 事前準備（配布手順の要約）</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uv init viennarna-course --python 3.13</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cd viennarna-course</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uv add viennarna==2.7.2</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uv run python -c "import RNA; print(RNA.__version__)"   # 2.7.2</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5C6B73"/>
                </a:solidFill>
                <a:latin typeface="Consolas" pitchFamily="34" charset="0"/>
                <a:ea typeface="Consolas" pitchFamily="34" charset="-122"/>
                <a:cs typeface="Consolas" pitchFamily="34" charset="-120"/>
              </a:rPr>
              <a:t># 当日の動作確認</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uv run python exercises/ex1_fold.py</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5C6B73"/>
                </a:solidFill>
                <a:latin typeface="Consolas" pitchFamily="34" charset="0"/>
                <a:ea typeface="Consolas" pitchFamily="34" charset="-122"/>
                <a:cs typeface="Consolas" pitchFamily="34" charset="-120"/>
              </a:rPr>
              <a:t># 別の方法：GitHub から一式を入手してそのまま使う</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git clone https://github.com/Shunsuke-1994/Course_RNAinverse.git</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cd Course_RNAinverse &amp;&amp; uv sync</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uv run python exercises/ex0_check.py</a:t>
            </a:r>
            <a:endParaRPr lang="en-US" sz="11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2920" y="4069080"/>
          <a:ext cx="11155680" cy="914400"/>
        </p:xfrm>
        <a:graphic>
          <a:graphicData uri="http://schemas.openxmlformats.org/drawingml/2006/table">
            <a:tbl>
              <a:tblPr/>
              <a:tblGrid>
                <a:gridCol w="3108960"/>
                <a:gridCol w="3291840"/>
                <a:gridCol w="475488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症状</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原因の候補</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対応</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ModuleNotFoundError: RNA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別の Python を起動している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uv run python を使う／仮想環境を有効化</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バージョンが 2.7.2 でない</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別環境の ViennaRNA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uv add viennarna==2.7.2 で入れ直す</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同じ seed で配列が違う</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OS ごとの乱数実装の差</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数値の一致は求めない。d と P(T) の傾向を比べる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start が設計配列に変わっている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inverse_fold が start を上書き</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控え start.encode().decode() を使う</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unequal length のエラー</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配列長と構造長の不一致</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len() で確認。括弧の対応も確認</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N が残る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Python API は N を置換しない</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A/C/G/U で初期配列を作る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9" name="Shape 5"/>
          <p:cNvSpPr/>
          <p:nvPr/>
        </p:nvSpPr>
        <p:spPr>
          <a:xfrm>
            <a:off x="7315200" y="1188720"/>
            <a:ext cx="4389120" cy="2743200"/>
          </a:xfrm>
          <a:prstGeom prst="roundRect">
            <a:avLst>
              <a:gd name="adj" fmla="val 4000"/>
            </a:avLst>
          </a:prstGeom>
          <a:solidFill>
            <a:srgbClr val="FBE9DC"/>
          </a:solidFill>
          <a:ln w="12700">
            <a:solidFill>
              <a:srgbClr val="FBE9DC"/>
            </a:solidFill>
            <a:prstDash val="solid"/>
          </a:ln>
        </p:spPr>
      </p:sp>
      <p:sp>
        <p:nvSpPr>
          <p:cNvPr id="10" name="Text 6"/>
          <p:cNvSpPr txBox="1"/>
          <p:nvPr/>
        </p:nvSpPr>
        <p:spPr>
          <a:xfrm>
            <a:off x="7498080" y="1298448"/>
            <a:ext cx="402336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検証済み・未検証</a:t>
            </a:r>
            <a:endParaRPr lang="en-US" sz="2000" dirty="0"/>
          </a:p>
        </p:txBody>
      </p:sp>
      <p:sp>
        <p:nvSpPr>
          <p:cNvPr id="11" name="Text 7"/>
          <p:cNvSpPr txBox="1"/>
          <p:nvPr/>
        </p:nvSpPr>
        <p:spPr>
          <a:xfrm>
            <a:off x="7498080" y="1755648"/>
            <a:ext cx="4023360" cy="20574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検証済み：macOS 15（Python 3.13.4、uv 0.12）、Windows 11（Python 3.13.15、事務局確認）、viennarna 2.7.2</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Windows では同じ seed でも設計配列が変わる（d = 0 なら成功）</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未検証：他の macOS/Linux 構成</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動かない参加者は TA・グループの画面で結果比較に参加</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補足8：参考文献・URL</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v2.0</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49</a:t>
            </a:r>
            <a:endParaRPr lang="en-US" sz="1100" dirty="0"/>
          </a:p>
        </p:txBody>
      </p:sp>
      <p:sp>
        <p:nvSpPr>
          <p:cNvPr id="6" name="Text 3"/>
          <p:cNvSpPr txBox="1"/>
          <p:nvPr/>
        </p:nvSpPr>
        <p:spPr>
          <a:xfrm>
            <a:off x="502920" y="1188720"/>
            <a:ext cx="11155680" cy="502920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本講習の資料・演習スクリプト（資料 v2.0）: https://github.com/Shunsuke-1994/Course_RNAinverse</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ViennaRNA 公式 https://www.tbi.univie.ac.at/RNA/</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Python API https://viennarna.readthedocs.io/en/latest/api_python.html</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RNAinverse マニュアル https://viennarna.readthedocs.io/en/latest/man/RNAinverse.html</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ソース: src/ViennaRNA/inverse/inverse.c (v2.7.2, https://github.com/ViennaRNA/ViennaRNA)</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Hofacker I.L. et al. (1994) Fast folding and comparison of RNA secondary structures. Monatsh Chem 125:167–188. https://doi.org/10.1007/BF00818163</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Lorenz R. et al. (2011) ViennaRNA Package 2.0. Algorithms Mol Biol 6:26. https://doi.org/10.1186/1748-7188-6-26</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Zuker M., Stiegler P. (1981) Nucleic Acids Res 9:133–148 (熱力学的 DP)</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McCaskill J.S. (1990) Biopolymers 29:1105–1119 (分配関数アルゴリズム)</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Nussinov R. et al. (1978) SIAM J Appl Math 35:68–82 (塩基対数最大化)</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Mathews D.H. et al. (2004) PNAS 101:7287–7292 (Turner 2004 パラメータ); Turner &amp; Mathews (2010) NNDB, Nucleic Acids Res 38:D280. https://rna.urmc.rochester.edu/NNDB/</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Green A.A., Silver P.A., Collins J.J., Yin P. (2014) Toehold switches: de-novo-designed regulators of gene expression. Cell 159:925–939. https://doi.org/10.1016/j.cell.2014.10.002 (PMC4265554)</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Geary C., Rothemund P.W.K., Andersen E.S. (2014) A single-stranded architecture for cotranscriptional folding of RNA nanostructures. Science 345:799–804. https://doi.org/10.1126/science.1253920</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Hammer S., Tschiatschek B., Flamm C., Hofacker I.L., Findeiß S. (2017) RNAblueprint. Bioinformatics 33:2850–2852</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Zadeh J.N. et al. (2011) NUPACK: analysis and design of nucleic acid systems. J Comput Chem 32:170–173</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PyPI viennarna https://pypi.org/project/ViennaRNA/ (使用: 2.7.2)</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uv https://docs.astral.sh/uv/</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ViennaRNA：RNA構造解析ソフトウェア（分子ロボティクス夏の学校 2026）v2.0</dc:title>
  <dc:subject>PptxGenJS Presentation</dc:subject>
  <dc:creator>角 俊輔</dc:creator>
  <cp:lastModifiedBy>角 俊輔</cp:lastModifiedBy>
  <cp:revision>1</cp:revision>
  <dcterms:created xsi:type="dcterms:W3CDTF">2026-10-01T15:09:30Z</dcterms:created>
  <dcterms:modified xsi:type="dcterms:W3CDTF">2026-10-01T15:09:30Z</dcterms:modified>
</cp:coreProperties>
</file>